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30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8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28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464869" y="514807"/>
            <a:ext cx="35716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SOGANG UNIVERSITY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64869" y="685800"/>
            <a:ext cx="3571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AI.SW GRADUATE SCHOOL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14146" y="1800454"/>
            <a:ext cx="35662" cy="110733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71423" y="1785823"/>
            <a:ext cx="7144207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REPORT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1423" y="1957730"/>
            <a:ext cx="7500823" cy="50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T-</a:t>
            </a:r>
            <a:r>
              <a:rPr lang="ko-KR" altLang="en-US" sz="3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검정과 </a:t>
            </a:r>
            <a:r>
              <a:rPr lang="en-US" altLang="ko-KR" sz="3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F-</a:t>
            </a:r>
            <a:r>
              <a:rPr lang="ko-KR" altLang="en-US" sz="3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검정</a:t>
            </a:r>
            <a:r>
              <a:rPr lang="en-US" altLang="ko-KR" sz="3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(ANOVA)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71423" y="2572207"/>
            <a:ext cx="6429146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통계기반 데이터 분석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14146" y="3300070"/>
            <a:ext cx="7715707" cy="1057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857854" y="3414370"/>
            <a:ext cx="7315" cy="84307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64692" y="3429000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3177" y="3429000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AI.SW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대학원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4692" y="3700577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3177" y="3700577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및 시스템공학과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4692" y="3972154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643177" y="3972154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이인범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36162" y="3507638"/>
            <a:ext cx="7141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교수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3507638"/>
            <a:ext cx="335767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정화민</a:t>
            </a:r>
            <a:r>
              <a:rPr lang="ko-KR" altLang="en-US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교수님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36162" y="3807562"/>
            <a:ext cx="7141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일자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0600" y="3807562"/>
            <a:ext cx="335767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2026.04.18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4146" y="4643323"/>
            <a:ext cx="7715707" cy="731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28" name="Picture 4" descr="서강대학교 - 더시드위키">
            <a:extLst>
              <a:ext uri="{FF2B5EF4-FFF2-40B4-BE49-F238E27FC236}">
                <a16:creationId xmlns:a16="http://schemas.microsoft.com/office/drawing/2014/main" id="{852CE6D6-1ACF-280A-C43C-998F29FF4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" y="373279"/>
            <a:ext cx="604725" cy="60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1F076069-FED8-A169-AA78-2CCBAFA77F5C}"/>
              </a:ext>
            </a:extLst>
          </p:cNvPr>
          <p:cNvSpPr/>
          <p:nvPr/>
        </p:nvSpPr>
        <p:spPr>
          <a:xfrm>
            <a:off x="428854" y="131886"/>
            <a:ext cx="371246" cy="3712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AA8B820-B63F-C7EC-8B82-E5FF4C6C37CE}"/>
              </a:ext>
            </a:extLst>
          </p:cNvPr>
          <p:cNvSpPr/>
          <p:nvPr/>
        </p:nvSpPr>
        <p:spPr>
          <a:xfrm>
            <a:off x="878738" y="200254"/>
            <a:ext cx="2143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0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A2E89E6-9D81-88C6-DDC2-ACFE10A5B0D4}"/>
              </a:ext>
            </a:extLst>
          </p:cNvPr>
          <p:cNvSpPr/>
          <p:nvPr/>
        </p:nvSpPr>
        <p:spPr>
          <a:xfrm>
            <a:off x="878738" y="406908"/>
            <a:ext cx="28575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85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F18E4CEE-7B5F-6A26-C31D-FC535390869C}"/>
              </a:ext>
            </a:extLst>
          </p:cNvPr>
          <p:cNvSpPr/>
          <p:nvPr/>
        </p:nvSpPr>
        <p:spPr>
          <a:xfrm>
            <a:off x="428854" y="714146"/>
            <a:ext cx="8287207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48A5BCA-3A75-7636-8729-097FC9A01FB9}"/>
              </a:ext>
            </a:extLst>
          </p:cNvPr>
          <p:cNvSpPr/>
          <p:nvPr/>
        </p:nvSpPr>
        <p:spPr>
          <a:xfrm>
            <a:off x="428854" y="83596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B89FDDAE-C452-CBE5-29B6-CE7959CE0728}"/>
              </a:ext>
            </a:extLst>
          </p:cNvPr>
          <p:cNvSpPr/>
          <p:nvPr/>
        </p:nvSpPr>
        <p:spPr>
          <a:xfrm>
            <a:off x="428854" y="83596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EF0792B-6FC8-5834-AC73-C211C7B13691}"/>
              </a:ext>
            </a:extLst>
          </p:cNvPr>
          <p:cNvSpPr/>
          <p:nvPr/>
        </p:nvSpPr>
        <p:spPr>
          <a:xfrm>
            <a:off x="514807" y="89356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1AE57B7-3171-4230-C3CE-E197B5285301}"/>
              </a:ext>
            </a:extLst>
          </p:cNvPr>
          <p:cNvSpPr/>
          <p:nvPr/>
        </p:nvSpPr>
        <p:spPr>
          <a:xfrm>
            <a:off x="914400" y="95026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36F1063-444A-CBB0-A97D-FD7A551294A5}"/>
              </a:ext>
            </a:extLst>
          </p:cNvPr>
          <p:cNvSpPr/>
          <p:nvPr/>
        </p:nvSpPr>
        <p:spPr>
          <a:xfrm>
            <a:off x="1000354" y="96489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altLang="ko-KR" sz="1200" b="1" dirty="0"/>
              <a:t>T/F-</a:t>
            </a:r>
            <a:r>
              <a:rPr lang="ko-KR" altLang="en-US" sz="1200" b="1" dirty="0"/>
              <a:t>검정 이론 및 개요</a:t>
            </a: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59BBF4C-16AF-23F7-BD73-4BCEEFE0D1A9}"/>
              </a:ext>
            </a:extLst>
          </p:cNvPr>
          <p:cNvSpPr/>
          <p:nvPr/>
        </p:nvSpPr>
        <p:spPr>
          <a:xfrm>
            <a:off x="1000354" y="1150514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확률분포 가계도 </a:t>
            </a:r>
            <a:r>
              <a:rPr lang="en-US" altLang="ko-KR" sz="1100" dirty="0">
                <a:solidFill>
                  <a:schemeClr val="accent3">
                    <a:lumMod val="75000"/>
                  </a:schemeClr>
                </a:solidFill>
              </a:rPr>
              <a:t>· </a:t>
            </a:r>
            <a:r>
              <a:rPr lang="en" altLang="ko-KR" sz="1100" dirty="0">
                <a:solidFill>
                  <a:schemeClr val="accent3">
                    <a:lumMod val="75000"/>
                  </a:schemeClr>
                </a:solidFill>
              </a:rPr>
              <a:t>t/F-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검정 개념 및 원리</a:t>
            </a: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62CC843A-C969-D3A2-C094-52AC8FFD707A}"/>
              </a:ext>
            </a:extLst>
          </p:cNvPr>
          <p:cNvSpPr/>
          <p:nvPr/>
        </p:nvSpPr>
        <p:spPr>
          <a:xfrm>
            <a:off x="4643323" y="83596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E1427788-6149-694A-A8EB-C1D8018A92A1}"/>
              </a:ext>
            </a:extLst>
          </p:cNvPr>
          <p:cNvSpPr/>
          <p:nvPr/>
        </p:nvSpPr>
        <p:spPr>
          <a:xfrm>
            <a:off x="4643323" y="83596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E89EC42-5DA5-6E52-D97A-1AF22767BB43}"/>
              </a:ext>
            </a:extLst>
          </p:cNvPr>
          <p:cNvSpPr/>
          <p:nvPr/>
        </p:nvSpPr>
        <p:spPr>
          <a:xfrm>
            <a:off x="4729277" y="89356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E696F0FD-4971-4150-0BD9-AE7A6608F0BD}"/>
              </a:ext>
            </a:extLst>
          </p:cNvPr>
          <p:cNvSpPr/>
          <p:nvPr/>
        </p:nvSpPr>
        <p:spPr>
          <a:xfrm>
            <a:off x="5128870" y="95026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69E13128-6738-9309-CA9E-F7C7EBE7DC1F}"/>
              </a:ext>
            </a:extLst>
          </p:cNvPr>
          <p:cNvSpPr/>
          <p:nvPr/>
        </p:nvSpPr>
        <p:spPr>
          <a:xfrm>
            <a:off x="5214823" y="96489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/>
              <a:t>독립표본 </a:t>
            </a:r>
            <a:r>
              <a:rPr lang="en" altLang="ko-KR" sz="1200" b="1" dirty="0"/>
              <a:t>T-</a:t>
            </a:r>
            <a:r>
              <a:rPr lang="ko-KR" altLang="en-US" sz="1200" b="1" dirty="0"/>
              <a:t>검정 이론</a:t>
            </a: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C4F1AF72-D375-9864-4E13-718FFE4DD270}"/>
              </a:ext>
            </a:extLst>
          </p:cNvPr>
          <p:cNvSpPr/>
          <p:nvPr/>
        </p:nvSpPr>
        <p:spPr>
          <a:xfrm>
            <a:off x="5214823" y="1150514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가설 검정 </a:t>
            </a:r>
            <a:r>
              <a:rPr lang="en-US" altLang="ko-KR" sz="1100" dirty="0">
                <a:solidFill>
                  <a:schemeClr val="accent3">
                    <a:lumMod val="75000"/>
                  </a:schemeClr>
                </a:solidFill>
              </a:rPr>
              <a:t>· </a:t>
            </a:r>
            <a:r>
              <a:rPr lang="ko-KR" altLang="en-US" sz="1100" dirty="0" err="1">
                <a:solidFill>
                  <a:schemeClr val="accent3">
                    <a:lumMod val="75000"/>
                  </a:schemeClr>
                </a:solidFill>
              </a:rPr>
              <a:t>등분산</a:t>
            </a:r>
            <a:r>
              <a:rPr lang="en-US" altLang="ko-KR" sz="1100" dirty="0">
                <a:solidFill>
                  <a:schemeClr val="accent3">
                    <a:lumMod val="7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비등분산 검정</a:t>
            </a: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D27E240A-761A-C0EB-9BF7-1735CA0E5664}"/>
              </a:ext>
            </a:extLst>
          </p:cNvPr>
          <p:cNvSpPr/>
          <p:nvPr/>
        </p:nvSpPr>
        <p:spPr>
          <a:xfrm>
            <a:off x="428854" y="1628943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1C036647-9CC6-E4C6-80A6-74D6221CCFBD}"/>
              </a:ext>
            </a:extLst>
          </p:cNvPr>
          <p:cNvSpPr/>
          <p:nvPr/>
        </p:nvSpPr>
        <p:spPr>
          <a:xfrm>
            <a:off x="428854" y="1628943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445245C5-2717-2664-5CB8-BC66873A708F}"/>
              </a:ext>
            </a:extLst>
          </p:cNvPr>
          <p:cNvSpPr/>
          <p:nvPr/>
        </p:nvSpPr>
        <p:spPr>
          <a:xfrm>
            <a:off x="514807" y="168655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637ECD28-D8A8-C668-770E-34FBC3089358}"/>
              </a:ext>
            </a:extLst>
          </p:cNvPr>
          <p:cNvSpPr/>
          <p:nvPr/>
        </p:nvSpPr>
        <p:spPr>
          <a:xfrm>
            <a:off x="914400" y="1743243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30AC2B05-4116-FCDC-A4ED-F1DE28343E8F}"/>
              </a:ext>
            </a:extLst>
          </p:cNvPr>
          <p:cNvSpPr/>
          <p:nvPr/>
        </p:nvSpPr>
        <p:spPr>
          <a:xfrm>
            <a:off x="1000354" y="1757874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/>
              <a:t>대응표본 </a:t>
            </a:r>
            <a:r>
              <a:rPr lang="en" altLang="ko-KR" sz="1200" b="1" dirty="0"/>
              <a:t>T-</a:t>
            </a:r>
            <a:r>
              <a:rPr lang="ko-KR" altLang="en-US" sz="1200" b="1" dirty="0"/>
              <a:t>검정 이론</a:t>
            </a: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D87A503C-4041-1A9E-08A8-BAB46D14F203}"/>
              </a:ext>
            </a:extLst>
          </p:cNvPr>
          <p:cNvSpPr/>
          <p:nvPr/>
        </p:nvSpPr>
        <p:spPr>
          <a:xfrm>
            <a:off x="1000354" y="1943497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altLang="ko-KR" sz="1100" dirty="0">
                <a:solidFill>
                  <a:schemeClr val="accent3">
                    <a:lumMod val="75000"/>
                  </a:schemeClr>
                </a:solidFill>
              </a:rPr>
              <a:t>Paired t-test · 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전후비교 분석</a:t>
            </a: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2E06517B-CE8D-BC73-15C7-0D7C78415085}"/>
              </a:ext>
            </a:extLst>
          </p:cNvPr>
          <p:cNvSpPr/>
          <p:nvPr/>
        </p:nvSpPr>
        <p:spPr>
          <a:xfrm>
            <a:off x="4643323" y="1628943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DB281DBB-7723-93F7-4B9B-CCBA5719C8AB}"/>
              </a:ext>
            </a:extLst>
          </p:cNvPr>
          <p:cNvSpPr/>
          <p:nvPr/>
        </p:nvSpPr>
        <p:spPr>
          <a:xfrm>
            <a:off x="4643323" y="1628943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632092F0-0955-B228-3FED-CF199DACC144}"/>
              </a:ext>
            </a:extLst>
          </p:cNvPr>
          <p:cNvSpPr/>
          <p:nvPr/>
        </p:nvSpPr>
        <p:spPr>
          <a:xfrm>
            <a:off x="4729277" y="168655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6F1CA912-3117-5C2B-7A3A-CE2CDD444216}"/>
              </a:ext>
            </a:extLst>
          </p:cNvPr>
          <p:cNvSpPr/>
          <p:nvPr/>
        </p:nvSpPr>
        <p:spPr>
          <a:xfrm>
            <a:off x="5128870" y="1743243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0276B708-A41B-F465-284E-62A2E9F44FE2}"/>
              </a:ext>
            </a:extLst>
          </p:cNvPr>
          <p:cNvSpPr/>
          <p:nvPr/>
        </p:nvSpPr>
        <p:spPr>
          <a:xfrm>
            <a:off x="5214823" y="1757874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altLang="ko-KR" sz="1200" b="1" dirty="0"/>
              <a:t>F-</a:t>
            </a:r>
            <a:r>
              <a:rPr lang="ko-KR" altLang="en-US" sz="1200" b="1" dirty="0"/>
              <a:t>검정 및 </a:t>
            </a:r>
            <a:r>
              <a:rPr lang="en" altLang="ko-KR" sz="1200" b="1" dirty="0"/>
              <a:t>ANOVA </a:t>
            </a:r>
            <a:r>
              <a:rPr lang="ko-KR" altLang="en-US" sz="1200" b="1" dirty="0"/>
              <a:t>이론</a:t>
            </a:r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DBE95EB5-FB8F-3867-7CDE-5063EDED5C74}"/>
              </a:ext>
            </a:extLst>
          </p:cNvPr>
          <p:cNvSpPr/>
          <p:nvPr/>
        </p:nvSpPr>
        <p:spPr>
          <a:xfrm>
            <a:off x="5214823" y="1943497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일원분산분석 </a:t>
            </a:r>
            <a:r>
              <a:rPr lang="en-US" altLang="ko-KR" sz="1100" dirty="0">
                <a:solidFill>
                  <a:schemeClr val="accent3">
                    <a:lumMod val="75000"/>
                  </a:schemeClr>
                </a:solidFill>
              </a:rPr>
              <a:t>· </a:t>
            </a:r>
            <a:r>
              <a:rPr lang="en" altLang="ko-KR" sz="1100" dirty="0">
                <a:solidFill>
                  <a:schemeClr val="accent3">
                    <a:lumMod val="75000"/>
                  </a:schemeClr>
                </a:solidFill>
              </a:rPr>
              <a:t>F-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통계량 </a:t>
            </a:r>
            <a:r>
              <a:rPr lang="en-US" altLang="ko-KR" sz="1100" dirty="0">
                <a:solidFill>
                  <a:schemeClr val="accent3">
                    <a:lumMod val="75000"/>
                  </a:schemeClr>
                </a:solidFill>
              </a:rPr>
              <a:t>· 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사후검정</a:t>
            </a:r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D9EC6788-0FD6-5D50-FFB0-5A96C5AE169E}"/>
              </a:ext>
            </a:extLst>
          </p:cNvPr>
          <p:cNvSpPr/>
          <p:nvPr/>
        </p:nvSpPr>
        <p:spPr>
          <a:xfrm>
            <a:off x="428854" y="2421926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FF4F9C5F-CE9A-4EEC-9AE6-7CD9B48D8060}"/>
              </a:ext>
            </a:extLst>
          </p:cNvPr>
          <p:cNvSpPr/>
          <p:nvPr/>
        </p:nvSpPr>
        <p:spPr>
          <a:xfrm>
            <a:off x="428854" y="2421926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F8BCF0F9-CCD0-68B2-BBB7-4042092FD8C8}"/>
              </a:ext>
            </a:extLst>
          </p:cNvPr>
          <p:cNvSpPr/>
          <p:nvPr/>
        </p:nvSpPr>
        <p:spPr>
          <a:xfrm>
            <a:off x="514807" y="2479534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FA7C0946-5BA3-C57E-73C2-D3EAE5EE4B09}"/>
              </a:ext>
            </a:extLst>
          </p:cNvPr>
          <p:cNvSpPr/>
          <p:nvPr/>
        </p:nvSpPr>
        <p:spPr>
          <a:xfrm>
            <a:off x="914400" y="2536226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A32949E4-DC12-2B76-E955-28B3D32A151F}"/>
              </a:ext>
            </a:extLst>
          </p:cNvPr>
          <p:cNvSpPr/>
          <p:nvPr/>
        </p:nvSpPr>
        <p:spPr>
          <a:xfrm>
            <a:off x="1000354" y="2550857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/>
              <a:t>코딩 실습 </a:t>
            </a:r>
            <a:r>
              <a:rPr lang="en-US" altLang="ko-KR" sz="1200" b="1" dirty="0"/>
              <a:t>(</a:t>
            </a:r>
            <a:r>
              <a:rPr lang="en" altLang="ko-KR" sz="1200" b="1" dirty="0"/>
              <a:t>R / Python)</a:t>
            </a:r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625F25F3-8E00-A539-A2DA-3A6093A00D8C}"/>
              </a:ext>
            </a:extLst>
          </p:cNvPr>
          <p:cNvSpPr/>
          <p:nvPr/>
        </p:nvSpPr>
        <p:spPr>
          <a:xfrm>
            <a:off x="1000354" y="2736480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독립표본</a:t>
            </a:r>
            <a:r>
              <a:rPr lang="en-US" altLang="ko-KR" sz="1100" dirty="0">
                <a:solidFill>
                  <a:schemeClr val="accent3">
                    <a:lumMod val="7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대응표본</a:t>
            </a:r>
            <a:r>
              <a:rPr lang="en-US" altLang="ko-KR" sz="1100" dirty="0">
                <a:solidFill>
                  <a:schemeClr val="accent3">
                    <a:lumMod val="75000"/>
                  </a:schemeClr>
                </a:solidFill>
              </a:rPr>
              <a:t>/</a:t>
            </a:r>
            <a:r>
              <a:rPr lang="en" altLang="ko-KR" sz="1100" dirty="0">
                <a:solidFill>
                  <a:schemeClr val="accent3">
                    <a:lumMod val="75000"/>
                  </a:schemeClr>
                </a:solidFill>
              </a:rPr>
              <a:t>ANOVA — </a:t>
            </a:r>
            <a:r>
              <a:rPr lang="en" altLang="ko-KR" sz="1100" dirty="0" err="1">
                <a:solidFill>
                  <a:schemeClr val="accent3">
                    <a:lumMod val="75000"/>
                  </a:schemeClr>
                </a:solidFill>
              </a:rPr>
              <a:t>R↔Python</a:t>
            </a:r>
            <a:r>
              <a:rPr lang="en" altLang="ko-KR" sz="11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비교</a:t>
            </a:r>
          </a:p>
        </p:txBody>
      </p:sp>
      <p:sp>
        <p:nvSpPr>
          <p:cNvPr id="45" name="Shape 34">
            <a:extLst>
              <a:ext uri="{FF2B5EF4-FFF2-40B4-BE49-F238E27FC236}">
                <a16:creationId xmlns:a16="http://schemas.microsoft.com/office/drawing/2014/main" id="{BF5EF6A2-73CC-ECDF-DFBE-DA3AEFF3BEBC}"/>
              </a:ext>
            </a:extLst>
          </p:cNvPr>
          <p:cNvSpPr/>
          <p:nvPr/>
        </p:nvSpPr>
        <p:spPr>
          <a:xfrm>
            <a:off x="4643323" y="2421926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F238D59F-7A7B-2C22-789E-97A58AEB79EF}"/>
              </a:ext>
            </a:extLst>
          </p:cNvPr>
          <p:cNvSpPr/>
          <p:nvPr/>
        </p:nvSpPr>
        <p:spPr>
          <a:xfrm>
            <a:off x="4643323" y="2421926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8C1331D4-8791-EF89-754D-DE8CEEF60E77}"/>
              </a:ext>
            </a:extLst>
          </p:cNvPr>
          <p:cNvSpPr/>
          <p:nvPr/>
        </p:nvSpPr>
        <p:spPr>
          <a:xfrm>
            <a:off x="4729277" y="2479534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5E6A4F7A-CC8D-2361-33D3-8911AFB89602}"/>
              </a:ext>
            </a:extLst>
          </p:cNvPr>
          <p:cNvSpPr/>
          <p:nvPr/>
        </p:nvSpPr>
        <p:spPr>
          <a:xfrm>
            <a:off x="5128870" y="2536226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C091766E-A506-2E4C-C917-246E62FDC895}"/>
              </a:ext>
            </a:extLst>
          </p:cNvPr>
          <p:cNvSpPr/>
          <p:nvPr/>
        </p:nvSpPr>
        <p:spPr>
          <a:xfrm>
            <a:off x="5214823" y="2550857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/>
              <a:t>관련 논문 검토 및 선정</a:t>
            </a:r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A9E2EA0F-E4DE-1D73-075D-DCA199B418C4}"/>
              </a:ext>
            </a:extLst>
          </p:cNvPr>
          <p:cNvSpPr/>
          <p:nvPr/>
        </p:nvSpPr>
        <p:spPr>
          <a:xfrm>
            <a:off x="5214823" y="2736480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100" dirty="0">
                <a:solidFill>
                  <a:schemeClr val="accent3">
                    <a:lumMod val="75000"/>
                  </a:schemeClr>
                </a:solidFill>
              </a:rPr>
              <a:t>3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편 소개 및 선정 논문 </a:t>
            </a:r>
            <a:r>
              <a:rPr lang="en" altLang="ko-KR" sz="1100" dirty="0">
                <a:solidFill>
                  <a:schemeClr val="accent3">
                    <a:lumMod val="75000"/>
                  </a:schemeClr>
                </a:solidFill>
              </a:rPr>
              <a:t>t/F-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검정 활용 분석</a:t>
            </a:r>
          </a:p>
        </p:txBody>
      </p:sp>
      <p:sp>
        <p:nvSpPr>
          <p:cNvPr id="51" name="Shape 40">
            <a:extLst>
              <a:ext uri="{FF2B5EF4-FFF2-40B4-BE49-F238E27FC236}">
                <a16:creationId xmlns:a16="http://schemas.microsoft.com/office/drawing/2014/main" id="{BB9282BF-ECC2-4301-D7B2-F69843D8BB4B}"/>
              </a:ext>
            </a:extLst>
          </p:cNvPr>
          <p:cNvSpPr/>
          <p:nvPr/>
        </p:nvSpPr>
        <p:spPr>
          <a:xfrm>
            <a:off x="428854" y="321491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1">
            <a:extLst>
              <a:ext uri="{FF2B5EF4-FFF2-40B4-BE49-F238E27FC236}">
                <a16:creationId xmlns:a16="http://schemas.microsoft.com/office/drawing/2014/main" id="{74F07C24-BCC4-4E65-5B94-83987155F71A}"/>
              </a:ext>
            </a:extLst>
          </p:cNvPr>
          <p:cNvSpPr/>
          <p:nvPr/>
        </p:nvSpPr>
        <p:spPr>
          <a:xfrm>
            <a:off x="428854" y="321491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2">
            <a:extLst>
              <a:ext uri="{FF2B5EF4-FFF2-40B4-BE49-F238E27FC236}">
                <a16:creationId xmlns:a16="http://schemas.microsoft.com/office/drawing/2014/main" id="{0DABD0E5-4456-559B-6D23-3C070553BCDB}"/>
              </a:ext>
            </a:extLst>
          </p:cNvPr>
          <p:cNvSpPr/>
          <p:nvPr/>
        </p:nvSpPr>
        <p:spPr>
          <a:xfrm>
            <a:off x="514807" y="327251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54" name="Shape 43">
            <a:extLst>
              <a:ext uri="{FF2B5EF4-FFF2-40B4-BE49-F238E27FC236}">
                <a16:creationId xmlns:a16="http://schemas.microsoft.com/office/drawing/2014/main" id="{57691CB2-B56E-DCCA-EF3D-9A7159CA25BB}"/>
              </a:ext>
            </a:extLst>
          </p:cNvPr>
          <p:cNvSpPr/>
          <p:nvPr/>
        </p:nvSpPr>
        <p:spPr>
          <a:xfrm>
            <a:off x="914400" y="332921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4">
            <a:extLst>
              <a:ext uri="{FF2B5EF4-FFF2-40B4-BE49-F238E27FC236}">
                <a16:creationId xmlns:a16="http://schemas.microsoft.com/office/drawing/2014/main" id="{21EBBF60-1CA2-D41D-95C6-1077C5D59846}"/>
              </a:ext>
            </a:extLst>
          </p:cNvPr>
          <p:cNvSpPr/>
          <p:nvPr/>
        </p:nvSpPr>
        <p:spPr>
          <a:xfrm>
            <a:off x="1000354" y="334384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/>
              <a:t>결론 및 정리</a:t>
            </a:r>
          </a:p>
        </p:txBody>
      </p:sp>
      <p:sp>
        <p:nvSpPr>
          <p:cNvPr id="56" name="Text 45">
            <a:extLst>
              <a:ext uri="{FF2B5EF4-FFF2-40B4-BE49-F238E27FC236}">
                <a16:creationId xmlns:a16="http://schemas.microsoft.com/office/drawing/2014/main" id="{DC46CBFA-3ED3-7BB5-21CE-8006A41A38C2}"/>
              </a:ext>
            </a:extLst>
          </p:cNvPr>
          <p:cNvSpPr/>
          <p:nvPr/>
        </p:nvSpPr>
        <p:spPr>
          <a:xfrm>
            <a:off x="1000354" y="3529463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학습 내용 종합 </a:t>
            </a:r>
            <a:r>
              <a:rPr lang="en-US" altLang="ko-KR" sz="1100" dirty="0">
                <a:solidFill>
                  <a:schemeClr val="accent3">
                    <a:lumMod val="75000"/>
                  </a:schemeClr>
                </a:solidFill>
              </a:rPr>
              <a:t>· </a:t>
            </a:r>
            <a:r>
              <a:rPr lang="ko-KR" altLang="en-US" sz="1100" dirty="0">
                <a:solidFill>
                  <a:schemeClr val="accent3">
                    <a:lumMod val="75000"/>
                  </a:schemeClr>
                </a:solidFill>
              </a:rPr>
              <a:t>참고문헌</a:t>
            </a:r>
          </a:p>
        </p:txBody>
      </p:sp>
      <p:pic>
        <p:nvPicPr>
          <p:cNvPr id="75" name="Picture 4" descr="서강대학교 - 더시드위키">
            <a:extLst>
              <a:ext uri="{FF2B5EF4-FFF2-40B4-BE49-F238E27FC236}">
                <a16:creationId xmlns:a16="http://schemas.microsoft.com/office/drawing/2014/main" id="{1DFF1DE1-2B1C-800B-CB86-1842F1030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54" y="131886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9172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0405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01. T-검정 / F-검정 이론 및 개요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T-TEST &amp; F-TEST THEORY OVERVIEW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690600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Body"/>
          <p:cNvSpPr/>
          <p:nvPr/>
        </p:nvSpPr>
        <p:spPr>
          <a:xfrm>
            <a:off x="428854" y="857250"/>
            <a:ext cx="8287207" cy="3772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130"/>
              </a:spcBef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1. 평균 비교를 왜 하는가?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핵심 질문: "내가 본 이 차이가 진짜 차이인가, 우연히 나타난 것인가?"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표본(Sample) 평균 차이가 모집단(Population)의 진짜 차이를 반영하는지 판별하는 것이 목적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예시: 라면 한 숟가락이 싱겁다 → 냄비 전체가 싱거운 걸까, 우연히 그 부분이 싱거운 걸까?</a:t>
            </a:r>
            <a:endParaRPr lang="en-US" altLang="ko-KR" sz="900" dirty="0"/>
          </a:p>
          <a:p>
            <a:pPr marL="0" indent="0">
              <a:spcBef>
                <a:spcPts val="130"/>
              </a:spcBef>
              <a:buNone/>
            </a:pPr>
            <a:endParaRPr lang="ko-KR" sz="900" dirty="0"/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2. 확률분포 가계도 : </a:t>
            </a:r>
            <a:r>
              <a:rPr lang="en-US" altLang="ko-KR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[</a:t>
            </a: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ko-KR" altLang="en-US" sz="1200" b="1" dirty="0" err="1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Bernoulli</a:t>
            </a: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 → Binom → Z/t → Chi² → </a:t>
            </a:r>
            <a:r>
              <a:rPr lang="ko-KR" altLang="en-US" sz="1200" b="1" dirty="0" err="1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F</a:t>
            </a: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]</a:t>
            </a:r>
            <a:endParaRPr lang="ko-KR" altLang="en-US" sz="1200" b="1" dirty="0">
              <a:solidFill>
                <a:srgbClr val="990000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1.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Bernoulli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: 결과가 두 개(성공/실패)인 단 한 번의 시행 → </a:t>
            </a:r>
            <a:r>
              <a:rPr lang="ko-KR" altLang="en-US" sz="105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가장 단순한 확률 단위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2.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Binom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: </a:t>
            </a:r>
            <a:r>
              <a:rPr lang="ko-KR" altLang="en-US" sz="105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베르누이 시행을 n번 반복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하여 성공 횟수를 세는 분포 (반복 시행의 합산)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3.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Z / t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: 이항분포가 충분히 커지면 </a:t>
            </a:r>
            <a:r>
              <a:rPr lang="ko-KR" altLang="en-US" sz="105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Bell 모양 수렴(CLT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). 표본이 작을 때는 t분포 사용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4.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Chi²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: </a:t>
            </a:r>
            <a:r>
              <a:rPr lang="ko-KR" altLang="en-US" sz="105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정규분포 값들을 제곱·합산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→ 항상 양수 → 분산(흩어짐) 측정 도구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5.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F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: </a:t>
            </a:r>
            <a:r>
              <a:rPr lang="ko-KR" altLang="en-US" sz="105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두 Chi² 값의 비율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→ ANOVA 핵심 통계량 "집단 간 분산 / 집단 내 분산”</a:t>
            </a:r>
            <a:endParaRPr lang="en-US" altLang="ko-K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spcBef>
                <a:spcPts val="130"/>
              </a:spcBef>
              <a:buNone/>
            </a:pPr>
            <a:endParaRPr lang="en-US" altLang="ko-K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</a:endParaRPr>
          </a:p>
          <a:p>
            <a:pPr>
              <a:spcBef>
                <a:spcPts val="130"/>
              </a:spcBef>
            </a:pP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000" i="1" dirty="0">
                <a:solidFill>
                  <a:schemeClr val="accent1">
                    <a:lumMod val="50000"/>
                  </a:schemeClr>
                </a:solidFill>
              </a:rPr>
              <a:t>=&gt;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 베르누이 시행을 반복하면 결국 정규분포로 수렴하고</a:t>
            </a:r>
            <a:r>
              <a:rPr lang="en-US" altLang="ko-KR" sz="1000" i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" altLang="ko-KR" sz="1000" i="1" dirty="0">
                <a:solidFill>
                  <a:schemeClr val="accent1">
                    <a:lumMod val="50000"/>
                  </a:schemeClr>
                </a:solidFill>
              </a:rPr>
              <a:t>CLT), 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그 정규분포를 </a:t>
            </a:r>
            <a:r>
              <a:rPr lang="en" altLang="ko-KR" sz="1000" i="1" dirty="0">
                <a:solidFill>
                  <a:schemeClr val="accent1">
                    <a:lumMod val="50000"/>
                  </a:schemeClr>
                </a:solidFill>
              </a:rPr>
              <a:t>Chi²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로 나누면 </a:t>
            </a:r>
            <a:r>
              <a:rPr lang="en" altLang="ko-KR" sz="1000" i="1" dirty="0">
                <a:solidFill>
                  <a:schemeClr val="accent1">
                    <a:lumMod val="50000"/>
                  </a:schemeClr>
                </a:solidFill>
              </a:rPr>
              <a:t>t, 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제곱해서 합산하면 </a:t>
            </a:r>
            <a:r>
              <a:rPr lang="en" altLang="ko-KR" sz="1000" i="1" dirty="0">
                <a:solidFill>
                  <a:schemeClr val="accent1">
                    <a:lumMod val="50000"/>
                  </a:schemeClr>
                </a:solidFill>
              </a:rPr>
              <a:t>Chi², Chi²</a:t>
            </a:r>
            <a:r>
              <a:rPr lang="ko-KR" altLang="en-US" sz="1000" i="1" dirty="0" err="1">
                <a:solidFill>
                  <a:schemeClr val="accent1">
                    <a:lumMod val="50000"/>
                  </a:schemeClr>
                </a:solidFill>
              </a:rPr>
              <a:t>를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" altLang="ko-KR" sz="1000" i="1" dirty="0">
                <a:solidFill>
                  <a:schemeClr val="accent1">
                    <a:lumMod val="50000"/>
                  </a:schemeClr>
                </a:solidFill>
              </a:rPr>
              <a:t>Chi²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로 나누면 </a:t>
            </a:r>
            <a:r>
              <a:rPr lang="en" altLang="ko-KR" sz="1000" i="1" dirty="0">
                <a:solidFill>
                  <a:schemeClr val="accent1">
                    <a:lumMod val="50000"/>
                  </a:schemeClr>
                </a:solidFill>
              </a:rPr>
              <a:t>F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가 된다</a:t>
            </a:r>
            <a:r>
              <a:rPr lang="en-US" altLang="ko-KR" sz="1000" i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endParaRPr lang="en-US" altLang="ko-KR" sz="1000" i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spcBef>
                <a:spcPts val="130"/>
              </a:spcBef>
            </a:pP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       </a:t>
            </a:r>
            <a:r>
              <a:rPr lang="en-US" altLang="ko-KR" sz="1000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" altLang="ko-KR" sz="1000" i="1" dirty="0">
                <a:solidFill>
                  <a:schemeClr val="accent1">
                    <a:lumMod val="50000"/>
                  </a:schemeClr>
                </a:solidFill>
              </a:rPr>
              <a:t>-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검정과 </a:t>
            </a:r>
            <a:r>
              <a:rPr lang="en" altLang="ko-KR" sz="1000" i="1" dirty="0">
                <a:solidFill>
                  <a:schemeClr val="accent1">
                    <a:lumMod val="50000"/>
                  </a:schemeClr>
                </a:solidFill>
              </a:rPr>
              <a:t>F-</a:t>
            </a:r>
            <a:r>
              <a:rPr lang="ko-KR" altLang="en-US" sz="1000" i="1" dirty="0">
                <a:solidFill>
                  <a:schemeClr val="accent1">
                    <a:lumMod val="50000"/>
                  </a:schemeClr>
                </a:solidFill>
              </a:rPr>
              <a:t>검정은 정규분포 하나에서 자연스럽게 파생된 형제 모델이다</a:t>
            </a:r>
            <a:r>
              <a:rPr lang="en-US" altLang="ko-KR" sz="1000" i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ko-KR" altLang="en-US" sz="1000" i="1" dirty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spcBef>
                <a:spcPts val="130"/>
              </a:spcBef>
              <a:buNone/>
            </a:pPr>
            <a:endParaRPr lang="ko-KR" sz="900" dirty="0"/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3. 수학적 일체성 </a:t>
            </a:r>
            <a:endParaRPr lang="en-US" altLang="ko-KR" sz="1200" b="1" dirty="0">
              <a:solidFill>
                <a:srgbClr val="990000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spcBef>
                <a:spcPts val="130"/>
              </a:spcBef>
              <a:buNone/>
            </a:pPr>
            <a:r>
              <a:rPr lang="en-US" altLang="ko-KR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t² = F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: t-통계량을 제곱하면 F-통계량과 동일 → 두 집단 비교에서 t-검정 = F-검정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en-US" altLang="ko-KR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ko-KR" altLang="en-US" sz="10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t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= Z / √(Chi²/df)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: 정규분포를 카이제곱으로 나눈 형태 → 동일한 수학적 구조에서 파생</a:t>
            </a:r>
          </a:p>
        </p:txBody>
      </p:sp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1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9172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0405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02. 독립표본 T-검정 이론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INDEPENDENT SAMPLES T-TEST THEORY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1381201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Body"/>
          <p:cNvSpPr/>
          <p:nvPr/>
        </p:nvSpPr>
        <p:spPr>
          <a:xfrm>
            <a:off x="428854" y="857250"/>
            <a:ext cx="8287207" cy="3772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독립표본 T-검정 (Independent Samples t-test)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서로 관계없는 두 독립 집단의 평균이 같은지 비교. 두 집단은 서로 다른 개체로 구성됨.</a:t>
            </a:r>
          </a:p>
          <a:p>
            <a:pPr marL="200000" indent="0">
              <a:buChar char="▪"/>
            </a:pPr>
            <a:r>
              <a:rPr lang="ko-KR" alt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사용 예시: 남아/여아 신생아 출생 체중 평균 비교 (age.txt 데이터)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① 사전 조건: 등분산 검정 (F-test for Variance)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두 집단의 분산이 같은지(등분산) 먼저 확인해야 t-검정 공식 선택이 결정됨.</a:t>
            </a:r>
          </a:p>
          <a:p>
            <a:pPr marL="200000" indent="0">
              <a:buChar char="▪"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p-value &gt; 0.05 → 등분산 가정 채택 → var.equal=TRUE 사용</a:t>
            </a:r>
          </a:p>
          <a:p>
            <a:pPr marL="200000" indent="0">
              <a:buChar char="▪"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p-value ≤ 0.05 → 이분산 → Welch t-검정 사용 (var.equal=FALSE)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② 등분산 t-검정 (Student's t-test)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t = (x̄₁ - x̄₂) / (Sp × √(1/n₁ + 1/n₂))   |   Sp: 합동 표준편차(pooled std)</a:t>
            </a:r>
          </a:p>
          <a:p>
            <a:pPr marL="200000" indent="0">
              <a:buChar char="▪"/>
            </a:pPr>
            <a:r>
              <a:rPr lang="ko-KR" alt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분자(시그널) = 두 집단 평균의 차이  /  분모(노이즈) = 표본 추출 오차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③ 비등분산 t-검정 (Welch's t-test) — 자유도 보정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t = (x̄₁ - x̄₂) / √(s₁²/n₁ + s₂²/n₂)   |   자유도: Welch-Satterthwaite 공식으로 보정</a:t>
            </a:r>
          </a:p>
          <a:p>
            <a:pPr marL="200000" indent="0">
              <a:buChar char="▪"/>
            </a:pPr>
            <a:r>
              <a:rPr lang="ko-KR" alt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두 집단의 분산이 다를 때 사용. df가 소수점으로 계산됨 (더 보수적)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④ 가설 설정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귀무가설(H₀): μ₁ = μ₂  (두 집단의 평균에 차이가 없다)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대립가설(H₁): μ₁ ≠ μ₂  또는  μ₁ &lt; μ₂  (연구 목적에 따라 설정)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p-value &lt; 0.05 → H₀ 기각 → 두 집단 간 평균 차이가 통계적으로 유의함</a:t>
            </a:r>
          </a:p>
        </p:txBody>
      </p:sp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2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8741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8643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03. 대응표본 T-검정 이론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PAIRED SAMPLES T-TEST THEORY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2071801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Body"/>
          <p:cNvSpPr/>
          <p:nvPr/>
        </p:nvSpPr>
        <p:spPr>
          <a:xfrm>
            <a:off x="428854" y="857250"/>
            <a:ext cx="8287207" cy="3772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대응표본 T-검정 (Paired Samples t-test)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동일한 대상(같은 개체)에 대해 처치 전·후 또는 두 조건을 측정하여 비교하는 검정.</a:t>
            </a:r>
          </a:p>
          <a:p>
            <a:pPr marL="200000" indent="0">
              <a:buChar char="▪"/>
            </a:pPr>
            <a:r>
              <a:rPr lang="ko-KR" alt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사용 예시: 다이어트 전 체중 vs 다이어트 후 체중 (동일 인물, diet.csv)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① 독립표본과의 핵심 차이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독립표본: 두 집단이 서로 다른 개체 → 집단 간 개인차가 오차에 포함됨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대응표본: 동일 개체의 차이(diff = before - after)만 분석 → 개인차 제거 → 검정력(Power) 향상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② 통계량 계산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각 쌍의 차이값 dᵢ = x₁ᵢ - x₂ᵢ  →  d̄ (차이의 평균)와 Sd (차이의 표준편차) 계산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t = d̄ / (Sd / √n)   |   자유도 df = n - 1  (쌍의 수 - 1)</a:t>
            </a:r>
          </a:p>
          <a:p>
            <a:pPr marL="200000" indent="0">
              <a:buChar char="▪"/>
            </a:pPr>
            <a:r>
              <a:rPr lang="ko-KR" alt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분자 = 차이의 평균(시그널)  /  분모 = 차이값의 표준오차(노이즈)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③ 가설 설정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귀무가설(H₀): μd = 0  (처치 전·후 평균 차이가 없다)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대립가설(H₁): μd ≠ 0  (처치 전·후 평균 차이가 존재한다) → two-sided 검정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④ 사전 조건 및 구현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차이값 dᵢ의 정규성 가정 필요. 표본 작을 경우 Shapiro-Wilk 정규성 검정 권장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</a:rPr>
              <a:t>R: t.test(..., paired=TRUE)  |  Python: scipy.stats.ttest_rel()</a:t>
            </a:r>
          </a:p>
        </p:txBody>
      </p:sp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3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9172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0405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04. F-검정 및 ANOVA 이론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F-TEST &amp; ONE-WAY ANOVA THEORY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2762402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Body"/>
          <p:cNvSpPr/>
          <p:nvPr/>
        </p:nvSpPr>
        <p:spPr>
          <a:xfrm>
            <a:off x="428854" y="857250"/>
            <a:ext cx="8287207" cy="3772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F-검정 및 일원분산분석 (One-Way ANOVA)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집단이 3개 이상일 때 모든 집단의 평균이 동일한지 검정. t-검정 반복 시 1종 오류 누적 → ANOVA 사용.</a:t>
            </a:r>
          </a:p>
          <a:p>
            <a:pPr marL="200000" indent="0">
              <a:buChar char="▪"/>
            </a:pPr>
            <a:r>
              <a:rPr lang="ko-KR" alt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예시: 교육방법 A/B/C 세 반의 성적 평균 동시 비교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① 왜 "분산" 분석으로 "평균"을 비교하는가?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집단 평균 차이가 클수록 → 집단 간 분산(SSB)이 집단 내 분산(SSW)보다 커짐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F = MSB / MSW  =  (집단 간 분산) / (집단 내 분산)  →  F &gt;&gt; 1 이면 평균 차이가 오차보다 큼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② 분산 분해 (Sum of Squares Decomposition)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SST(전체) = SSB(집단 간) + SSW(집단 내)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MSB = SSB/(k-1)   |   MSW = SSW/(N-k)   |   k: 집단 수, N: 전체 표본 수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③ 가설 설정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귀무가설(H₀): μ₁ = μ₂ = μ₃ = ... = μk  (모든 집단의 평균이 같다)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대립가설(H₁): 적어도 하나의 집단 평균이 다르다 (어느 집단인지는 사후검정으로 특정)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④ 사후검정 (Post-hoc) — Tukey HSD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ANOVA 유의 후 어느 집단 쌍이 다른지 확인 → Tukey HSD / Bonferroni / Scheffe 등 사용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</a:rPr>
              <a:t>R: TukeyHSD(aov결과)  |  Python: statsmodels.stats.multicomp.pairwise_tukeyhsd()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사전 조건: 정규성(Shapiro-Wilk) + 등분산성(Bartlett / Levene) 검정 필요</a:t>
            </a:r>
          </a:p>
        </p:txBody>
      </p:sp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4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093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0405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05. 코딩 실습 (1/4) — 독립표본 시각화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R &amp; PYTHON — VISUALIZATION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3453002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60" name="Badge428854"/>
          <p:cNvSpPr/>
          <p:nvPr/>
        </p:nvSpPr>
        <p:spPr>
          <a:xfrm>
            <a:off x="428854" y="857250"/>
            <a:ext cx="580000" cy="110000"/>
          </a:xfrm>
          <a:prstGeom prst="roundRect">
            <a:avLst>
              <a:gd name="adj" fmla="val 20000"/>
            </a:avLst>
          </a:prstGeom>
          <a:solidFill>
            <a:srgbClr val="990000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</a:t>
            </a:r>
          </a:p>
        </p:txBody>
      </p:sp>
      <p:sp>
        <p:nvSpPr>
          <p:cNvPr id="3" name="Badge4720000"/>
          <p:cNvSpPr/>
          <p:nvPr/>
        </p:nvSpPr>
        <p:spPr>
          <a:xfrm>
            <a:off x="4720000" y="857250"/>
            <a:ext cx="580000" cy="11000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Python</a:t>
            </a:r>
          </a:p>
        </p:txBody>
      </p:sp>
      <p:sp>
        <p:nvSpPr>
          <p:cNvPr id="61" name="Div"/>
          <p:cNvSpPr/>
          <p:nvPr/>
        </p:nvSpPr>
        <p:spPr>
          <a:xfrm>
            <a:off x="4630000" y="857250"/>
            <a:ext cx="10000" cy="3772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0" name="Col70"/>
          <p:cNvSpPr/>
          <p:nvPr/>
        </p:nvSpPr>
        <p:spPr>
          <a:xfrm>
            <a:off x="428854" y="977250"/>
            <a:ext cx="4186000" cy="3652680"/>
          </a:xfrm>
          <a:prstGeom prst="rect">
            <a:avLst/>
          </a:prstGeom>
          <a:noFill/>
          <a:ln/>
        </p:spPr>
        <p:txBody>
          <a:bodyPr wrap="square" lIns="60960" tIns="30480" rIns="60960" bIns="30480" rtlCol="0" anchor="t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R — 시각화</a:t>
            </a:r>
          </a:p>
          <a:p>
            <a:pPr marL="0" indent="0">
              <a:buNone/>
            </a:pPr>
            <a:endParaRPr lang="ko-KR" sz="500" dirty="0"/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data</a:t>
            </a:r>
            <a:r>
              <a:rPr lang="en-US" altLang="ko-KR" sz="730" dirty="0">
                <a:solidFill>
                  <a:srgbClr val="1B3A6B"/>
                </a:solidFill>
                <a:latin typeface="Consolas" pitchFamily="49" charset="0"/>
              </a:rPr>
              <a:t>&lt;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-</a:t>
            </a:r>
            <a:r>
              <a:rPr lang="en-US" sz="730" dirty="0" err="1">
                <a:solidFill>
                  <a:srgbClr val="1B3A6B"/>
                </a:solidFill>
                <a:latin typeface="Consolas" pitchFamily="49" charset="0"/>
              </a:rPr>
              <a:t>read.table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('age.txt',header=1)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par(mar=c(5,4,3,1))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여자: 빨간색 히스토그램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hist(data$weight[data$gender==1],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xlim=c(1500,4500),ylim=c(0,12),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col='red',border=NA,axes=F,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main='',xlab='',ylab='')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남자: 초록 해치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hist(data$weight[data$gender==2],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add=TRUE,col='green',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density=20,angle=45)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axis(1);axis(2)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평균선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abline(v=mean(data$weight[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data$gender==1]),lty=2,col='red')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abline(v=mean(data$weight[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data$gender==2]),lty=1,col='green')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범례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legend('topright',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legend=c('여자','남자'),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fill=c('red','green'),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density=c(NA,20),angle=c(0,45))</a:t>
            </a:r>
          </a:p>
        </p:txBody>
      </p:sp>
      <p:sp>
        <p:nvSpPr>
          <p:cNvPr id="71" name="Col71"/>
          <p:cNvSpPr/>
          <p:nvPr/>
        </p:nvSpPr>
        <p:spPr>
          <a:xfrm>
            <a:off x="4720000" y="977250"/>
            <a:ext cx="4186000" cy="3652680"/>
          </a:xfrm>
          <a:prstGeom prst="rect">
            <a:avLst/>
          </a:prstGeom>
          <a:noFill/>
          <a:ln/>
        </p:spPr>
        <p:txBody>
          <a:bodyPr wrap="square" lIns="60960" tIns="30480" rIns="60960" bIns="30480" rtlCol="0" anchor="t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</a:rPr>
              <a:t>Python — 시각화</a:t>
            </a:r>
          </a:p>
          <a:p>
            <a:pPr marL="0" indent="0">
              <a:buNone/>
            </a:pPr>
            <a:endParaRPr lang="ko-KR" sz="500" dirty="0"/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import pandas as pd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import matplotlib.pyplot as plt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import matplotlib as mpl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mpl.rcParams['font.family']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= 'Malgun Gothic'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from scipy import stats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data=pd.read_csv('age.txt',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sep='\t',header=0)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g1=data[data['gender']==1]['weight']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g2=data[data['gender']==2]['weight']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fig,ax=plt.subplots()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ax.hist(g1,range=(1500,4500),bins=10,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color='red',alpha=0.7,label='여자')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ax.hist(g2,range=(1500,4500),bins=10,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color='green',alpha=0.5,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hatch='//',label='남자')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ax.axvline(g1.mean(),color='red',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linestyle='--',linewidth=1.5)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ax.axvline(g2.mean(),color='green',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linestyle='-',linewidth=1.5)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ax.legend()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plt.show()</a:t>
            </a:r>
          </a:p>
        </p:txBody>
      </p:sp>
      <p:pic>
        <p:nvPicPr>
          <p:cNvPr id="80" name="Img8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62427" y="3427792"/>
            <a:ext cx="2052427" cy="12500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</p:pic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07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5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9172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0405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05. 코딩 실습 (2/4) — 독립표본 T-검정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R &amp; PYTHON — INDEPENDENT T-TEST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4143603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60" name="Badge428854"/>
          <p:cNvSpPr/>
          <p:nvPr/>
        </p:nvSpPr>
        <p:spPr>
          <a:xfrm>
            <a:off x="428854" y="857250"/>
            <a:ext cx="580000" cy="110000"/>
          </a:xfrm>
          <a:prstGeom prst="roundRect">
            <a:avLst>
              <a:gd name="adj" fmla="val 20000"/>
            </a:avLst>
          </a:prstGeom>
          <a:solidFill>
            <a:srgbClr val="990000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</a:t>
            </a:r>
          </a:p>
        </p:txBody>
      </p:sp>
      <p:sp>
        <p:nvSpPr>
          <p:cNvPr id="3" name="Badge4720000"/>
          <p:cNvSpPr/>
          <p:nvPr/>
        </p:nvSpPr>
        <p:spPr>
          <a:xfrm>
            <a:off x="4910773" y="857250"/>
            <a:ext cx="580000" cy="11000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Python</a:t>
            </a:r>
          </a:p>
        </p:txBody>
      </p:sp>
      <p:sp>
        <p:nvSpPr>
          <p:cNvPr id="61" name="Div"/>
          <p:cNvSpPr/>
          <p:nvPr/>
        </p:nvSpPr>
        <p:spPr>
          <a:xfrm>
            <a:off x="4866914" y="863828"/>
            <a:ext cx="10000" cy="3772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0" name="Col70"/>
          <p:cNvSpPr/>
          <p:nvPr/>
        </p:nvSpPr>
        <p:spPr>
          <a:xfrm>
            <a:off x="428854" y="977250"/>
            <a:ext cx="4186000" cy="3652680"/>
          </a:xfrm>
          <a:prstGeom prst="rect">
            <a:avLst/>
          </a:prstGeom>
          <a:noFill/>
          <a:ln/>
        </p:spPr>
        <p:txBody>
          <a:bodyPr wrap="square" lIns="60960" tIns="30480" rIns="60960" bIns="30480" rtlCol="0" anchor="t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R — 독립표본 T-검정</a:t>
            </a:r>
          </a:p>
          <a:p>
            <a:pPr marL="0" indent="0">
              <a:buNone/>
            </a:pPr>
            <a:endParaRPr lang="ko-KR" sz="500" dirty="0"/>
          </a:p>
          <a:p>
            <a:pPr marL="0" indent="0">
              <a:buNone/>
            </a:pPr>
            <a:r>
              <a:rPr lang="en-US" altLang="ko-KR" sz="730" dirty="0">
                <a:solidFill>
                  <a:srgbClr val="1B3A6B"/>
                </a:solidFill>
                <a:latin typeface="Consolas" pitchFamily="49" charset="0"/>
              </a:rPr>
              <a:t>d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ata</a:t>
            </a:r>
            <a:r>
              <a:rPr lang="en-US" altLang="ko-KR" sz="730" dirty="0">
                <a:solidFill>
                  <a:srgbClr val="1B3A6B"/>
                </a:solidFill>
                <a:latin typeface="Consolas" pitchFamily="49" charset="0"/>
              </a:rPr>
              <a:t>&lt;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-read.table('age.txt',header=1)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① 등분산 검정 (F-test)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var.test(data$weight~data$gender)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# F=2.087, p=0.092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# → p</a:t>
            </a:r>
            <a:r>
              <a:rPr lang="ko-KR" altLang="en-US" sz="730" dirty="0">
                <a:solidFill>
                  <a:srgbClr val="1B3A6B"/>
                </a:solidFill>
                <a:latin typeface="Consolas" pitchFamily="49" charset="0"/>
              </a:rPr>
              <a:t> </a:t>
            </a:r>
            <a:r>
              <a:rPr lang="en-US" altLang="ko-KR" sz="730" dirty="0">
                <a:solidFill>
                  <a:srgbClr val="1B3A6B"/>
                </a:solidFill>
                <a:latin typeface="Consolas" pitchFamily="49" charset="0"/>
              </a:rPr>
              <a:t>&gt;</a:t>
            </a:r>
            <a:r>
              <a:rPr lang="ko-KR" altLang="en-US" sz="730" dirty="0">
                <a:solidFill>
                  <a:srgbClr val="1B3A6B"/>
                </a:solidFill>
                <a:latin typeface="Consolas" pitchFamily="49" charset="0"/>
              </a:rPr>
              <a:t> 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0.05 : 등분산 가정 채택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② 등분산 t-검정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t.test(data$weight~data$gender,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mu=0,alternative='less',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var.equal=TRUE)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# t=-1.617,df=42,p=0.057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# → p</a:t>
            </a:r>
            <a:r>
              <a:rPr lang="ko-KR" altLang="en-US" sz="730" dirty="0">
                <a:solidFill>
                  <a:srgbClr val="1B3A6B"/>
                </a:solidFill>
                <a:latin typeface="Consolas" pitchFamily="49" charset="0"/>
              </a:rPr>
              <a:t> </a:t>
            </a:r>
            <a:r>
              <a:rPr lang="en-US" altLang="ko-KR" sz="730" dirty="0">
                <a:solidFill>
                  <a:srgbClr val="1B3A6B"/>
                </a:solidFill>
                <a:latin typeface="Consolas" pitchFamily="49" charset="0"/>
              </a:rPr>
              <a:t>&gt;</a:t>
            </a:r>
            <a:r>
              <a:rPr lang="ko-KR" altLang="en-US" sz="730" dirty="0">
                <a:solidFill>
                  <a:srgbClr val="1B3A6B"/>
                </a:solidFill>
                <a:latin typeface="Consolas" pitchFamily="49" charset="0"/>
              </a:rPr>
              <a:t> 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0.05 : 유의하지 않음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③ Welch t-검정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t.test(data$weight~data$gender,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mu=0,alternative='less',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var.equal=FALSE)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# t=-1.514,df=28.05,p=0.071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endParaRPr lang="ko-KR" sz="600" dirty="0"/>
          </a:p>
          <a:p>
            <a:pPr marL="0" indent="0">
              <a:buNone/>
            </a:pPr>
            <a:r>
              <a:rPr lang="en-US" sz="730" b="1" dirty="0">
                <a:solidFill>
                  <a:srgbClr val="1A6B2A"/>
                </a:solidFill>
                <a:latin typeface="Consolas" pitchFamily="49" charset="0"/>
              </a:rPr>
              <a:t>▶ 결과 해석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여자 평균=3132g, 남자=3393g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p&amp;gt;0.05 → 5% 유의수준 기각 실패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10% 유의수준에서는 유의할 수 있음</a:t>
            </a:r>
          </a:p>
        </p:txBody>
      </p:sp>
      <p:sp>
        <p:nvSpPr>
          <p:cNvPr id="71" name="Col71"/>
          <p:cNvSpPr/>
          <p:nvPr/>
        </p:nvSpPr>
        <p:spPr>
          <a:xfrm>
            <a:off x="4900000" y="977250"/>
            <a:ext cx="4006000" cy="3652680"/>
          </a:xfrm>
          <a:prstGeom prst="rect">
            <a:avLst/>
          </a:prstGeom>
          <a:noFill/>
          <a:ln/>
        </p:spPr>
        <p:txBody>
          <a:bodyPr wrap="square" lIns="60960" tIns="30480" rIns="60960" bIns="30480" rtlCol="0" anchor="t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</a:rPr>
              <a:t>Python — 독립표본 T-검정</a:t>
            </a:r>
          </a:p>
          <a:p>
            <a:pPr marL="0" indent="0">
              <a:buNone/>
            </a:pPr>
            <a:endParaRPr lang="ko-KR" sz="500" dirty="0"/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from scipy import stats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import pandas as pd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data=pd.read_csv('age.txt',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sep='\t',header=0)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g1=data[data['gender']==1]['weight']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g2=data[data['gender']==2]['weight']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① Levene 등분산 검정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(R: var.test 대응)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s,p=stats.levene(g1,g2)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print(f'F={s:.4f}, p={p:.5f}')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# → p&amp;gt;0.05 : 등분산 채택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② 등분산 t-검정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t,p=stats.ttest_ind(g1,g2,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equal_var=True,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alternative='less')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print(f't={t:.4f}, p={p:.5f}')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③ Welch t-검정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t,p=stats.ttest_ind(g1,g2,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equal_var=False,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alternative='less')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print(f't={t:.4f}, p={p:.5f}’)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endParaRPr lang="ko-KR" sz="600" dirty="0"/>
          </a:p>
          <a:p>
            <a:pPr marL="0" indent="0">
              <a:buNone/>
            </a:pPr>
            <a:r>
              <a:rPr lang="en-US" sz="730" b="1" dirty="0">
                <a:solidFill>
                  <a:srgbClr val="1A6B2A"/>
                </a:solidFill>
                <a:latin typeface="Consolas" pitchFamily="49" charset="0"/>
              </a:rPr>
              <a:t>▶ R → Python 대응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var.test()  → stats.levene()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t.test(var.equal=T/F)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  → ttest_ind(equal_var=T/F)</a:t>
            </a:r>
          </a:p>
        </p:txBody>
      </p:sp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08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6 / 12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EBFAAF-DF14-B664-1D66-19C135295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582" y="1342350"/>
            <a:ext cx="2261511" cy="89270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95755D-ECF6-0CAE-D1CE-939192173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2268" y="2459863"/>
            <a:ext cx="2238406" cy="6357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F3A6F58-DCC6-313D-F25C-0F51F3F326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218" y="3320435"/>
            <a:ext cx="2253456" cy="6357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9172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0405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05. 코딩 실습 (3/4) — 대응표본 T-검정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R &amp; PYTHON — PAIRED T-TEST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4834204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60" name="Badge428854"/>
          <p:cNvSpPr/>
          <p:nvPr/>
        </p:nvSpPr>
        <p:spPr>
          <a:xfrm>
            <a:off x="428854" y="857250"/>
            <a:ext cx="580000" cy="110000"/>
          </a:xfrm>
          <a:prstGeom prst="roundRect">
            <a:avLst>
              <a:gd name="adj" fmla="val 20000"/>
            </a:avLst>
          </a:prstGeom>
          <a:solidFill>
            <a:srgbClr val="990000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</a:t>
            </a:r>
          </a:p>
        </p:txBody>
      </p:sp>
      <p:sp>
        <p:nvSpPr>
          <p:cNvPr id="3" name="Badge4720000"/>
          <p:cNvSpPr/>
          <p:nvPr/>
        </p:nvSpPr>
        <p:spPr>
          <a:xfrm>
            <a:off x="4720000" y="857250"/>
            <a:ext cx="580000" cy="11000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Python</a:t>
            </a:r>
          </a:p>
        </p:txBody>
      </p:sp>
      <p:sp>
        <p:nvSpPr>
          <p:cNvPr id="61" name="Div"/>
          <p:cNvSpPr/>
          <p:nvPr/>
        </p:nvSpPr>
        <p:spPr>
          <a:xfrm>
            <a:off x="4630000" y="857250"/>
            <a:ext cx="10000" cy="3772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0" name="Col70"/>
          <p:cNvSpPr/>
          <p:nvPr/>
        </p:nvSpPr>
        <p:spPr>
          <a:xfrm>
            <a:off x="428854" y="977250"/>
            <a:ext cx="4186000" cy="3652680"/>
          </a:xfrm>
          <a:prstGeom prst="rect">
            <a:avLst/>
          </a:prstGeom>
          <a:noFill/>
          <a:ln/>
        </p:spPr>
        <p:txBody>
          <a:bodyPr wrap="square" lIns="60960" tIns="30480" rIns="60960" bIns="30480" rtlCol="0" anchor="t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R — 대응표본 T-검정</a:t>
            </a:r>
          </a:p>
          <a:p>
            <a:pPr marL="0" indent="0">
              <a:buNone/>
            </a:pPr>
            <a:endParaRPr lang="ko-KR" sz="500" dirty="0"/>
          </a:p>
          <a:p>
            <a:pPr marL="0" indent="0">
              <a:buNone/>
            </a:pPr>
            <a:r>
              <a:rPr lang="en-US" altLang="ko-KR" sz="730" dirty="0">
                <a:solidFill>
                  <a:srgbClr val="1B3A6B"/>
                </a:solidFill>
                <a:latin typeface="Consolas" pitchFamily="49" charset="0"/>
              </a:rPr>
              <a:t>d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ata</a:t>
            </a:r>
            <a:r>
              <a:rPr lang="en-US" altLang="ko-KR" sz="730" dirty="0">
                <a:solidFill>
                  <a:srgbClr val="1B3A6B"/>
                </a:solidFill>
                <a:latin typeface="Consolas" pitchFamily="49" charset="0"/>
              </a:rPr>
              <a:t>&lt;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-</a:t>
            </a:r>
            <a:r>
              <a:rPr lang="en-US" sz="730" dirty="0" err="1">
                <a:solidFill>
                  <a:srgbClr val="1B3A6B"/>
                </a:solidFill>
                <a:latin typeface="Consolas" pitchFamily="49" charset="0"/>
              </a:rPr>
              <a:t>read.csv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('diet.csv',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header=T,fileEncoding='CP949')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attach(data)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names(data);summary(data)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차이값 계산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diff&lt;-</a:t>
            </a:r>
            <a:r>
              <a:rPr lang="en-US" sz="730" dirty="0" err="1">
                <a:solidFill>
                  <a:srgbClr val="1B3A6B"/>
                </a:solidFill>
                <a:latin typeface="Consolas" pitchFamily="49" charset="0"/>
              </a:rPr>
              <a:t>data$다이어어트전</a:t>
            </a: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    -data$다이어트후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박스플롯 시각화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boxplot(diff)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대응표본 t-검정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t.test(data$다이어어트전,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data$다이어트후,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alternative='two.sided',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paired=TRUE,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conf.level=0.95)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endParaRPr lang="ko-KR" sz="600" b="1" dirty="0"/>
          </a:p>
          <a:p>
            <a:pPr marL="0" indent="0">
              <a:buNone/>
            </a:pPr>
            <a:r>
              <a:rPr lang="en-US" sz="730" b="1" dirty="0">
                <a:solidFill>
                  <a:srgbClr val="1A6B2A"/>
                </a:solidFill>
                <a:latin typeface="Consolas" pitchFamily="49" charset="0"/>
              </a:rPr>
              <a:t>▶ paired=TRUE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동일 개체 전·후 비교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개인차 제거 → 검정력 향상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diff &gt; 0 → 다이어트 후 체중 감소</a:t>
            </a:r>
          </a:p>
        </p:txBody>
      </p:sp>
      <p:sp>
        <p:nvSpPr>
          <p:cNvPr id="71" name="Col71"/>
          <p:cNvSpPr/>
          <p:nvPr/>
        </p:nvSpPr>
        <p:spPr>
          <a:xfrm>
            <a:off x="4720000" y="977250"/>
            <a:ext cx="4186000" cy="3652680"/>
          </a:xfrm>
          <a:prstGeom prst="rect">
            <a:avLst/>
          </a:prstGeom>
          <a:noFill/>
          <a:ln/>
        </p:spPr>
        <p:txBody>
          <a:bodyPr wrap="square" lIns="60960" tIns="30480" rIns="60960" bIns="30480" rtlCol="0" anchor="t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</a:rPr>
              <a:t>Python — 대응표본 T-검정</a:t>
            </a:r>
          </a:p>
          <a:p>
            <a:pPr marL="0" indent="0">
              <a:buNone/>
            </a:pPr>
            <a:endParaRPr lang="ko-KR" sz="500" dirty="0"/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import pandas as pd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from scipy import stats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import matplotlib.pyplot as plt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import matplotlib as mpl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mpl.rcParams['font.family']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='Malgun Gothic'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data=pd.read_csv('diet.csv',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encoding='cp949')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차이값 계산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diff=data['다이어어트전']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  -data['다이어트후']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박스플롯 (R: boxplot 대응)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plt.boxplot(diff,patch_artist=True,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boxprops=dict(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  facecolor='lightblue'))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plt.show()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대응표본 t-검정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t,p=stats.ttest_rel(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data['다이어어트전'],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data['다이어트후'],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alternative='two-sided')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print(f't={t:.4f}, p={p:.5f}')</a:t>
            </a:r>
          </a:p>
          <a:p>
            <a:pPr marL="0" indent="0">
              <a:buNone/>
            </a:pPr>
            <a:endParaRPr lang="ko-KR" sz="600" dirty="0"/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▶ t.test(paired=TRUE)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  → stats.ttest_rel()</a:t>
            </a:r>
          </a:p>
        </p:txBody>
      </p:sp>
      <p:pic>
        <p:nvPicPr>
          <p:cNvPr id="80" name="Img8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44493" y="3605313"/>
            <a:ext cx="2158200" cy="1024617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</p:pic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09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7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093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82167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05. 코딩 실습 (4/4) — ANOVA / F-검정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R &amp; PYTHON — ONE-WAY ANOVA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5524804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60" name="Badge428854"/>
          <p:cNvSpPr/>
          <p:nvPr/>
        </p:nvSpPr>
        <p:spPr>
          <a:xfrm>
            <a:off x="428854" y="857250"/>
            <a:ext cx="580000" cy="110000"/>
          </a:xfrm>
          <a:prstGeom prst="roundRect">
            <a:avLst>
              <a:gd name="adj" fmla="val 20000"/>
            </a:avLst>
          </a:prstGeom>
          <a:solidFill>
            <a:srgbClr val="990000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</a:t>
            </a:r>
          </a:p>
        </p:txBody>
      </p:sp>
      <p:sp>
        <p:nvSpPr>
          <p:cNvPr id="3" name="Badge4720000"/>
          <p:cNvSpPr/>
          <p:nvPr/>
        </p:nvSpPr>
        <p:spPr>
          <a:xfrm>
            <a:off x="4720000" y="857250"/>
            <a:ext cx="580000" cy="11000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Python</a:t>
            </a:r>
          </a:p>
        </p:txBody>
      </p:sp>
      <p:sp>
        <p:nvSpPr>
          <p:cNvPr id="61" name="Div"/>
          <p:cNvSpPr/>
          <p:nvPr/>
        </p:nvSpPr>
        <p:spPr>
          <a:xfrm>
            <a:off x="4630000" y="857250"/>
            <a:ext cx="10000" cy="3772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0" name="Col70"/>
          <p:cNvSpPr/>
          <p:nvPr/>
        </p:nvSpPr>
        <p:spPr>
          <a:xfrm>
            <a:off x="428854" y="977250"/>
            <a:ext cx="4186000" cy="3652680"/>
          </a:xfrm>
          <a:prstGeom prst="rect">
            <a:avLst/>
          </a:prstGeom>
          <a:noFill/>
          <a:ln/>
        </p:spPr>
        <p:txBody>
          <a:bodyPr wrap="square" lIns="60960" tIns="30480" rIns="60960" bIns="30480" rtlCol="0" anchor="t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R — ANOVA (F-검정)</a:t>
            </a:r>
          </a:p>
          <a:p>
            <a:pPr marL="0" indent="0">
              <a:buNone/>
            </a:pPr>
            <a:endParaRPr lang="ko-KR" sz="500" dirty="0"/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set.seed(42)</a:t>
            </a:r>
          </a:p>
          <a:p>
            <a:pPr marL="0" indent="0">
              <a:buNone/>
            </a:pPr>
            <a:r>
              <a:rPr lang="en-US" sz="730" dirty="0" err="1">
                <a:solidFill>
                  <a:srgbClr val="1B3A6B"/>
                </a:solidFill>
                <a:latin typeface="Consolas" pitchFamily="49" charset="0"/>
              </a:rPr>
              <a:t>gA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&lt;-c(78,82,75,88,72,85,79,91,76,83)</a:t>
            </a:r>
          </a:p>
          <a:p>
            <a:pPr marL="0" indent="0">
              <a:buNone/>
            </a:pPr>
            <a:r>
              <a:rPr lang="en-US" sz="730" dirty="0" err="1">
                <a:solidFill>
                  <a:srgbClr val="1B3A6B"/>
                </a:solidFill>
                <a:latin typeface="Consolas" pitchFamily="49" charset="0"/>
              </a:rPr>
              <a:t>gB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&lt;-c(65,70,68,73,62,71,67,74,66,69)</a:t>
            </a:r>
          </a:p>
          <a:p>
            <a:pPr marL="0" indent="0">
              <a:buNone/>
            </a:pPr>
            <a:r>
              <a:rPr lang="en-US" sz="730" dirty="0" err="1">
                <a:solidFill>
                  <a:srgbClr val="1B3A6B"/>
                </a:solidFill>
                <a:latin typeface="Consolas" pitchFamily="49" charset="0"/>
              </a:rPr>
              <a:t>gC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&lt;-c(88,92,85,95,87,91,89,94,86,90)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score &lt;-c(gA,gB,gC)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method&lt;-factor(rep(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c('A','B','C'),each=10))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① 정규성 (Shapiro-Wilk)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shapiro.test(gA);shapiro.test(gB)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shapiro.test(gC)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# </a:t>
            </a:r>
            <a:r>
              <a:rPr lang="en-US" sz="730" dirty="0" err="1">
                <a:solidFill>
                  <a:srgbClr val="1B3A6B"/>
                </a:solidFill>
                <a:latin typeface="Consolas" pitchFamily="49" charset="0"/>
              </a:rPr>
              <a:t>모두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p &gt; 0.05 → 정규성 만족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② 등분산 (Bartlett)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bartlett.test(score~method)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# p &gt; 0.05 → 등분산 만족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③ 일원 분산분석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result&lt;-</a:t>
            </a:r>
            <a:r>
              <a:rPr lang="en-US" sz="730" dirty="0" err="1">
                <a:solidFill>
                  <a:srgbClr val="1B3A6B"/>
                </a:solidFill>
                <a:latin typeface="Consolas" pitchFamily="49" charset="0"/>
              </a:rPr>
              <a:t>aov</a:t>
            </a: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(score~method)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summary(result)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# F(2,27)=121.4,p &lt; 2e-16 ***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④ Tukey HSD 사후검정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TukeyHSD(result)</a:t>
            </a:r>
          </a:p>
          <a:p>
            <a:pPr marL="0" indent="0">
              <a:buNone/>
            </a:pPr>
            <a:endParaRPr lang="ko-KR" sz="600" dirty="0"/>
          </a:p>
          <a:p>
            <a:pPr marL="0" indent="0">
              <a:buNone/>
            </a:pPr>
            <a:r>
              <a:rPr lang="en-US" sz="730" b="1" dirty="0">
                <a:solidFill>
                  <a:srgbClr val="1A6B2A"/>
                </a:solidFill>
                <a:latin typeface="Consolas" pitchFamily="49" charset="0"/>
              </a:rPr>
              <a:t>▶ C &gt; A &gt; B  (모든 쌍 유의)</a:t>
            </a:r>
          </a:p>
        </p:txBody>
      </p:sp>
      <p:sp>
        <p:nvSpPr>
          <p:cNvPr id="71" name="Col71"/>
          <p:cNvSpPr/>
          <p:nvPr/>
        </p:nvSpPr>
        <p:spPr>
          <a:xfrm>
            <a:off x="4720000" y="977250"/>
            <a:ext cx="4186000" cy="3652680"/>
          </a:xfrm>
          <a:prstGeom prst="rect">
            <a:avLst/>
          </a:prstGeom>
          <a:noFill/>
          <a:ln/>
        </p:spPr>
        <p:txBody>
          <a:bodyPr wrap="square" lIns="60960" tIns="30480" rIns="60960" bIns="30480" rtlCol="0" anchor="t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</a:rPr>
              <a:t>Python — ANOVA (F-검정)</a:t>
            </a:r>
          </a:p>
          <a:p>
            <a:pPr marL="0" indent="0">
              <a:buNone/>
            </a:pPr>
            <a:endParaRPr lang="ko-KR" sz="500" dirty="0"/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from scipy import stats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from statsmodels.stats.multicomp \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import pairwise_tukeyhsd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gA=[78,82,75,88,72,85,79,91,76,83]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gB=[65,70,68,73,62,71,67,74,66,69]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gC=[88,92,85,95,87,91,89,94,86,90]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① 정규성 (shapiro.test 대응)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for g,n in zip([gA,gB,gC],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             ['A','B','C']):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s,p=stats.shapiro(g)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print(f'{n}: p={p:.4f}')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② 등분산 (bartlett.test 대응)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s,p=stats.bartlett(gA,gB,gC)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print(f'Bartlett p={p:.4f}')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③ ANOVA (aov 대응)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F,p=stats.f_oneway(gA,gB,gC)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print(f'F={F:.2f}, p={p:.2e}')</a:t>
            </a:r>
          </a:p>
          <a:p>
            <a:pPr marL="0" indent="0">
              <a:buNone/>
            </a:pPr>
            <a:endParaRPr lang="en-US" sz="730" dirty="0">
              <a:solidFill>
                <a:srgbClr val="1B3A6B"/>
              </a:solidFill>
              <a:latin typeface="Consolas" pitchFamily="49" charset="0"/>
            </a:endParaRPr>
          </a:p>
          <a:p>
            <a:pPr marL="0" indent="0">
              <a:buNone/>
            </a:pPr>
            <a:r>
              <a:rPr lang="en-US" sz="730" b="1" dirty="0">
                <a:solidFill>
                  <a:srgbClr val="1B3A6B"/>
                </a:solidFill>
                <a:latin typeface="Consolas" pitchFamily="49" charset="0"/>
              </a:rPr>
              <a:t># ④ Tukey HSD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vals=gA+gB+gC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lbl=['A']*10+['B']*10+['C']*10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res=pairwise_tukeyhsd(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  vals,lbl,alpha=0.05)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B3A6B"/>
                </a:solidFill>
                <a:latin typeface="Consolas" pitchFamily="49" charset="0"/>
              </a:rPr>
              <a:t>print(res.summary())</a:t>
            </a:r>
          </a:p>
          <a:p>
            <a:pPr marL="0" indent="0">
              <a:buNone/>
            </a:pPr>
            <a:endParaRPr lang="ko-KR" sz="600" dirty="0"/>
          </a:p>
          <a:p>
            <a:pPr marL="0" indent="0">
              <a:buNone/>
            </a:pPr>
            <a:r>
              <a:rPr lang="en-US" sz="730" b="1" dirty="0">
                <a:solidFill>
                  <a:srgbClr val="1A6B2A"/>
                </a:solidFill>
                <a:latin typeface="Consolas" pitchFamily="49" charset="0"/>
              </a:rPr>
              <a:t>▶ aov()+TukeyHSD()</a:t>
            </a:r>
          </a:p>
          <a:p>
            <a:pPr marL="0" indent="0">
              <a:buNone/>
            </a:pPr>
            <a:r>
              <a:rPr lang="en-US" sz="730" dirty="0">
                <a:solidFill>
                  <a:srgbClr val="1A6B2A"/>
                </a:solidFill>
                <a:latin typeface="Consolas" pitchFamily="49" charset="0"/>
              </a:rPr>
              <a:t>  → f_oneway()+tukeyhsd()</a:t>
            </a:r>
          </a:p>
        </p:txBody>
      </p:sp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8 / 12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D96EA3-EEAA-AB04-DE5E-858D367F1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928" y="1291269"/>
            <a:ext cx="1572863" cy="12214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5DACF3-2720-821F-2237-458C112DC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4927" y="2603084"/>
            <a:ext cx="1572864" cy="5205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EB9357F-BA22-C66A-42CC-CE1EAFBAB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2863" y="3199401"/>
            <a:ext cx="1587137" cy="4870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0AAC178-DFB3-4F81-0C9F-2BE6B6FCA9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7790" y="3772963"/>
            <a:ext cx="1587138" cy="8538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9172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0405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06. 관련 논문 검토 — 3편 소개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RELATED PAPER REVIEW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6215405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Body"/>
          <p:cNvSpPr/>
          <p:nvPr/>
        </p:nvSpPr>
        <p:spPr>
          <a:xfrm>
            <a:off x="428854" y="857250"/>
            <a:ext cx="8287207" cy="3772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130"/>
              </a:spcBef>
              <a:buNone/>
            </a:pPr>
            <a:r>
              <a:rPr lang="ko-KR" altLang="en-US" sz="11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관련 논문 3편 개요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t-검정 및 F-검정(ANOVA)이 실제 연구에서 어떻게 적용되는지 확인하기 위해 3편을 검토함.</a:t>
            </a:r>
          </a:p>
          <a:p>
            <a:pPr marL="0" indent="0">
              <a:spcBef>
                <a:spcPts val="130"/>
              </a:spcBef>
              <a:buNone/>
            </a:pPr>
            <a:endParaRPr lang="ko-KR" sz="800" dirty="0"/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1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논문 ①  [의료·보건]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제목: </a:t>
            </a:r>
            <a:r>
              <a:rPr lang="ko-KR" alt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실험군 대조군 사전 사후 설계에 대한 이표본 t-검정과 공분산분석의 의료보건 데이터 사례연구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출처: DBpia (NODE12067369)  |  핵심 방법: 독립표본 t-검정, 대응표본 t-검정, ANCOVA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내용: 의료·보건 연구에서 실험군/대조군 설계 시 t-검정과 ANCOVA 중 어느 방법이 더 적합한지 비교 검토</a:t>
            </a:r>
          </a:p>
          <a:p>
            <a:pPr marL="0" indent="0">
              <a:spcBef>
                <a:spcPts val="130"/>
              </a:spcBef>
              <a:buNone/>
            </a:pPr>
            <a:endParaRPr lang="ko-KR" sz="800" dirty="0"/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1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논문 ②  [게임·소비자 분석]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제목: </a:t>
            </a:r>
            <a:r>
              <a:rPr lang="ko-KR" alt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T검정을 이용한 온라인 게임이용등급과 평균 이벤트 기간과의 관계에 대한 연구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출처: DBpia (NODE07513818)  |  핵심 방법: 독립표본 t-검정 (이용등급 그룹 간 비교)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내용: 온라인 게임 이용등급에 따라 이벤트 평균 기간이 다른지 t-검정으로 분석하여 등급 정책 상관성 규명</a:t>
            </a:r>
          </a:p>
          <a:p>
            <a:pPr marL="0" indent="0">
              <a:spcBef>
                <a:spcPts val="130"/>
              </a:spcBef>
              <a:buNone/>
            </a:pPr>
            <a:endParaRPr lang="ko-KR" sz="800" dirty="0"/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1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논문 ③  [재료·방위산업]  ← 선정 논문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제목: </a:t>
            </a:r>
            <a:r>
              <a:rPr lang="ko-KR" alt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분산분석(ANOVA)을 이용한 금속 재료의 방탄 성능 평가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1000" dirty="0">
                <a:solidFill>
                  <a:srgbClr val="64738B"/>
                </a:solidFill>
                <a:latin typeface="Calibri" pitchFamily="34" charset="0"/>
                <a:ea typeface="Calibri" pitchFamily="34" charset="-122"/>
              </a:rPr>
              <a:t>출처: KCI (ART003175137)  |  핵심 방법: 일원분산분석(F-검정), Tukey HSD 사후검정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내용: 강도가 다른 여러 금속 재료의 방탄 성능을 ANOVA로 비교하여 최적 재료를 통계적으로 선정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10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선정 이유: F-검정(ANOVA)과 Tukey HSD 사후검정이 실제 공학 데이터에 직접 적용된 사례 — 이론·실습과 연결 가장 명확</a:t>
            </a:r>
          </a:p>
        </p:txBody>
      </p:sp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9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9172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0405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06. 선정 논문 분석 — ANOVA 활용 사례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SELECTED PAPER ANALYSIS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6906005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Body"/>
          <p:cNvSpPr/>
          <p:nvPr/>
        </p:nvSpPr>
        <p:spPr>
          <a:xfrm>
            <a:off x="428854" y="832536"/>
            <a:ext cx="8287207" cy="3772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spcBef>
                <a:spcPts val="130"/>
              </a:spcBef>
              <a:buNone/>
            </a:pPr>
            <a:r>
              <a:rPr lang="ko-KR" altLang="en-US" sz="10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선정 논문: 분산분석(ANOVA)을 이용한 금속 재료의 방탄 성능 평가 (KCI, ART003175137)</a:t>
            </a:r>
            <a:endParaRPr lang="en-US" altLang="ko-KR" sz="1050" b="1" dirty="0">
              <a:solidFill>
                <a:srgbClr val="990000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spcBef>
                <a:spcPts val="130"/>
              </a:spcBef>
              <a:buNone/>
            </a:pPr>
            <a:endParaRPr lang="ko-KR" sz="700" dirty="0"/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① 연구 배경 및 목적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방탄 소재 개발에서 </a:t>
            </a:r>
            <a:r>
              <a:rPr lang="ko-KR" altLang="en-US" sz="8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재료 종류에 따른 성능 차이를 정량적으로 검증</a:t>
            </a: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할 필요가 있음.</a:t>
            </a:r>
          </a:p>
          <a:p>
            <a:pPr marL="200000" indent="0">
              <a:spcBef>
                <a:spcPts val="130"/>
              </a:spcBef>
              <a:buChar char="▪"/>
            </a:pP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다수의 금속 재료군을 동시에 비교 → 반복적인 t-검정 대신 ANOVA를 채택하여 1종 오류(α 오류) 누적 방지</a:t>
            </a:r>
          </a:p>
          <a:p>
            <a:pPr marL="0" indent="0">
              <a:spcBef>
                <a:spcPts val="130"/>
              </a:spcBef>
              <a:buNone/>
            </a:pPr>
            <a:endParaRPr lang="ko-KR" sz="700" dirty="0"/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② 분석 방법</a:t>
            </a:r>
            <a:endParaRPr lang="en-US" altLang="ko-KR" sz="1000" b="1" dirty="0">
              <a:solidFill>
                <a:srgbClr val="990000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사전 가정 검증: 재료 그룹별 방탄 성능 측정값에 Shapiro-Wilk 정규성 + Levene 등분산 검정 수행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일원분산분석(F-검정)</a:t>
            </a: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: </a:t>
            </a:r>
            <a:r>
              <a:rPr lang="ko-KR" altLang="en-US" sz="8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F = MSB(집단 간 분산) / MSW(집단 내 분산)</a:t>
            </a: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 → 재료 간 성능 차이의 유의성 검정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사후검정: ANOVA 유의 결과 후 Tukey HSD로 어느 재료 쌍이 유의하게 다른지 특정</a:t>
            </a:r>
          </a:p>
          <a:p>
            <a:pPr marL="0" indent="0">
              <a:spcBef>
                <a:spcPts val="130"/>
              </a:spcBef>
              <a:buNone/>
            </a:pPr>
            <a:endParaRPr lang="ko-KR" sz="700" dirty="0"/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③ 주요 결과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F-통계량 유의(p &lt; 0.05) </a:t>
            </a: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→ 금속 재료 종류에 따라 방탄 성능에 통계적으로 유의한 차이 존재 확인</a:t>
            </a:r>
          </a:p>
          <a:p>
            <a:pPr marL="0" indent="0">
              <a:spcBef>
                <a:spcPts val="130"/>
              </a:spcBef>
              <a:buNone/>
            </a:pP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Tukey HSD 결과: 특정 고강도 재료가 다른 재료 대비 유의하게 높은 방탄 성능 → 최적 재료 선정의 통계적 근거 제시</a:t>
            </a:r>
            <a:endParaRPr lang="ko-KR" sz="600" dirty="0"/>
          </a:p>
          <a:p>
            <a:pPr marL="171450" indent="-171450">
              <a:spcBef>
                <a:spcPts val="130"/>
              </a:spcBef>
              <a:buFont typeface="Symbol" pitchFamily="2" charset="2"/>
              <a:buChar char="Þ"/>
            </a:pPr>
            <a:r>
              <a:rPr lang="ko-KR" alt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"분산으로 평균을 비교한다"는 ANOVA의 직관적 원리가 실제 공학 의사결정에 실질적 가치를 지님을 증명</a:t>
            </a:r>
            <a:endParaRPr lang="en-US" altLang="ko-KR" sz="800" dirty="0">
              <a:solidFill>
                <a:srgbClr val="1E293B"/>
              </a:solidFill>
              <a:latin typeface="Calibri" pitchFamily="34" charset="0"/>
              <a:ea typeface="Calibri" pitchFamily="34" charset="-122"/>
            </a:endParaRPr>
          </a:p>
          <a:p>
            <a:pPr>
              <a:spcBef>
                <a:spcPts val="130"/>
              </a:spcBef>
            </a:pPr>
            <a:endParaRPr lang="en-US" altLang="ko-KR" sz="900" dirty="0">
              <a:solidFill>
                <a:srgbClr val="1E293B"/>
              </a:solidFill>
              <a:latin typeface="Calibri" pitchFamily="34" charset="0"/>
              <a:ea typeface="Calibri" pitchFamily="34" charset="-122"/>
            </a:endParaRPr>
          </a:p>
          <a:p>
            <a:r>
              <a:rPr lang="en" altLang="ko-KR" sz="900" b="1" dirty="0"/>
              <a:t>MSB (Mean Square Between)</a:t>
            </a:r>
            <a:endParaRPr lang="en" altLang="ko-KR" sz="900" dirty="0"/>
          </a:p>
          <a:p>
            <a:r>
              <a:rPr lang="ko-KR" altLang="en-US" sz="800" dirty="0"/>
              <a:t>집단 간 분산 </a:t>
            </a:r>
            <a:r>
              <a:rPr lang="en-US" altLang="ko-KR" sz="800" dirty="0"/>
              <a:t>: </a:t>
            </a:r>
            <a:r>
              <a:rPr lang="ko-KR" altLang="en-US" sz="800" dirty="0"/>
              <a:t>각 집단의 평균이 전체 평균으로부터 얼마나 떨어져 있는지를 측정한 값이다</a:t>
            </a:r>
            <a:r>
              <a:rPr lang="en-US" altLang="ko-KR" sz="800" dirty="0"/>
              <a:t>. </a:t>
            </a:r>
            <a:r>
              <a:rPr lang="ko-KR" altLang="en-US" sz="800" dirty="0"/>
              <a:t>집단 간 차이가 클수록 </a:t>
            </a:r>
            <a:r>
              <a:rPr lang="en" altLang="ko-KR" sz="800" dirty="0"/>
              <a:t>MSB</a:t>
            </a:r>
            <a:r>
              <a:rPr lang="ko-KR" altLang="en-US" sz="800" dirty="0"/>
              <a:t>가 크다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" altLang="ko-KR" sz="900" b="1" dirty="0"/>
              <a:t>MSW (Mean Square Within)</a:t>
            </a:r>
            <a:endParaRPr lang="en" altLang="ko-KR" sz="900" dirty="0"/>
          </a:p>
          <a:p>
            <a:r>
              <a:rPr lang="ko-KR" altLang="en-US" sz="800" dirty="0"/>
              <a:t>집단 내 분산 </a:t>
            </a:r>
            <a:r>
              <a:rPr lang="en-US" altLang="ko-KR" sz="800" dirty="0"/>
              <a:t>: </a:t>
            </a:r>
            <a:r>
              <a:rPr lang="ko-KR" altLang="en-US" sz="800" dirty="0"/>
              <a:t>같은 집단 안에서 개개인이 편차가 얼마나 큰지 측정한 값이다</a:t>
            </a:r>
            <a:r>
              <a:rPr lang="en-US" altLang="ko-KR" sz="800" dirty="0"/>
              <a:t>. </a:t>
            </a:r>
            <a:r>
              <a:rPr lang="ko-KR" altLang="en-US" sz="800" dirty="0"/>
              <a:t>노이즈</a:t>
            </a:r>
            <a:r>
              <a:rPr lang="en-US" altLang="ko-KR" sz="800" dirty="0"/>
              <a:t>(</a:t>
            </a:r>
            <a:r>
              <a:rPr lang="ko-KR" altLang="en-US" sz="800" dirty="0"/>
              <a:t>오차</a:t>
            </a:r>
            <a:r>
              <a:rPr lang="en-US" altLang="ko-KR" sz="800" dirty="0"/>
              <a:t>)</a:t>
            </a:r>
            <a:r>
              <a:rPr lang="ko-KR" altLang="en-US" sz="800" dirty="0" err="1"/>
              <a:t>에</a:t>
            </a:r>
            <a:r>
              <a:rPr lang="ko-KR" altLang="en-US" sz="800" dirty="0"/>
              <a:t> 해당한다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endParaRPr lang="en-US" altLang="ko-KR" sz="800" dirty="0"/>
          </a:p>
          <a:p>
            <a:r>
              <a:rPr lang="en" altLang="ko-KR" sz="900" b="1" dirty="0"/>
              <a:t>F = MSB / MSW</a:t>
            </a:r>
            <a:endParaRPr lang="en" altLang="ko-KR" sz="900" dirty="0"/>
          </a:p>
          <a:p>
            <a:r>
              <a:rPr lang="ko-KR" altLang="en-US" sz="800" dirty="0"/>
              <a:t>이 둘의 비율이 </a:t>
            </a:r>
            <a:r>
              <a:rPr lang="en" altLang="ko-KR" sz="800" dirty="0"/>
              <a:t>F</a:t>
            </a:r>
            <a:r>
              <a:rPr lang="ko-KR" altLang="en-US" sz="800" dirty="0"/>
              <a:t>값인데</a:t>
            </a:r>
            <a:r>
              <a:rPr lang="en-US" altLang="ko-KR" sz="800" dirty="0"/>
              <a:t>, </a:t>
            </a:r>
            <a:r>
              <a:rPr lang="en" altLang="ko-KR" sz="800" dirty="0"/>
              <a:t>F</a:t>
            </a:r>
            <a:r>
              <a:rPr lang="ko-KR" altLang="en-US" sz="800" dirty="0"/>
              <a:t>가 크다는 건 </a:t>
            </a:r>
            <a:r>
              <a:rPr lang="en-US" altLang="ko-KR" sz="800" dirty="0"/>
              <a:t>"</a:t>
            </a:r>
            <a:r>
              <a:rPr lang="ko-KR" altLang="en-US" sz="800" dirty="0"/>
              <a:t>집단 간 차이</a:t>
            </a:r>
            <a:r>
              <a:rPr lang="en-US" altLang="ko-KR" sz="800" dirty="0"/>
              <a:t>(</a:t>
            </a:r>
            <a:r>
              <a:rPr lang="ko-KR" altLang="en-US" sz="800" dirty="0"/>
              <a:t>시그널</a:t>
            </a:r>
            <a:r>
              <a:rPr lang="en-US" altLang="ko-KR" sz="800" dirty="0"/>
              <a:t>)</a:t>
            </a:r>
            <a:r>
              <a:rPr lang="ko-KR" altLang="en-US" sz="800" dirty="0"/>
              <a:t>가 집단 내 오차</a:t>
            </a:r>
            <a:r>
              <a:rPr lang="en-US" altLang="ko-KR" sz="800" dirty="0"/>
              <a:t>(</a:t>
            </a:r>
            <a:r>
              <a:rPr lang="ko-KR" altLang="en-US" sz="800" dirty="0"/>
              <a:t>노이즈</a:t>
            </a:r>
            <a:r>
              <a:rPr lang="en-US" altLang="ko-KR" sz="800" dirty="0"/>
              <a:t>)</a:t>
            </a:r>
            <a:r>
              <a:rPr lang="ko-KR" altLang="en-US" sz="800" dirty="0"/>
              <a:t>보다 훨씬 크다</a:t>
            </a:r>
            <a:r>
              <a:rPr lang="en-US" altLang="ko-KR" sz="800" dirty="0"/>
              <a:t>"</a:t>
            </a:r>
            <a:r>
              <a:rPr lang="ko-KR" altLang="en-US" sz="800" dirty="0"/>
              <a:t>는 뜻으로  집단 간 평균 차이가 유의하다고 판단한다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" altLang="ko-KR" sz="900" b="1" dirty="0"/>
              <a:t>Tukey HSD</a:t>
            </a:r>
            <a:endParaRPr lang="en" altLang="ko-KR" sz="900" dirty="0"/>
          </a:p>
          <a:p>
            <a:r>
              <a:rPr lang="en" altLang="ko-KR" sz="800" dirty="0"/>
              <a:t>ANOVA</a:t>
            </a:r>
            <a:r>
              <a:rPr lang="ko-KR" altLang="en-US" sz="800" dirty="0"/>
              <a:t>는 </a:t>
            </a:r>
            <a:r>
              <a:rPr lang="en-US" altLang="ko-KR" sz="800" dirty="0"/>
              <a:t>"</a:t>
            </a:r>
            <a:r>
              <a:rPr lang="ko-KR" altLang="en-US" sz="800" dirty="0"/>
              <a:t>적어도 하나의 집단이 다르다</a:t>
            </a:r>
            <a:r>
              <a:rPr lang="en-US" altLang="ko-KR" sz="800" dirty="0"/>
              <a:t>"</a:t>
            </a:r>
            <a:r>
              <a:rPr lang="ko-KR" altLang="en-US" sz="800" dirty="0"/>
              <a:t>까지 알 수 있고</a:t>
            </a:r>
            <a:r>
              <a:rPr lang="en-US" altLang="ko-KR" sz="800" dirty="0"/>
              <a:t>,</a:t>
            </a:r>
            <a:r>
              <a:rPr lang="ko-KR" altLang="en-US" sz="800" dirty="0"/>
              <a:t> 어느 집단끼리 </a:t>
            </a:r>
            <a:r>
              <a:rPr lang="ko-KR" altLang="en-US" sz="800" dirty="0" err="1"/>
              <a:t>다른지는</a:t>
            </a:r>
            <a:r>
              <a:rPr lang="ko-KR" altLang="en-US" sz="800" dirty="0"/>
              <a:t> 모른다</a:t>
            </a:r>
            <a:r>
              <a:rPr lang="en-US" altLang="ko-KR" sz="800" dirty="0"/>
              <a:t>.</a:t>
            </a:r>
          </a:p>
          <a:p>
            <a:r>
              <a:rPr lang="en" altLang="ko-KR" sz="800" dirty="0"/>
              <a:t>Tukey HSD</a:t>
            </a:r>
            <a:r>
              <a:rPr lang="ko-KR" altLang="en-US" sz="800" dirty="0"/>
              <a:t>는 그걸 찾아주는 사후검정으로 모든 집단 쌍</a:t>
            </a:r>
            <a:r>
              <a:rPr lang="en-US" altLang="ko-KR" sz="800" dirty="0"/>
              <a:t>(</a:t>
            </a:r>
            <a:r>
              <a:rPr lang="en" altLang="ko-KR" sz="800" dirty="0"/>
              <a:t>A-B, B-C, A-C)</a:t>
            </a:r>
            <a:r>
              <a:rPr lang="ko-KR" altLang="en-US" sz="800" dirty="0"/>
              <a:t>을 하나씩 비교해서 어느 쌍이 유의하게 </a:t>
            </a:r>
            <a:r>
              <a:rPr lang="ko-KR" altLang="en-US" sz="800" dirty="0" err="1"/>
              <a:t>다른지</a:t>
            </a:r>
            <a:r>
              <a:rPr lang="ko-KR" altLang="en-US" sz="800" dirty="0"/>
              <a:t> 특정해준다</a:t>
            </a:r>
            <a:r>
              <a:rPr lang="en-US" altLang="ko-KR" sz="800" dirty="0"/>
              <a:t>.</a:t>
            </a:r>
          </a:p>
          <a:p>
            <a:pPr>
              <a:spcBef>
                <a:spcPts val="130"/>
              </a:spcBef>
            </a:pPr>
            <a:endParaRPr lang="ko-KR" altLang="en-US" sz="900" dirty="0">
              <a:solidFill>
                <a:srgbClr val="1E293B"/>
              </a:solidFill>
              <a:latin typeface="Calibri" pitchFamily="34" charset="0"/>
              <a:ea typeface="Calibri" pitchFamily="34" charset="-122"/>
            </a:endParaRPr>
          </a:p>
        </p:txBody>
      </p:sp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10 / 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DD46A-4CF0-9DAB-0F84-BB069062A943}"/>
              </a:ext>
            </a:extLst>
          </p:cNvPr>
          <p:cNvSpPr txBox="1"/>
          <p:nvPr/>
        </p:nvSpPr>
        <p:spPr>
          <a:xfrm>
            <a:off x="6683504" y="904561"/>
            <a:ext cx="2031642" cy="584775"/>
          </a:xfrm>
          <a:prstGeom prst="rect">
            <a:avLst/>
          </a:prstGeom>
          <a:solidFill>
            <a:schemeClr val="accent1">
              <a:lumMod val="60000"/>
              <a:lumOff val="40000"/>
              <a:alpha val="31143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ko-KR" altLang="en-US" sz="900" b="1" dirty="0"/>
              <a:t>*</a:t>
            </a:r>
            <a:r>
              <a:rPr kumimoji="1" lang="en-US" altLang="ko-KR" sz="900" b="1" dirty="0"/>
              <a:t>Shapiro-Wilk</a:t>
            </a:r>
          </a:p>
          <a:p>
            <a:r>
              <a:rPr kumimoji="1" lang="ko-KR" altLang="en-US" sz="700" dirty="0"/>
              <a:t> </a:t>
            </a:r>
            <a:r>
              <a:rPr kumimoji="1" lang="en-US" altLang="ko-KR" sz="700" dirty="0"/>
              <a:t>-</a:t>
            </a:r>
            <a:r>
              <a:rPr kumimoji="1" lang="ko-KR" altLang="en-US" sz="700" dirty="0"/>
              <a:t> 데이터가 정규분포를 </a:t>
            </a:r>
            <a:r>
              <a:rPr kumimoji="1" lang="ko-KR" altLang="en-US" sz="700" dirty="0" err="1"/>
              <a:t>따르는지</a:t>
            </a:r>
            <a:r>
              <a:rPr kumimoji="1" lang="ko-KR" altLang="en-US" sz="700" dirty="0"/>
              <a:t> 검정하는 방법</a:t>
            </a:r>
            <a:endParaRPr kumimoji="1" lang="en-US" altLang="ko-KR" sz="700" dirty="0"/>
          </a:p>
          <a:p>
            <a:r>
              <a:rPr kumimoji="1" lang="ko-KR" altLang="en-US" sz="900" b="1" dirty="0"/>
              <a:t>*</a:t>
            </a:r>
            <a:r>
              <a:rPr kumimoji="1" lang="en-US" altLang="ko-KR" sz="900" b="1" dirty="0"/>
              <a:t>Levene</a:t>
            </a:r>
          </a:p>
          <a:p>
            <a:r>
              <a:rPr kumimoji="1" lang="ko-KR" altLang="en-US" sz="700" dirty="0"/>
              <a:t> </a:t>
            </a:r>
            <a:r>
              <a:rPr kumimoji="1" lang="en-US" altLang="ko-KR" sz="700" dirty="0"/>
              <a:t>-</a:t>
            </a:r>
            <a:r>
              <a:rPr kumimoji="1" lang="ko-KR" altLang="en-US" sz="700" dirty="0"/>
              <a:t> 각 집단의 분산이 </a:t>
            </a:r>
            <a:r>
              <a:rPr kumimoji="1" lang="ko-KR" altLang="en-US" sz="700" dirty="0" err="1"/>
              <a:t>같은지</a:t>
            </a:r>
            <a:r>
              <a:rPr kumimoji="1" lang="ko-KR" altLang="en-US" sz="700" dirty="0"/>
              <a:t> 검정하는 방법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C"/>
          <p:cNvSpPr/>
          <p:nvPr/>
        </p:nvSpPr>
        <p:spPr>
          <a:xfrm>
            <a:off x="428854" y="179172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202" y="190405"/>
            <a:ext cx="371246" cy="371246"/>
          </a:xfrm>
          <a:prstGeom prst="rect">
            <a:avLst/>
          </a:prstGeom>
          <a:noFill/>
        </p:spPr>
      </p:pic>
      <p:sp>
        <p:nvSpPr>
          <p:cNvPr id="4" name="TT"/>
          <p:cNvSpPr/>
          <p:nvPr/>
        </p:nvSpPr>
        <p:spPr>
          <a:xfrm>
            <a:off x="893369" y="235915"/>
            <a:ext cx="740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07. 결론 및 참고문헌</a:t>
            </a:r>
          </a:p>
        </p:txBody>
      </p:sp>
      <p:sp>
        <p:nvSpPr>
          <p:cNvPr id="5" name="ST"/>
          <p:cNvSpPr/>
          <p:nvPr/>
        </p:nvSpPr>
        <p:spPr>
          <a:xfrm>
            <a:off x="893369" y="442570"/>
            <a:ext cx="7400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CONCLUSION &amp; REFERENCES</a:t>
            </a:r>
          </a:p>
        </p:txBody>
      </p:sp>
      <p:sp>
        <p:nvSpPr>
          <p:cNvPr id="990" name="PBg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91" name="PFill"/>
          <p:cNvSpPr/>
          <p:nvPr/>
        </p:nvSpPr>
        <p:spPr>
          <a:xfrm>
            <a:off x="428854" y="807415"/>
            <a:ext cx="7596606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Body"/>
          <p:cNvSpPr/>
          <p:nvPr/>
        </p:nvSpPr>
        <p:spPr>
          <a:xfrm>
            <a:off x="428854" y="857250"/>
            <a:ext cx="8287207" cy="3772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학습 내용 종합</a:t>
            </a:r>
          </a:p>
          <a:p>
            <a:pPr marL="0" indent="0">
              <a:buNone/>
            </a:pPr>
            <a:r>
              <a:rPr lang="ko-KR" altLang="en-US" sz="9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확률분포 가계도(Bernoulli→Binom→Z/t→Chi²→F)를 통해 t-검정과 ANOVA가 동일한 수학적 뿌리에서 파생됨을 이해함.</a:t>
            </a:r>
          </a:p>
          <a:p>
            <a:pPr marL="200000" indent="0">
              <a:buChar char="▪"/>
            </a:pPr>
            <a:r>
              <a:rPr lang="ko-KR" alt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t² = F : 두 집단 비교에서 t-검정과 F-검정은 수학적으로 동치 관계임이 확인됨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ko-KR" altLang="en-US" sz="10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세 가지 검정 요약</a:t>
            </a:r>
          </a:p>
          <a:p>
            <a:pPr marL="0" indent="0">
              <a:buNone/>
            </a:pPr>
            <a:r>
              <a:rPr lang="ko-KR" alt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독립표본 t-검정: 두 독립 집단 평균 비교. 사전 등분산 검정 필수. R: t.test(var.equal=T/F)</a:t>
            </a:r>
          </a:p>
          <a:p>
            <a:pPr marL="0" indent="0">
              <a:buNone/>
            </a:pPr>
            <a:r>
              <a:rPr lang="ko-KR" alt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대응표본 t-검정: 동일 개체 전·후 비교. 개인차 제거로 검정력 향상. R: t.test(paired=TRUE)</a:t>
            </a:r>
          </a:p>
          <a:p>
            <a:pPr marL="0" indent="0">
              <a:buNone/>
            </a:pPr>
            <a:r>
              <a:rPr lang="ko-KR" alt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일원분산분석(ANOVA): 3집단 이상 동시 비교. F=MSB/MSW. 유의 시 Tukey HSD 사후검정. R: aov()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ko-KR" altLang="en-US" sz="10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R vs Python 대응 정리</a:t>
            </a:r>
          </a:p>
          <a:p>
            <a:pPr marL="0" indent="0">
              <a:buNone/>
            </a:pPr>
            <a:r>
              <a:rPr lang="ko-KR" alt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var.test() → scipy.stats.levene()  |  t.test() → ttest_ind() / ttest_rel()</a:t>
            </a:r>
          </a:p>
          <a:p>
            <a:pPr marL="0" indent="0">
              <a:buNone/>
            </a:pPr>
            <a:r>
              <a:rPr lang="ko-KR" alt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</a:rPr>
              <a:t>aov() + TukeyHSD() → f_oneway() + statsmodels.pairwise_tukeyhsd()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ko-KR" altLang="en-US" sz="10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</a:rPr>
              <a:t>참고문헌</a:t>
            </a:r>
          </a:p>
          <a:p>
            <a:pPr marL="0" indent="0">
              <a:buNone/>
            </a:pPr>
            <a:r>
              <a:rPr lang="ko-KR" alt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[1] DBpia NODE12067369 — 이표본 t-검정과 공분산분석의 의료보건 데이터 사례연구</a:t>
            </a:r>
          </a:p>
          <a:p>
            <a:pPr marL="0" indent="0">
              <a:buNone/>
            </a:pPr>
            <a:r>
              <a:rPr lang="ko-KR" alt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[2] DBpia NODE07513818 — T검정을 이용한 온라인 게임이용등급과 이벤트 기간의 관계 연구</a:t>
            </a:r>
          </a:p>
          <a:p>
            <a:pPr marL="0" indent="0">
              <a:buNone/>
            </a:pPr>
            <a:r>
              <a:rPr lang="ko-KR" alt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[3] KCI ART003175137  — 분산분석(ANOVA)을 이용한 금속 재료의 방탄 성능 평가</a:t>
            </a:r>
          </a:p>
          <a:p>
            <a:pPr marL="0" indent="0">
              <a:buNone/>
            </a:pPr>
            <a:r>
              <a:rPr lang="ko-KR" alt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</a:rPr>
              <a:t>R Core Team (2024). R: A Language and Environment for Statistical Computing.</a:t>
            </a:r>
          </a:p>
          <a:p>
            <a:pPr marL="0" indent="0">
              <a:buNone/>
            </a:pPr>
            <a:r>
              <a:rPr lang="ko-KR" alt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</a:rPr>
              <a:t>SciPy / Statsmodels 공식 문서. https://docs.scipy.org / https://www.statsmodels.org</a:t>
            </a:r>
          </a:p>
        </p:txBody>
      </p:sp>
      <p:sp>
        <p:nvSpPr>
          <p:cNvPr id="29" name="FL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" name="SN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31" name="SC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서강대학교 AI.SW 대학원</a:t>
            </a:r>
          </a:p>
        </p:txBody>
      </p:sp>
      <p:sp>
        <p:nvSpPr>
          <p:cNvPr id="32" name="PN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</a:rPr>
              <a:t>11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834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2428646" y="1000354"/>
            <a:ext cx="4286707" cy="26016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032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2428646" y="1000354"/>
            <a:ext cx="42867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214470" y="1321308"/>
            <a:ext cx="714146" cy="7141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2428646" y="2271370"/>
            <a:ext cx="4286707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9" name="Shape 5"/>
          <p:cNvSpPr/>
          <p:nvPr/>
        </p:nvSpPr>
        <p:spPr>
          <a:xfrm>
            <a:off x="4286707" y="2872130"/>
            <a:ext cx="571500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0" y="4286707"/>
            <a:ext cx="91440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0" y="4472330"/>
            <a:ext cx="914400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및 시스템공학과</a:t>
            </a:r>
            <a:endParaRPr lang="en-US" sz="1050" dirty="0"/>
          </a:p>
        </p:txBody>
      </p:sp>
      <p:pic>
        <p:nvPicPr>
          <p:cNvPr id="13" name="Picture 4" descr="서강대학교 - 더시드위키">
            <a:extLst>
              <a:ext uri="{FF2B5EF4-FFF2-40B4-BE49-F238E27FC236}">
                <a16:creationId xmlns:a16="http://schemas.microsoft.com/office/drawing/2014/main" id="{12787B0B-3A45-0A3B-428B-28D492A2C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469" y="1321307"/>
            <a:ext cx="714146" cy="71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42D0A9-6A8E-7F4C-A1D5-1E9A4256C95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2617596-6782-46d1-82de-b8b43ab6439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3755</Words>
  <Application>Microsoft Macintosh PowerPoint</Application>
  <PresentationFormat>화면 슬라이드 쇼(16:9)</PresentationFormat>
  <Paragraphs>499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서강대학교 AI.SW 대학원 학술 보고서</dc:title>
  <dc:subject>PptxGenJS Presentation</dc:subject>
  <dc:creator>PptxGenJS</dc:creator>
  <cp:lastModifiedBy>이인범</cp:lastModifiedBy>
  <cp:revision>8</cp:revision>
  <dcterms:created xsi:type="dcterms:W3CDTF">2026-03-26T15:08:37Z</dcterms:created>
  <dcterms:modified xsi:type="dcterms:W3CDTF">2026-04-18T08:01:46Z</dcterms:modified>
</cp:coreProperties>
</file>