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91" r:id="rId3"/>
    <p:sldId id="321" r:id="rId4"/>
    <p:sldId id="318" r:id="rId5"/>
    <p:sldId id="329" r:id="rId6"/>
    <p:sldId id="326" r:id="rId7"/>
    <p:sldId id="316" r:id="rId8"/>
    <p:sldId id="314" r:id="rId9"/>
    <p:sldId id="324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84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28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464869" y="514807"/>
            <a:ext cx="35716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SOGANG UNIVERSITY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64869" y="685800"/>
            <a:ext cx="3571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GRADUATE SCHOOL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14146" y="1800454"/>
            <a:ext cx="35662" cy="110733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71423" y="1785823"/>
            <a:ext cx="7144207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1423" y="1957730"/>
            <a:ext cx="7500823" cy="50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상관분석 구현 방법 및 활용 사례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1423" y="2572207"/>
            <a:ext cx="6429146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통계기반 데이터 분석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4146" y="3300070"/>
            <a:ext cx="7715707" cy="1057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857854" y="3414370"/>
            <a:ext cx="7315" cy="84307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64692" y="3429000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3177" y="3429000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4692" y="3700577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3177" y="3700577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및 시스템공학과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4692" y="3972154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43177" y="3972154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이인범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36162" y="3507638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교수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3507638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정화민</a:t>
            </a:r>
            <a:r>
              <a:rPr lang="ko-KR" alt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교수님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36162" y="3807562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일자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3807562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2026.04.12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4146" y="4643323"/>
            <a:ext cx="7715707" cy="731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28" name="Picture 4" descr="서강대학교 - 더시드위키">
            <a:extLst>
              <a:ext uri="{FF2B5EF4-FFF2-40B4-BE49-F238E27FC236}">
                <a16:creationId xmlns:a16="http://schemas.microsoft.com/office/drawing/2014/main" id="{852CE6D6-1ACF-280A-C43C-998F29FF4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" y="373279"/>
            <a:ext cx="604725" cy="60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00254"/>
            <a:ext cx="371246" cy="3712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78738" y="200254"/>
            <a:ext cx="2143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목차</a:t>
            </a:r>
          </a:p>
        </p:txBody>
      </p:sp>
      <p:sp>
        <p:nvSpPr>
          <p:cNvPr id="5" name="Text 2"/>
          <p:cNvSpPr/>
          <p:nvPr/>
        </p:nvSpPr>
        <p:spPr>
          <a:xfrm>
            <a:off x="878738" y="406908"/>
            <a:ext cx="28575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TABLE OF CONTENTS  |  Ch. 5 상관분석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714146"/>
            <a:ext cx="8287207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010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0010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14807" y="85770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01</a:t>
            </a:r>
          </a:p>
        </p:txBody>
      </p:sp>
      <p:sp>
        <p:nvSpPr>
          <p:cNvPr id="10" name="Shape 7"/>
          <p:cNvSpPr/>
          <p:nvPr/>
        </p:nvSpPr>
        <p:spPr>
          <a:xfrm>
            <a:off x="914400" y="91440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00354" y="92903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상관분석이란?</a:t>
            </a:r>
          </a:p>
        </p:txBody>
      </p:sp>
      <p:sp>
        <p:nvSpPr>
          <p:cNvPr id="12" name="Text 9"/>
          <p:cNvSpPr/>
          <p:nvPr/>
        </p:nvSpPr>
        <p:spPr>
          <a:xfrm>
            <a:off x="1000354" y="111465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50" dirty="0">
                <a:solidFill>
                  <a:srgbClr val="334155"/>
                </a:solidFill>
              </a:rPr>
              <a:t>개념, 정의, 상관계수 범위</a:t>
            </a:r>
          </a:p>
        </p:txBody>
      </p:sp>
      <p:sp>
        <p:nvSpPr>
          <p:cNvPr id="13" name="Shape 10"/>
          <p:cNvSpPr/>
          <p:nvPr/>
        </p:nvSpPr>
        <p:spPr>
          <a:xfrm>
            <a:off x="4643323" y="80010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643323" y="80010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729277" y="85770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02</a:t>
            </a:r>
          </a:p>
        </p:txBody>
      </p:sp>
      <p:sp>
        <p:nvSpPr>
          <p:cNvPr id="16" name="Shape 13"/>
          <p:cNvSpPr/>
          <p:nvPr/>
        </p:nvSpPr>
        <p:spPr>
          <a:xfrm>
            <a:off x="5128870" y="91440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214823" y="92903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상관계수 종류와 해석</a:t>
            </a:r>
          </a:p>
        </p:txBody>
      </p:sp>
      <p:sp>
        <p:nvSpPr>
          <p:cNvPr id="18" name="Text 15"/>
          <p:cNvSpPr/>
          <p:nvPr/>
        </p:nvSpPr>
        <p:spPr>
          <a:xfrm>
            <a:off x="5214823" y="111465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50" dirty="0">
                <a:solidFill>
                  <a:srgbClr val="334155"/>
                </a:solidFill>
              </a:rPr>
              <a:t>Pearson, Spearman, 해석 기준</a:t>
            </a:r>
          </a:p>
        </p:txBody>
      </p:sp>
      <p:sp>
        <p:nvSpPr>
          <p:cNvPr id="19" name="Shape 16"/>
          <p:cNvSpPr/>
          <p:nvPr/>
        </p:nvSpPr>
        <p:spPr>
          <a:xfrm>
            <a:off x="428854" y="155722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28854" y="155722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14807" y="161483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03</a:t>
            </a:r>
          </a:p>
        </p:txBody>
      </p:sp>
      <p:sp>
        <p:nvSpPr>
          <p:cNvPr id="22" name="Shape 19"/>
          <p:cNvSpPr/>
          <p:nvPr/>
        </p:nvSpPr>
        <p:spPr>
          <a:xfrm>
            <a:off x="914400" y="167152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1000354" y="168615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상관분석의 가정 조건</a:t>
            </a:r>
          </a:p>
        </p:txBody>
      </p:sp>
      <p:sp>
        <p:nvSpPr>
          <p:cNvPr id="24" name="Text 21"/>
          <p:cNvSpPr/>
          <p:nvPr/>
        </p:nvSpPr>
        <p:spPr>
          <a:xfrm>
            <a:off x="1000354" y="187177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50" dirty="0">
                <a:solidFill>
                  <a:srgbClr val="334155"/>
                </a:solidFill>
              </a:rPr>
              <a:t>선형성, 정규성, 독립성</a:t>
            </a:r>
          </a:p>
        </p:txBody>
      </p:sp>
      <p:sp>
        <p:nvSpPr>
          <p:cNvPr id="25" name="Shape 22"/>
          <p:cNvSpPr/>
          <p:nvPr/>
        </p:nvSpPr>
        <p:spPr>
          <a:xfrm>
            <a:off x="4643323" y="155722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643323" y="155722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729277" y="161483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04</a:t>
            </a:r>
          </a:p>
        </p:txBody>
      </p:sp>
      <p:sp>
        <p:nvSpPr>
          <p:cNvPr id="28" name="Shape 25"/>
          <p:cNvSpPr/>
          <p:nvPr/>
        </p:nvSpPr>
        <p:spPr>
          <a:xfrm>
            <a:off x="5128870" y="167152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214823" y="168615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실습: 덕선이 남편 찾기</a:t>
            </a:r>
          </a:p>
        </p:txBody>
      </p:sp>
      <p:sp>
        <p:nvSpPr>
          <p:cNvPr id="30" name="Text 27"/>
          <p:cNvSpPr/>
          <p:nvPr/>
        </p:nvSpPr>
        <p:spPr>
          <a:xfrm>
            <a:off x="5214823" y="187177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50" dirty="0">
                <a:solidFill>
                  <a:srgbClr val="334155"/>
                </a:solidFill>
              </a:rPr>
              <a:t>R 프로그래밍 &amp; 엑셀 예시</a:t>
            </a:r>
          </a:p>
        </p:txBody>
      </p:sp>
      <p:sp>
        <p:nvSpPr>
          <p:cNvPr id="31" name="Shape 28"/>
          <p:cNvSpPr/>
          <p:nvPr/>
        </p:nvSpPr>
        <p:spPr>
          <a:xfrm>
            <a:off x="428854" y="231434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428854" y="231434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14807" y="237195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05</a:t>
            </a:r>
          </a:p>
        </p:txBody>
      </p:sp>
      <p:sp>
        <p:nvSpPr>
          <p:cNvPr id="34" name="Shape 31"/>
          <p:cNvSpPr/>
          <p:nvPr/>
        </p:nvSpPr>
        <p:spPr>
          <a:xfrm>
            <a:off x="914400" y="242864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000354" y="244327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실제 연구 적용 사례</a:t>
            </a:r>
          </a:p>
        </p:txBody>
      </p:sp>
      <p:sp>
        <p:nvSpPr>
          <p:cNvPr id="36" name="Text 33"/>
          <p:cNvSpPr/>
          <p:nvPr/>
        </p:nvSpPr>
        <p:spPr>
          <a:xfrm>
            <a:off x="1000354" y="262890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50" dirty="0">
                <a:solidFill>
                  <a:srgbClr val="334155"/>
                </a:solidFill>
              </a:rPr>
              <a:t>창업 정책 효과성 논문 검토</a:t>
            </a:r>
          </a:p>
        </p:txBody>
      </p:sp>
      <p:sp>
        <p:nvSpPr>
          <p:cNvPr id="37" name="Shape 34"/>
          <p:cNvSpPr/>
          <p:nvPr/>
        </p:nvSpPr>
        <p:spPr>
          <a:xfrm>
            <a:off x="4643323" y="231434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4643323" y="231434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4729277" y="237195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06</a:t>
            </a:r>
          </a:p>
        </p:txBody>
      </p:sp>
      <p:sp>
        <p:nvSpPr>
          <p:cNvPr id="40" name="Shape 37"/>
          <p:cNvSpPr/>
          <p:nvPr/>
        </p:nvSpPr>
        <p:spPr>
          <a:xfrm>
            <a:off x="5128870" y="242864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214823" y="244327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상관분석의 한계점</a:t>
            </a:r>
          </a:p>
        </p:txBody>
      </p:sp>
      <p:sp>
        <p:nvSpPr>
          <p:cNvPr id="42" name="Text 39"/>
          <p:cNvSpPr/>
          <p:nvPr/>
        </p:nvSpPr>
        <p:spPr>
          <a:xfrm>
            <a:off x="5214823" y="262890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50" dirty="0">
                <a:solidFill>
                  <a:srgbClr val="334155"/>
                </a:solidFill>
              </a:rPr>
              <a:t>인과관계 혼동, 이상치, 비선형</a:t>
            </a:r>
          </a:p>
        </p:txBody>
      </p:sp>
      <p:sp>
        <p:nvSpPr>
          <p:cNvPr id="43" name="Shape 40"/>
          <p:cNvSpPr/>
          <p:nvPr/>
        </p:nvSpPr>
        <p:spPr>
          <a:xfrm>
            <a:off x="428854" y="307147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428854" y="307147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514807" y="312907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07</a:t>
            </a:r>
          </a:p>
        </p:txBody>
      </p:sp>
      <p:sp>
        <p:nvSpPr>
          <p:cNvPr id="46" name="Shape 43"/>
          <p:cNvSpPr/>
          <p:nvPr/>
        </p:nvSpPr>
        <p:spPr>
          <a:xfrm>
            <a:off x="914400" y="318577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1000354" y="320040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참고문헌</a:t>
            </a:r>
          </a:p>
        </p:txBody>
      </p:sp>
      <p:sp>
        <p:nvSpPr>
          <p:cNvPr id="48" name="Text 45"/>
          <p:cNvSpPr/>
          <p:nvPr/>
        </p:nvSpPr>
        <p:spPr>
          <a:xfrm>
            <a:off x="1000354" y="3386023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50" dirty="0">
                <a:solidFill>
                  <a:srgbClr val="334155"/>
                </a:solidFill>
              </a:rPr>
              <a:t>주요 출처 &amp; 추가 학습 자료</a:t>
            </a:r>
          </a:p>
        </p:txBody>
      </p:sp>
      <p:sp>
        <p:nvSpPr>
          <p:cNvPr id="53" name="Text 50"/>
          <p:cNvSpPr/>
          <p:nvPr/>
        </p:nvSpPr>
        <p:spPr>
          <a:xfrm>
            <a:off x="5214823" y="320040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E2E8F0"/>
                </a:solidFill>
              </a:rPr>
              <a:t> </a:t>
            </a:r>
          </a:p>
        </p:txBody>
      </p:sp>
      <p:sp>
        <p:nvSpPr>
          <p:cNvPr id="54" name="Text 51"/>
          <p:cNvSpPr/>
          <p:nvPr/>
        </p:nvSpPr>
        <p:spPr>
          <a:xfrm>
            <a:off x="5214823" y="3386023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00" dirty="0">
                <a:solidFill>
                  <a:srgbClr val="E2E8F0"/>
                </a:solidFill>
              </a:rPr>
              <a:t> </a:t>
            </a:r>
          </a:p>
        </p:txBody>
      </p:sp>
      <p:sp>
        <p:nvSpPr>
          <p:cNvPr id="59" name="Text 56"/>
          <p:cNvSpPr/>
          <p:nvPr/>
        </p:nvSpPr>
        <p:spPr>
          <a:xfrm>
            <a:off x="1000354" y="3957523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E2E8F0"/>
                </a:solidFill>
              </a:rPr>
              <a:t> </a:t>
            </a:r>
          </a:p>
        </p:txBody>
      </p:sp>
      <p:sp>
        <p:nvSpPr>
          <p:cNvPr id="60" name="Text 57"/>
          <p:cNvSpPr/>
          <p:nvPr/>
        </p:nvSpPr>
        <p:spPr>
          <a:xfrm>
            <a:off x="1000354" y="4143146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00" dirty="0">
                <a:solidFill>
                  <a:srgbClr val="E2E8F0"/>
                </a:solidFill>
              </a:rPr>
              <a:t> </a:t>
            </a:r>
          </a:p>
        </p:txBody>
      </p:sp>
      <p:sp>
        <p:nvSpPr>
          <p:cNvPr id="65" name="Text 62"/>
          <p:cNvSpPr/>
          <p:nvPr/>
        </p:nvSpPr>
        <p:spPr>
          <a:xfrm>
            <a:off x="5214823" y="3957523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E2E8F0"/>
                </a:solidFill>
              </a:rPr>
              <a:t> </a:t>
            </a:r>
          </a:p>
        </p:txBody>
      </p:sp>
      <p:sp>
        <p:nvSpPr>
          <p:cNvPr id="66" name="Text 63"/>
          <p:cNvSpPr/>
          <p:nvPr/>
        </p:nvSpPr>
        <p:spPr>
          <a:xfrm>
            <a:off x="5214823" y="4143146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900" dirty="0">
                <a:solidFill>
                  <a:srgbClr val="E2E8F0"/>
                </a:solidFill>
              </a:rPr>
              <a:t> </a:t>
            </a:r>
          </a:p>
        </p:txBody>
      </p:sp>
      <p:sp>
        <p:nvSpPr>
          <p:cNvPr id="67" name="Text 64"/>
          <p:cNvSpPr/>
          <p:nvPr/>
        </p:nvSpPr>
        <p:spPr>
          <a:xfrm>
            <a:off x="6775704" y="4772252"/>
            <a:ext cx="1940357" cy="14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94A3B8"/>
                </a:solidFill>
              </a:rPr>
              <a:t>Ch. 5 상관분석  |  통계기반데이터분석</a:t>
            </a:r>
          </a:p>
        </p:txBody>
      </p:sp>
      <p:pic>
        <p:nvPicPr>
          <p:cNvPr id="68" name="Picture 4" descr="서강대학교 - 더시드위키">
            <a:extLst>
              <a:ext uri="{FF2B5EF4-FFF2-40B4-BE49-F238E27FC236}">
                <a16:creationId xmlns:a16="http://schemas.microsoft.com/office/drawing/2014/main" id="{73ED477E-06C0-A4E4-839D-9C4377D3E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54" y="200254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49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01. 상관분석이란?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CORRELATION ANALYSIS: CONCEPT &amp; DEFINITION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920801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31800" y="927100"/>
            <a:ext cx="2578100" cy="368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31800" y="927100"/>
            <a:ext cx="25781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4200" y="1092200"/>
            <a:ext cx="2273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50" b="1" dirty="0">
                <a:solidFill>
                  <a:srgbClr val="1E293B"/>
                </a:solidFill>
              </a:rPr>
              <a:t>정의 (Definition)</a:t>
            </a:r>
          </a:p>
        </p:txBody>
      </p:sp>
      <p:sp>
        <p:nvSpPr>
          <p:cNvPr id="11" name="Shape 8"/>
          <p:cNvSpPr/>
          <p:nvPr/>
        </p:nvSpPr>
        <p:spPr>
          <a:xfrm>
            <a:off x="584200" y="1295400"/>
            <a:ext cx="22733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84200" y="1371600"/>
            <a:ext cx="2273300" cy="1859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▪"/>
            </a:pPr>
            <a:r>
              <a:rPr lang="ko-KR" sz="1000" dirty="0">
                <a:solidFill>
                  <a:srgbClr val="334155"/>
                </a:solidFill>
              </a:rPr>
              <a:t>두 변수 간 </a:t>
            </a:r>
            <a:r>
              <a:rPr lang="ko-KR" sz="1000" b="1" dirty="0">
                <a:solidFill>
                  <a:srgbClr val="990000"/>
                </a:solidFill>
              </a:rPr>
              <a:t>선형적 관계</a:t>
            </a:r>
            <a:r>
              <a:rPr lang="ko-KR" sz="1000" dirty="0">
                <a:solidFill>
                  <a:srgbClr val="334155"/>
                </a:solidFill>
              </a:rPr>
              <a:t>를 분석하는 통계 기법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X가 커질 때 Y도 같이 커지는지 숫자로 확인</a:t>
            </a:r>
          </a:p>
          <a:p>
            <a:pPr>
              <a:spcBef>
                <a:spcPts val="400"/>
              </a:spcBef>
              <a:buNone/>
            </a:pPr>
            <a:r>
              <a:rPr lang="ko-KR" sz="500" dirty="0">
                <a:solidFill>
                  <a:srgbClr val="FFFFFF"/>
                </a:solidFill>
              </a:rPr>
              <a:t> </a:t>
            </a:r>
          </a:p>
          <a:p>
            <a:pPr marL="114300" indent="-114300">
              <a:buFont typeface="Arial"/>
              <a:buChar char="▪"/>
            </a:pPr>
            <a:r>
              <a:rPr lang="ko-KR" sz="1000" dirty="0">
                <a:solidFill>
                  <a:srgbClr val="334155"/>
                </a:solidFill>
              </a:rPr>
              <a:t>상관 강도를 수치로 표현 (비교 가능)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r이 0에 가까우면 관계 없음, ±1에 가까울수록 강한 관계</a:t>
            </a:r>
          </a:p>
          <a:p>
            <a:pPr>
              <a:spcBef>
                <a:spcPts val="400"/>
              </a:spcBef>
              <a:buNone/>
            </a:pPr>
            <a:r>
              <a:rPr lang="ko-KR" sz="500" dirty="0">
                <a:solidFill>
                  <a:srgbClr val="FFFFFF"/>
                </a:solidFill>
              </a:rPr>
              <a:t> </a:t>
            </a:r>
          </a:p>
          <a:p>
            <a:pPr marL="114300" indent="-114300">
              <a:buFont typeface="Arial"/>
              <a:buChar char="▪"/>
            </a:pPr>
            <a:r>
              <a:rPr lang="ko-KR" sz="1000" dirty="0">
                <a:solidFill>
                  <a:srgbClr val="334155"/>
                </a:solidFill>
              </a:rPr>
              <a:t>모상관계수 </a:t>
            </a:r>
            <a:r>
              <a:rPr lang="el-GR" sz="1000" b="1" dirty="0">
                <a:solidFill>
                  <a:srgbClr val="990000"/>
                </a:solidFill>
              </a:rPr>
              <a:t>ρ</a:t>
            </a:r>
            <a:r>
              <a:rPr lang="ko-KR" sz="1000" dirty="0">
                <a:solidFill>
                  <a:srgbClr val="334155"/>
                </a:solidFill>
              </a:rPr>
              <a:t>(모집단) vs 표본상관계수 </a:t>
            </a:r>
            <a:r>
              <a:rPr lang="en-US" sz="1000" b="1" dirty="0">
                <a:solidFill>
                  <a:srgbClr val="990000"/>
                </a:solidFill>
              </a:rPr>
              <a:t>r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실무에서는 표본 데이터이므로 보통 r 사용</a:t>
            </a:r>
          </a:p>
        </p:txBody>
      </p:sp>
      <p:sp>
        <p:nvSpPr>
          <p:cNvPr id="13" name="Text 10"/>
          <p:cNvSpPr/>
          <p:nvPr/>
        </p:nvSpPr>
        <p:spPr>
          <a:xfrm>
            <a:off x="584200" y="137160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14" name="Text 11"/>
          <p:cNvSpPr/>
          <p:nvPr/>
        </p:nvSpPr>
        <p:spPr>
          <a:xfrm>
            <a:off x="584200" y="137160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15" name="Shape 12"/>
          <p:cNvSpPr/>
          <p:nvPr/>
        </p:nvSpPr>
        <p:spPr>
          <a:xfrm>
            <a:off x="3289300" y="927100"/>
            <a:ext cx="2578100" cy="368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3289300" y="927100"/>
            <a:ext cx="25781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441700" y="1092200"/>
            <a:ext cx="2273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50" b="1" dirty="0">
                <a:solidFill>
                  <a:srgbClr val="1E293B"/>
                </a:solidFill>
              </a:rPr>
              <a:t>목적 (Purpose)</a:t>
            </a:r>
          </a:p>
        </p:txBody>
      </p:sp>
      <p:sp>
        <p:nvSpPr>
          <p:cNvPr id="18" name="Shape 15"/>
          <p:cNvSpPr/>
          <p:nvPr/>
        </p:nvSpPr>
        <p:spPr>
          <a:xfrm>
            <a:off x="3441700" y="1295400"/>
            <a:ext cx="22733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441700" y="1371600"/>
            <a:ext cx="2273300" cy="1859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▪"/>
            </a:pPr>
            <a:r>
              <a:rPr lang="ko-KR" sz="1000" dirty="0">
                <a:solidFill>
                  <a:srgbClr val="334155"/>
                </a:solidFill>
              </a:rPr>
              <a:t>두 변수 관계의 방향(양/음) 파악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공부시간↑→성적↑(양), 스트레스↑→수면↓(음)</a:t>
            </a:r>
          </a:p>
          <a:p>
            <a:pPr>
              <a:spcBef>
                <a:spcPts val="400"/>
              </a:spcBef>
              <a:buNone/>
            </a:pPr>
            <a:r>
              <a:rPr lang="ko-KR" sz="500" dirty="0">
                <a:solidFill>
                  <a:srgbClr val="FFFFFF"/>
                </a:solidFill>
              </a:rPr>
              <a:t> </a:t>
            </a:r>
          </a:p>
          <a:p>
            <a:pPr marL="114300" indent="-114300">
              <a:buFont typeface="Arial"/>
              <a:buChar char="▪"/>
            </a:pPr>
            <a:r>
              <a:rPr lang="ko-KR" sz="1000" dirty="0">
                <a:solidFill>
                  <a:srgbClr val="334155"/>
                </a:solidFill>
              </a:rPr>
              <a:t>관계의 강도를 수치화하여 비교 가능하게 표현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r=0.9(매우 강) vs r=0.2(거의 없음) 비교 가능</a:t>
            </a:r>
          </a:p>
          <a:p>
            <a:pPr>
              <a:spcBef>
                <a:spcPts val="400"/>
              </a:spcBef>
              <a:buNone/>
            </a:pPr>
            <a:r>
              <a:rPr lang="ko-KR" sz="500" dirty="0">
                <a:solidFill>
                  <a:srgbClr val="FFFFFF"/>
                </a:solidFill>
              </a:rPr>
              <a:t> </a:t>
            </a:r>
          </a:p>
          <a:p>
            <a:pPr marL="114300" indent="-114300">
              <a:buFont typeface="Arial"/>
              <a:buChar char="▪"/>
            </a:pPr>
            <a:r>
              <a:rPr lang="ko-KR" sz="1000" dirty="0">
                <a:solidFill>
                  <a:srgbClr val="334155"/>
                </a:solidFill>
              </a:rPr>
              <a:t>회귀분석 전 다중공선성 탐색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|r| ≥ 0.8이면 독립변수 중 하나 제외 검토</a:t>
            </a:r>
          </a:p>
        </p:txBody>
      </p:sp>
      <p:sp>
        <p:nvSpPr>
          <p:cNvPr id="20" name="Text 17"/>
          <p:cNvSpPr/>
          <p:nvPr/>
        </p:nvSpPr>
        <p:spPr>
          <a:xfrm>
            <a:off x="3441700" y="137160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21" name="Text 18"/>
          <p:cNvSpPr/>
          <p:nvPr/>
        </p:nvSpPr>
        <p:spPr>
          <a:xfrm>
            <a:off x="3441700" y="137160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22" name="Shape 19"/>
          <p:cNvSpPr/>
          <p:nvPr/>
        </p:nvSpPr>
        <p:spPr>
          <a:xfrm>
            <a:off x="6146800" y="927100"/>
            <a:ext cx="2578100" cy="368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146800" y="927100"/>
            <a:ext cx="25781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299200" y="1092200"/>
            <a:ext cx="2273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50" b="1" dirty="0">
                <a:solidFill>
                  <a:srgbClr val="1E293B"/>
                </a:solidFill>
              </a:rPr>
              <a:t>상관계수 범위 (-1 ≤ r ≤ 1)</a:t>
            </a:r>
          </a:p>
        </p:txBody>
      </p:sp>
      <p:sp>
        <p:nvSpPr>
          <p:cNvPr id="25" name="Shape 22"/>
          <p:cNvSpPr/>
          <p:nvPr/>
        </p:nvSpPr>
        <p:spPr>
          <a:xfrm>
            <a:off x="6299200" y="1295400"/>
            <a:ext cx="22733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299200" y="1371600"/>
            <a:ext cx="2273300" cy="139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▪"/>
            </a:pPr>
            <a:r>
              <a:rPr lang="en-US" sz="1000" b="1" dirty="0">
                <a:solidFill>
                  <a:srgbClr val="990000"/>
                </a:solidFill>
              </a:rPr>
              <a:t>r = +1</a:t>
            </a:r>
            <a:r>
              <a:rPr lang="ko-KR" sz="1000" dirty="0">
                <a:solidFill>
                  <a:srgbClr val="334155"/>
                </a:solidFill>
              </a:rPr>
              <a:t> : 완전한 양의 선형관계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X가 오르면 Y도 반드시 일정하게 오름</a:t>
            </a:r>
          </a:p>
          <a:p>
            <a:pPr>
              <a:spcBef>
                <a:spcPts val="400"/>
              </a:spcBef>
              <a:buNone/>
            </a:pPr>
            <a:r>
              <a:rPr lang="ko-KR" sz="500" dirty="0">
                <a:solidFill>
                  <a:srgbClr val="FFFFFF"/>
                </a:solidFill>
              </a:rPr>
              <a:t> </a:t>
            </a:r>
          </a:p>
          <a:p>
            <a:pPr marL="114300" indent="-114300">
              <a:buFont typeface="Arial"/>
              <a:buChar char="▪"/>
            </a:pPr>
            <a:r>
              <a:rPr lang="en-US" sz="1000" b="1" dirty="0">
                <a:solidFill>
                  <a:srgbClr val="64748B"/>
                </a:solidFill>
              </a:rPr>
              <a:t>r = 0</a:t>
            </a:r>
            <a:r>
              <a:rPr lang="ko-KR" sz="1000" dirty="0">
                <a:solidFill>
                  <a:srgbClr val="334155"/>
                </a:solidFill>
              </a:rPr>
              <a:t> : 선형 상관관계 없음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비선형 관계는 여전히 존재할 수 있음</a:t>
            </a:r>
          </a:p>
          <a:p>
            <a:pPr>
              <a:spcBef>
                <a:spcPts val="400"/>
              </a:spcBef>
              <a:buNone/>
            </a:pPr>
            <a:r>
              <a:rPr lang="ko-KR" sz="500" dirty="0">
                <a:solidFill>
                  <a:srgbClr val="FFFFFF"/>
                </a:solidFill>
              </a:rPr>
              <a:t> </a:t>
            </a:r>
          </a:p>
          <a:p>
            <a:pPr marL="114300" indent="-114300">
              <a:buFont typeface="Arial"/>
              <a:buChar char="▪"/>
            </a:pPr>
            <a:r>
              <a:rPr lang="en-US" sz="1000" b="1" dirty="0">
                <a:solidFill>
                  <a:srgbClr val="1E56A0"/>
                </a:solidFill>
              </a:rPr>
              <a:t>r = -1</a:t>
            </a:r>
            <a:r>
              <a:rPr lang="ko-KR" sz="1000" dirty="0">
                <a:solidFill>
                  <a:srgbClr val="334155"/>
                </a:solidFill>
              </a:rPr>
              <a:t> : 완전한 음의 선형관계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예) 기온↑ → 핫초코 판매↓</a:t>
            </a:r>
          </a:p>
        </p:txBody>
      </p:sp>
      <p:sp>
        <p:nvSpPr>
          <p:cNvPr id="27" name="Text 24"/>
          <p:cNvSpPr/>
          <p:nvPr/>
        </p:nvSpPr>
        <p:spPr>
          <a:xfrm>
            <a:off x="6299200" y="137160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28" name="Text 25"/>
          <p:cNvSpPr/>
          <p:nvPr/>
        </p:nvSpPr>
        <p:spPr>
          <a:xfrm>
            <a:off x="6299200" y="137160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29" name="Shape 26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1" name="Text 28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00" dirty="0">
                <a:solidFill>
                  <a:srgbClr val="64748B"/>
                </a:solidFill>
              </a:rPr>
              <a:t>1 / 7</a:t>
            </a:r>
          </a:p>
        </p:txBody>
      </p:sp>
      <p:pic>
        <p:nvPicPr>
          <p:cNvPr id="33" name="Picture 4" descr="서강대학교 - 더시드위키">
            <a:extLst>
              <a:ext uri="{FF2B5EF4-FFF2-40B4-BE49-F238E27FC236}">
                <a16:creationId xmlns:a16="http://schemas.microsoft.com/office/drawing/2014/main" id="{6973CF73-B1D7-CB6D-4A9D-31CB062BA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02" y="239833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80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02. 상관계수의 종류와 해석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TYPES OF CORRELATION COEFFICIENTS &amp; INTERPRETATION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18416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71823" cy="25722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71823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372892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300" b="1" dirty="0">
                <a:solidFill>
                  <a:srgbClr val="1E293B"/>
                </a:solidFill>
              </a:rPr>
              <a:t>Pearson 상관계수 (r)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3728923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9846" y="1399946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990000"/>
                </a:solidFill>
              </a:rPr>
              <a:t>① 적용 조건</a:t>
            </a:r>
          </a:p>
        </p:txBody>
      </p:sp>
      <p:sp>
        <p:nvSpPr>
          <p:cNvPr id="13" name="Text 10"/>
          <p:cNvSpPr/>
          <p:nvPr/>
        </p:nvSpPr>
        <p:spPr>
          <a:xfrm>
            <a:off x="714146" y="1557223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연속형 변수, 정규분포 가정 충족</a:t>
            </a:r>
          </a:p>
        </p:txBody>
      </p:sp>
      <p:sp>
        <p:nvSpPr>
          <p:cNvPr id="14" name="Text 11"/>
          <p:cNvSpPr/>
          <p:nvPr/>
        </p:nvSpPr>
        <p:spPr>
          <a:xfrm>
            <a:off x="599846" y="1843430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990000"/>
                </a:solidFill>
              </a:rPr>
              <a:t>② 계산 원리</a:t>
            </a:r>
          </a:p>
        </p:txBody>
      </p:sp>
      <p:sp>
        <p:nvSpPr>
          <p:cNvPr id="15" name="Text 12"/>
          <p:cNvSpPr/>
          <p:nvPr/>
        </p:nvSpPr>
        <p:spPr>
          <a:xfrm>
            <a:off x="714146" y="2000707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r = (X·Y 공변량) / (X 표준편차 × Y 표준편차)</a:t>
            </a:r>
          </a:p>
        </p:txBody>
      </p:sp>
      <p:sp>
        <p:nvSpPr>
          <p:cNvPr id="16" name="Text 13"/>
          <p:cNvSpPr/>
          <p:nvPr/>
        </p:nvSpPr>
        <p:spPr>
          <a:xfrm>
            <a:off x="599846" y="2286000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990000"/>
                </a:solidFill>
              </a:rPr>
              <a:t>③ 특징</a:t>
            </a:r>
          </a:p>
        </p:txBody>
      </p:sp>
      <p:sp>
        <p:nvSpPr>
          <p:cNvPr id="17" name="Text 14"/>
          <p:cNvSpPr/>
          <p:nvPr/>
        </p:nvSpPr>
        <p:spPr>
          <a:xfrm>
            <a:off x="714146" y="2443277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이변량 상관분석(bivariate)에서 가장 보편적으로 사용</a:t>
            </a:r>
          </a:p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이상치에 민감 — 데이터 정제 후 사용 권장</a:t>
            </a:r>
          </a:p>
          <a:p>
            <a:pPr marL="228600" indent="-228600">
              <a:buFont typeface="Arial"/>
              <a:buChar char="→"/>
            </a:pPr>
            <a:r>
              <a:rPr lang="ko-KR" sz="950" i="1" dirty="0">
                <a:solidFill>
                  <a:srgbClr val="64748B"/>
                </a:solidFill>
              </a:rPr>
              <a:t>예) 키-몸무게, 수입-소비, 기온-전력소비</a:t>
            </a:r>
          </a:p>
        </p:txBody>
      </p:sp>
      <p:sp>
        <p:nvSpPr>
          <p:cNvPr id="18" name="Shape 15"/>
          <p:cNvSpPr/>
          <p:nvPr/>
        </p:nvSpPr>
        <p:spPr>
          <a:xfrm>
            <a:off x="4714646" y="929030"/>
            <a:ext cx="4000500" cy="25722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886554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300" b="1" dirty="0">
                <a:solidFill>
                  <a:srgbClr val="1E293B"/>
                </a:solidFill>
              </a:rPr>
              <a:t>Spearman 상관계수 (ρ)</a:t>
            </a:r>
          </a:p>
        </p:txBody>
      </p:sp>
      <p:sp>
        <p:nvSpPr>
          <p:cNvPr id="21" name="Shape 18"/>
          <p:cNvSpPr/>
          <p:nvPr/>
        </p:nvSpPr>
        <p:spPr>
          <a:xfrm>
            <a:off x="4886554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86554" y="1399946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990000"/>
                </a:solidFill>
              </a:rPr>
              <a:t>① 적용 조건</a:t>
            </a:r>
          </a:p>
        </p:txBody>
      </p:sp>
      <p:sp>
        <p:nvSpPr>
          <p:cNvPr id="23" name="Text 20"/>
          <p:cNvSpPr/>
          <p:nvPr/>
        </p:nvSpPr>
        <p:spPr>
          <a:xfrm>
            <a:off x="5000854" y="1557223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서열(순위) 척도 데이터, 비정규 분포</a:t>
            </a:r>
          </a:p>
          <a:p>
            <a:pPr marL="228600" indent="-228600">
              <a:buFont typeface="Arial"/>
              <a:buChar char="→"/>
            </a:pPr>
            <a:r>
              <a:rPr lang="ko-KR" sz="950" i="1" dirty="0">
                <a:solidFill>
                  <a:srgbClr val="64748B"/>
                </a:solidFill>
              </a:rPr>
              <a:t>예) 만족도 설문 5점 척도, 선호도 순위</a:t>
            </a:r>
          </a:p>
        </p:txBody>
      </p:sp>
      <p:sp>
        <p:nvSpPr>
          <p:cNvPr id="24" name="Text 21"/>
          <p:cNvSpPr/>
          <p:nvPr/>
        </p:nvSpPr>
        <p:spPr>
          <a:xfrm>
            <a:off x="4886554" y="1948678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990000"/>
                </a:solidFill>
              </a:rPr>
              <a:t>② 계산 원리</a:t>
            </a:r>
          </a:p>
        </p:txBody>
      </p:sp>
      <p:sp>
        <p:nvSpPr>
          <p:cNvPr id="25" name="Text 22"/>
          <p:cNvSpPr/>
          <p:nvPr/>
        </p:nvSpPr>
        <p:spPr>
          <a:xfrm>
            <a:off x="5000854" y="2105955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데이터를 순위로 변환 후 Pearson 방식으로 계산</a:t>
            </a:r>
          </a:p>
          <a:p>
            <a:pPr marL="228600" indent="-228600">
              <a:buFont typeface="Arial"/>
              <a:buChar char="→"/>
            </a:pPr>
            <a:r>
              <a:rPr lang="ko-KR" sz="950" i="1" dirty="0">
                <a:solidFill>
                  <a:srgbClr val="64748B"/>
                </a:solidFill>
              </a:rPr>
              <a:t>원 데이터 값이 아닌 순위(rank) 사용</a:t>
            </a:r>
          </a:p>
        </p:txBody>
      </p:sp>
      <p:sp>
        <p:nvSpPr>
          <p:cNvPr id="26" name="Text 23"/>
          <p:cNvSpPr/>
          <p:nvPr/>
        </p:nvSpPr>
        <p:spPr>
          <a:xfrm>
            <a:off x="4886554" y="2450450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990000"/>
                </a:solidFill>
              </a:rPr>
              <a:t>③ 강점</a:t>
            </a:r>
          </a:p>
        </p:txBody>
      </p:sp>
      <p:sp>
        <p:nvSpPr>
          <p:cNvPr id="27" name="Text 24"/>
          <p:cNvSpPr/>
          <p:nvPr/>
        </p:nvSpPr>
        <p:spPr>
          <a:xfrm>
            <a:off x="5000854" y="2607727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이상치(outlier) 영향 적음 — 비모수적 방법으로 강건</a:t>
            </a:r>
          </a:p>
          <a:p>
            <a:pPr marL="152400" indent="-152400">
              <a:buFont typeface="Arial"/>
              <a:buChar char="▪"/>
            </a:pPr>
            <a:r>
              <a:rPr lang="ko-KR" sz="1050" dirty="0">
                <a:solidFill>
                  <a:srgbClr val="334155"/>
                </a:solidFill>
              </a:rPr>
              <a:t>덕선이 실습 데이터(n=5, 소규모)에 적합</a:t>
            </a:r>
          </a:p>
          <a:p>
            <a:pPr marL="228600" indent="-228600">
              <a:buFont typeface="Arial"/>
              <a:buChar char="→"/>
            </a:pPr>
            <a:r>
              <a:rPr lang="ko-KR" sz="950" i="1" dirty="0">
                <a:solidFill>
                  <a:srgbClr val="64748B"/>
                </a:solidFill>
              </a:rPr>
              <a:t>n &lt; 30 이거나 비정규이면 Spearman 우선 검토</a:t>
            </a:r>
          </a:p>
        </p:txBody>
      </p:sp>
      <p:sp>
        <p:nvSpPr>
          <p:cNvPr id="28" name="Shape 25"/>
          <p:cNvSpPr/>
          <p:nvPr/>
        </p:nvSpPr>
        <p:spPr>
          <a:xfrm>
            <a:off x="428854" y="3629254"/>
            <a:ext cx="8287207" cy="9436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28854" y="3629254"/>
            <a:ext cx="35662" cy="843077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99846" y="3700577"/>
            <a:ext cx="78583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📊 상관계수 해석 기준표</a:t>
            </a:r>
          </a:p>
        </p:txBody>
      </p:sp>
      <p:sp>
        <p:nvSpPr>
          <p:cNvPr id="31" name="Text 28"/>
          <p:cNvSpPr/>
          <p:nvPr/>
        </p:nvSpPr>
        <p:spPr>
          <a:xfrm>
            <a:off x="599846" y="3886200"/>
            <a:ext cx="78583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950" dirty="0">
                <a:solidFill>
                  <a:srgbClr val="334155"/>
                </a:solidFill>
              </a:rPr>
              <a:t>|r| ≥ 0.7 강한 상관  ·  0.4 ≤ |r| &lt; 0.7 중간 상관  ·  0.2 ≤ |r| &lt; 0.4 약한 상관  ·  |r| &lt; 0.2 거의 없음</a:t>
            </a:r>
          </a:p>
          <a:p>
            <a:pPr>
              <a:buNone/>
            </a:pPr>
            <a:r>
              <a:rPr lang="ko-KR" sz="950" dirty="0" err="1">
                <a:solidFill>
                  <a:srgbClr val="990000"/>
                </a:solidFill>
              </a:rPr>
              <a:t>r</a:t>
            </a:r>
            <a:r>
              <a:rPr lang="ko-KR" sz="950" dirty="0">
                <a:solidFill>
                  <a:srgbClr val="990000"/>
                </a:solidFill>
              </a:rPr>
              <a:t> ≥ 0.8 이상: </a:t>
            </a:r>
            <a:r>
              <a:rPr lang="ko-KR" sz="950" b="1" dirty="0">
                <a:solidFill>
                  <a:srgbClr val="990000"/>
                </a:solidFill>
              </a:rPr>
              <a:t>다중공선성 위험 신호</a:t>
            </a:r>
            <a:r>
              <a:rPr lang="ko-KR" sz="950" dirty="0">
                <a:solidFill>
                  <a:srgbClr val="990000"/>
                </a:solidFill>
              </a:rPr>
              <a:t> — 독립변수끼리 이 정도면 회귀분석 신뢰도 저하 가능</a:t>
            </a:r>
            <a:endParaRPr lang="en-US" altLang="ko-KR" sz="950" dirty="0">
              <a:solidFill>
                <a:srgbClr val="990000"/>
              </a:solidFill>
            </a:endParaRPr>
          </a:p>
          <a:p>
            <a:pPr>
              <a:buNone/>
            </a:pPr>
            <a:r>
              <a:rPr lang="ko-KR" sz="950" dirty="0">
                <a:solidFill>
                  <a:srgbClr val="990000"/>
                </a:solidFill>
              </a:rPr>
              <a:t>결정계수 r² = X로 Y를 예측할 수 있는 비율 (예: r=0.8 → r²=0.64, 64% 설명력)</a:t>
            </a:r>
          </a:p>
          <a:p>
            <a:pPr marL="228600" indent="-228600"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실무 팁: 상관계수 표는 소수점 둘째 자리까지 정리하면 가독성이 좋아짐</a:t>
            </a:r>
          </a:p>
        </p:txBody>
      </p:sp>
      <p:sp>
        <p:nvSpPr>
          <p:cNvPr id="32" name="Shape 29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4" name="Text 31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00" dirty="0">
                <a:solidFill>
                  <a:srgbClr val="64748B"/>
                </a:solidFill>
              </a:rPr>
              <a:t>2 / 7</a:t>
            </a:r>
          </a:p>
        </p:txBody>
      </p:sp>
      <p:pic>
        <p:nvPicPr>
          <p:cNvPr id="36" name="Picture 4" descr="서강대학교 - 더시드위키">
            <a:extLst>
              <a:ext uri="{FF2B5EF4-FFF2-40B4-BE49-F238E27FC236}">
                <a16:creationId xmlns:a16="http://schemas.microsoft.com/office/drawing/2014/main" id="{1BA5656D-972A-9653-B25F-FE1391505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27" y="237350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644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03. 상관분석의 가정 조건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ASSUMPTIONS FOR CORRELATION ANALYSIS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27624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31800" y="927100"/>
            <a:ext cx="4356100" cy="3558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31800" y="927100"/>
            <a:ext cx="43561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401513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50" b="1" dirty="0">
                <a:solidFill>
                  <a:srgbClr val="1E293B"/>
                </a:solidFill>
              </a:rPr>
              <a:t>Pearson 사용을 위한 핵심 가정</a:t>
            </a:r>
          </a:p>
        </p:txBody>
      </p:sp>
      <p:sp>
        <p:nvSpPr>
          <p:cNvPr id="14" name="Text 11"/>
          <p:cNvSpPr/>
          <p:nvPr/>
        </p:nvSpPr>
        <p:spPr>
          <a:xfrm>
            <a:off x="749300" y="1396797"/>
            <a:ext cx="3340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altLang="ko-KR" sz="1100" b="1" dirty="0">
                <a:solidFill>
                  <a:srgbClr val="1E293B"/>
                </a:solidFill>
              </a:rPr>
              <a:t>1.</a:t>
            </a:r>
            <a:r>
              <a:rPr lang="ko-KR" altLang="en-US" sz="1100" b="1" dirty="0">
                <a:solidFill>
                  <a:srgbClr val="1E293B"/>
                </a:solidFill>
              </a:rPr>
              <a:t> </a:t>
            </a:r>
            <a:r>
              <a:rPr lang="ko-KR" sz="1100" b="1" dirty="0">
                <a:solidFill>
                  <a:srgbClr val="1E293B"/>
                </a:solidFill>
              </a:rPr>
              <a:t>선형성 (Linearity)</a:t>
            </a:r>
          </a:p>
        </p:txBody>
      </p:sp>
      <p:sp>
        <p:nvSpPr>
          <p:cNvPr id="16" name="Text 13"/>
          <p:cNvSpPr/>
          <p:nvPr/>
        </p:nvSpPr>
        <p:spPr>
          <a:xfrm>
            <a:off x="723900" y="1422400"/>
            <a:ext cx="36703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·"/>
            </a:pPr>
            <a:r>
              <a:rPr lang="ko-KR" sz="1000" dirty="0">
                <a:solidFill>
                  <a:srgbClr val="334155"/>
                </a:solidFill>
              </a:rPr>
              <a:t>X와 Y의 관계가 직선적이어야 함 — 산점도로 확인 필수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곡선 관계면 r이 낮아도 실제 관계는 강할 수 있음</a:t>
            </a:r>
          </a:p>
        </p:txBody>
      </p:sp>
      <p:sp>
        <p:nvSpPr>
          <p:cNvPr id="17" name="Text 1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20" name="Text 17"/>
          <p:cNvSpPr/>
          <p:nvPr/>
        </p:nvSpPr>
        <p:spPr>
          <a:xfrm>
            <a:off x="723900" y="2141212"/>
            <a:ext cx="3670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altLang="ko-KR" sz="1100" b="1" dirty="0">
                <a:solidFill>
                  <a:srgbClr val="1E293B"/>
                </a:solidFill>
              </a:rPr>
              <a:t>2.</a:t>
            </a:r>
            <a:r>
              <a:rPr lang="ko-KR" altLang="en-US" sz="1100" b="1" dirty="0">
                <a:solidFill>
                  <a:srgbClr val="1E293B"/>
                </a:solidFill>
              </a:rPr>
              <a:t> </a:t>
            </a:r>
            <a:r>
              <a:rPr lang="ko-KR" sz="1100" b="1" dirty="0">
                <a:solidFill>
                  <a:srgbClr val="1E293B"/>
                </a:solidFill>
              </a:rPr>
              <a:t>정규성 (Normality)</a:t>
            </a:r>
          </a:p>
        </p:txBody>
      </p:sp>
      <p:sp>
        <p:nvSpPr>
          <p:cNvPr id="22" name="Text 19"/>
          <p:cNvSpPr/>
          <p:nvPr/>
        </p:nvSpPr>
        <p:spPr>
          <a:xfrm>
            <a:off x="723900" y="2325159"/>
            <a:ext cx="367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·"/>
            </a:pPr>
            <a:r>
              <a:rPr lang="ko-KR" sz="1000" dirty="0">
                <a:solidFill>
                  <a:srgbClr val="334155"/>
                </a:solidFill>
              </a:rPr>
              <a:t>두 변수 모두 정규분포 가정 — 불충족 시 Spearman 사용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Shapiro-Wilk 검정 (p &lt; 0.05면 비정규)</a:t>
            </a:r>
          </a:p>
        </p:txBody>
      </p:sp>
      <p:sp>
        <p:nvSpPr>
          <p:cNvPr id="24" name="Text 21"/>
          <p:cNvSpPr/>
          <p:nvPr/>
        </p:nvSpPr>
        <p:spPr>
          <a:xfrm>
            <a:off x="596900" y="3352800"/>
            <a:ext cx="6069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5" name="Text 22"/>
          <p:cNvSpPr/>
          <p:nvPr/>
        </p:nvSpPr>
        <p:spPr>
          <a:xfrm>
            <a:off x="723900" y="2917265"/>
            <a:ext cx="3670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altLang="ko-KR" sz="1100" b="1" dirty="0">
                <a:solidFill>
                  <a:srgbClr val="1E293B"/>
                </a:solidFill>
              </a:rPr>
              <a:t>3.</a:t>
            </a:r>
            <a:r>
              <a:rPr lang="ko-KR" altLang="en-US" sz="1100" b="1" dirty="0">
                <a:solidFill>
                  <a:srgbClr val="1E293B"/>
                </a:solidFill>
              </a:rPr>
              <a:t> </a:t>
            </a:r>
            <a:r>
              <a:rPr lang="ko-KR" sz="1100" b="1" dirty="0">
                <a:solidFill>
                  <a:srgbClr val="1E293B"/>
                </a:solidFill>
              </a:rPr>
              <a:t>독립성 &amp; 등분산성</a:t>
            </a:r>
          </a:p>
        </p:txBody>
      </p:sp>
      <p:sp>
        <p:nvSpPr>
          <p:cNvPr id="27" name="Text 24"/>
          <p:cNvSpPr/>
          <p:nvPr/>
        </p:nvSpPr>
        <p:spPr>
          <a:xfrm>
            <a:off x="723900" y="3123919"/>
            <a:ext cx="3670300" cy="319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·"/>
            </a:pPr>
            <a:r>
              <a:rPr lang="ko-KR" sz="1000" dirty="0">
                <a:solidFill>
                  <a:srgbClr val="334155"/>
                </a:solidFill>
              </a:rPr>
              <a:t>각 관측값은 서로 독립적이어야 함</a:t>
            </a:r>
          </a:p>
          <a:p>
            <a:pPr marL="152400" indent="-1524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오늘 주가 ↔ 내일 주가 같은 시계열 데이터 주의</a:t>
            </a:r>
          </a:p>
        </p:txBody>
      </p:sp>
      <p:sp>
        <p:nvSpPr>
          <p:cNvPr id="28" name="Text 25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29" name="Shape 26"/>
          <p:cNvSpPr/>
          <p:nvPr/>
        </p:nvSpPr>
        <p:spPr>
          <a:xfrm>
            <a:off x="5003800" y="927100"/>
            <a:ext cx="3568700" cy="3553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5003800" y="927100"/>
            <a:ext cx="3568700" cy="254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171846" y="1086307"/>
            <a:ext cx="3228746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50" b="1" dirty="0">
                <a:solidFill>
                  <a:srgbClr val="1E293B"/>
                </a:solidFill>
              </a:rPr>
              <a:t>가정 위반 시 대안</a:t>
            </a:r>
          </a:p>
        </p:txBody>
      </p:sp>
      <p:sp>
        <p:nvSpPr>
          <p:cNvPr id="32" name="Shape 29"/>
          <p:cNvSpPr/>
          <p:nvPr/>
        </p:nvSpPr>
        <p:spPr>
          <a:xfrm>
            <a:off x="5171846" y="1278331"/>
            <a:ext cx="3228746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5168900" y="1371600"/>
            <a:ext cx="3225800" cy="704369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168900" y="1371600"/>
            <a:ext cx="25400" cy="704369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257800" y="1422400"/>
            <a:ext cx="3073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1E293B"/>
                </a:solidFill>
              </a:rPr>
              <a:t>Spearman ρ</a:t>
            </a:r>
          </a:p>
        </p:txBody>
      </p:sp>
      <p:sp>
        <p:nvSpPr>
          <p:cNvPr id="36" name="Text 33"/>
          <p:cNvSpPr/>
          <p:nvPr/>
        </p:nvSpPr>
        <p:spPr>
          <a:xfrm>
            <a:off x="5257800" y="1612900"/>
            <a:ext cx="3073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1000" dirty="0">
                <a:solidFill>
                  <a:srgbClr val="334155"/>
                </a:solidFill>
              </a:rPr>
              <a:t>비정규·서열척도 데이터에 적합한 비모수 방법</a:t>
            </a:r>
          </a:p>
          <a:p>
            <a:pPr marL="114300" indent="-1143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예) 만족도 5점 척도, 순위 데이터</a:t>
            </a:r>
          </a:p>
        </p:txBody>
      </p:sp>
      <p:sp>
        <p:nvSpPr>
          <p:cNvPr id="37" name="Shape 34"/>
          <p:cNvSpPr/>
          <p:nvPr/>
        </p:nvSpPr>
        <p:spPr>
          <a:xfrm>
            <a:off x="5168900" y="2184584"/>
            <a:ext cx="3225800" cy="7053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5168900" y="2184584"/>
            <a:ext cx="25400" cy="7053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5257800" y="2235384"/>
            <a:ext cx="3073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1E293B"/>
                </a:solidFill>
              </a:rPr>
              <a:t>Kendall τ</a:t>
            </a:r>
          </a:p>
        </p:txBody>
      </p:sp>
      <p:sp>
        <p:nvSpPr>
          <p:cNvPr id="40" name="Text 37"/>
          <p:cNvSpPr/>
          <p:nvPr/>
        </p:nvSpPr>
        <p:spPr>
          <a:xfrm>
            <a:off x="5257800" y="2425884"/>
            <a:ext cx="3073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1000" dirty="0">
                <a:solidFill>
                  <a:srgbClr val="334155"/>
                </a:solidFill>
              </a:rPr>
              <a:t>소표본·동점값 많을 때 Spearman보다 더 안정적</a:t>
            </a:r>
          </a:p>
          <a:p>
            <a:pPr marL="114300" indent="-1143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예) n=5인 덕선이 실습 같은 소표본</a:t>
            </a:r>
          </a:p>
        </p:txBody>
      </p:sp>
      <p:sp>
        <p:nvSpPr>
          <p:cNvPr id="41" name="Shape 38"/>
          <p:cNvSpPr/>
          <p:nvPr/>
        </p:nvSpPr>
        <p:spPr>
          <a:xfrm>
            <a:off x="5168900" y="2984410"/>
            <a:ext cx="3225800" cy="704393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5168900" y="2984410"/>
            <a:ext cx="25400" cy="70439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5257800" y="3035210"/>
            <a:ext cx="3073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50" b="1" dirty="0">
                <a:solidFill>
                  <a:srgbClr val="1E293B"/>
                </a:solidFill>
              </a:rPr>
              <a:t>이상치 처리</a:t>
            </a:r>
          </a:p>
        </p:txBody>
      </p:sp>
      <p:sp>
        <p:nvSpPr>
          <p:cNvPr id="44" name="Text 41"/>
          <p:cNvSpPr/>
          <p:nvPr/>
        </p:nvSpPr>
        <p:spPr>
          <a:xfrm>
            <a:off x="5257800" y="3225710"/>
            <a:ext cx="3073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1000" dirty="0">
                <a:solidFill>
                  <a:srgbClr val="334155"/>
                </a:solidFill>
              </a:rPr>
              <a:t>산점도로 극단값 확인 후 제거 또는 로그 변환</a:t>
            </a:r>
          </a:p>
          <a:p>
            <a:pPr marL="114300" indent="-114300">
              <a:spcBef>
                <a:spcPts val="100"/>
              </a:spcBef>
              <a:buFont typeface="Arial"/>
              <a:buChar char="→"/>
            </a:pPr>
            <a:r>
              <a:rPr lang="ko-KR" sz="900" i="1" dirty="0">
                <a:solidFill>
                  <a:srgbClr val="64748B"/>
                </a:solidFill>
              </a:rPr>
              <a:t>Pearson은 이상치에 민감 → 미리 제거 권장</a:t>
            </a:r>
          </a:p>
        </p:txBody>
      </p:sp>
      <p:sp>
        <p:nvSpPr>
          <p:cNvPr id="45" name="Shape 42"/>
          <p:cNvSpPr/>
          <p:nvPr/>
        </p:nvSpPr>
        <p:spPr>
          <a:xfrm>
            <a:off x="5168900" y="3904129"/>
            <a:ext cx="3225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168900" y="3960721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800" dirty="0">
                <a:solidFill>
                  <a:srgbClr val="990000"/>
                </a:solidFill>
              </a:rPr>
              <a:t>※ 분석 전 산점도 시각화로 선형성·이상치를 먼저 확인하는 것이 필수</a:t>
            </a:r>
          </a:p>
        </p:txBody>
      </p:sp>
      <p:sp>
        <p:nvSpPr>
          <p:cNvPr id="47" name="Shape 44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9" name="Text 46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00" dirty="0">
                <a:solidFill>
                  <a:srgbClr val="64748B"/>
                </a:solidFill>
              </a:rPr>
              <a:t>3 / 7</a:t>
            </a:r>
          </a:p>
        </p:txBody>
      </p:sp>
      <p:pic>
        <p:nvPicPr>
          <p:cNvPr id="51" name="Picture 4" descr="서강대학교 - 더시드위키">
            <a:extLst>
              <a:ext uri="{FF2B5EF4-FFF2-40B4-BE49-F238E27FC236}">
                <a16:creationId xmlns:a16="http://schemas.microsoft.com/office/drawing/2014/main" id="{E335A1C9-334C-88CD-DBB8-CBC113AB2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131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03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04. 실습: 덕선이 남편 찾기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PRACTICAL EXAMPLE: CORRELATION IN R &amp; EXCEL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3683203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86054"/>
            <a:ext cx="8287207" cy="328270"/>
          </a:xfrm>
          <a:prstGeom prst="rect">
            <a:avLst/>
          </a:prstGeom>
          <a:solidFill>
            <a:srgbClr val="7B0000"/>
          </a:solidFill>
          <a:ln w="9525"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886054"/>
            <a:ext cx="24689" cy="3282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1500" y="964692"/>
            <a:ext cx="7929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FFFFFF"/>
                </a:solidFill>
              </a:rPr>
              <a:t>덕선이가 호감도 데이터를 직접 수집 → R과 엑셀로 상관계수를 계산하여 최적의 남편 후보를 찾는 실습</a:t>
            </a:r>
          </a:p>
        </p:txBody>
      </p:sp>
      <p:sp>
        <p:nvSpPr>
          <p:cNvPr id="11" name="Shape 8"/>
          <p:cNvSpPr/>
          <p:nvPr/>
        </p:nvSpPr>
        <p:spPr>
          <a:xfrm>
            <a:off x="431800" y="1320800"/>
            <a:ext cx="25781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31800" y="1320800"/>
            <a:ext cx="25781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86130" y="1457554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분석 변수</a:t>
            </a:r>
          </a:p>
        </p:txBody>
      </p:sp>
      <p:sp>
        <p:nvSpPr>
          <p:cNvPr id="14" name="Text 11"/>
          <p:cNvSpPr/>
          <p:nvPr/>
        </p:nvSpPr>
        <p:spPr>
          <a:xfrm>
            <a:off x="586130" y="1621231"/>
            <a:ext cx="225765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50" dirty="0">
                <a:solidFill>
                  <a:srgbClr val="64748B"/>
                </a:solidFill>
              </a:rPr>
              <a:t>Variables Setup</a:t>
            </a:r>
          </a:p>
        </p:txBody>
      </p:sp>
      <p:sp>
        <p:nvSpPr>
          <p:cNvPr id="15" name="Shape 12"/>
          <p:cNvSpPr/>
          <p:nvPr/>
        </p:nvSpPr>
        <p:spPr>
          <a:xfrm>
            <a:off x="586130" y="1764792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4200" y="1854200"/>
            <a:ext cx="226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00" b="1" dirty="0">
                <a:solidFill>
                  <a:srgbClr val="990000"/>
                </a:solidFill>
              </a:rPr>
              <a:t>► 종속변수 (Y)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dirty="0">
                <a:solidFill>
                  <a:srgbClr val="334155"/>
                </a:solidFill>
              </a:rPr>
              <a:t>덕선이 호감도 점수 (1~5점)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en-US" sz="900" i="1" dirty="0">
                <a:solidFill>
                  <a:srgbClr val="64748B"/>
                </a:solidFill>
              </a:rPr>
              <a:t>5, 2, 3, 5, 1</a:t>
            </a:r>
          </a:p>
        </p:txBody>
      </p:sp>
      <p:sp>
        <p:nvSpPr>
          <p:cNvPr id="17" name="Text 14"/>
          <p:cNvSpPr/>
          <p:nvPr/>
        </p:nvSpPr>
        <p:spPr>
          <a:xfrm>
            <a:off x="584200" y="2374900"/>
            <a:ext cx="2260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00" b="1" dirty="0">
                <a:solidFill>
                  <a:srgbClr val="990000"/>
                </a:solidFill>
              </a:rPr>
              <a:t>► 독립변수 (X, 4명)</a:t>
            </a:r>
          </a:p>
          <a:p>
            <a:pPr marL="114300" indent="-114300">
              <a:spcBef>
                <a:spcPts val="100"/>
              </a:spcBef>
              <a:buFont typeface="Arial"/>
              <a:buChar char="·"/>
            </a:pPr>
            <a:r>
              <a:rPr lang="ko-KR" sz="950" dirty="0">
                <a:solidFill>
                  <a:srgbClr val="334155"/>
                </a:solidFill>
              </a:rPr>
              <a:t>택이: 3,1,5,5,4  /  동룡: 5,4,2,5,1</a:t>
            </a:r>
          </a:p>
          <a:p>
            <a:pPr marL="114300" indent="-114300">
              <a:spcBef>
                <a:spcPts val="100"/>
              </a:spcBef>
              <a:buFont typeface="Arial"/>
              <a:buChar char="·"/>
            </a:pPr>
            <a:r>
              <a:rPr lang="ko-KR" sz="950" dirty="0">
                <a:solidFill>
                  <a:srgbClr val="334155"/>
                </a:solidFill>
              </a:rPr>
              <a:t>정환: 5,5,4,3,2  /  선우: 3,2,3,4,5</a:t>
            </a:r>
          </a:p>
        </p:txBody>
      </p:sp>
      <p:sp>
        <p:nvSpPr>
          <p:cNvPr id="18" name="Text 15"/>
          <p:cNvSpPr/>
          <p:nvPr/>
        </p:nvSpPr>
        <p:spPr>
          <a:xfrm>
            <a:off x="584200" y="3078005"/>
            <a:ext cx="2260600" cy="82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00" b="1" dirty="0">
                <a:solidFill>
                  <a:srgbClr val="990000"/>
                </a:solidFill>
              </a:rPr>
              <a:t>► 상관 행렬 결과</a:t>
            </a:r>
          </a:p>
          <a:p>
            <a:pPr marL="114300" indent="-114300">
              <a:spcBef>
                <a:spcPts val="100"/>
              </a:spcBef>
              <a:buFont typeface="Arial"/>
              <a:buChar char="·"/>
            </a:pPr>
            <a:r>
              <a:rPr lang="ko-KR" sz="950" dirty="0">
                <a:solidFill>
                  <a:srgbClr val="334155"/>
                </a:solidFill>
              </a:rPr>
              <a:t>동룡: r = </a:t>
            </a:r>
            <a:r>
              <a:rPr lang="en-US" sz="950" b="1" dirty="0">
                <a:solidFill>
                  <a:srgbClr val="990000"/>
                </a:solidFill>
              </a:rPr>
              <a:t>0.815</a:t>
            </a:r>
            <a:r>
              <a:rPr lang="ko-KR" sz="950" dirty="0">
                <a:solidFill>
                  <a:srgbClr val="334155"/>
                </a:solidFill>
              </a:rPr>
              <a:t> ★최강</a:t>
            </a:r>
          </a:p>
          <a:p>
            <a:pPr marL="114300" indent="-114300">
              <a:spcBef>
                <a:spcPts val="100"/>
              </a:spcBef>
              <a:buFont typeface="Arial"/>
              <a:buChar char="·"/>
            </a:pPr>
            <a:r>
              <a:rPr lang="ko-KR" sz="950" dirty="0">
                <a:solidFill>
                  <a:srgbClr val="334155"/>
                </a:solidFill>
              </a:rPr>
              <a:t>정환 0.343 / 택이 0.284 / 선우 -0.172</a:t>
            </a:r>
          </a:p>
        </p:txBody>
      </p:sp>
      <p:sp>
        <p:nvSpPr>
          <p:cNvPr id="19" name="Shape 16"/>
          <p:cNvSpPr/>
          <p:nvPr/>
        </p:nvSpPr>
        <p:spPr>
          <a:xfrm>
            <a:off x="3289300" y="1320800"/>
            <a:ext cx="25781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289300" y="1320800"/>
            <a:ext cx="25781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443630" y="1457554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R 프로그래밍</a:t>
            </a:r>
          </a:p>
        </p:txBody>
      </p:sp>
      <p:sp>
        <p:nvSpPr>
          <p:cNvPr id="22" name="Text 19"/>
          <p:cNvSpPr/>
          <p:nvPr/>
        </p:nvSpPr>
        <p:spPr>
          <a:xfrm>
            <a:off x="3443630" y="1621231"/>
            <a:ext cx="225765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50" dirty="0">
                <a:solidFill>
                  <a:srgbClr val="64748B"/>
                </a:solidFill>
              </a:rPr>
              <a:t>R Programming</a:t>
            </a:r>
          </a:p>
        </p:txBody>
      </p:sp>
      <p:sp>
        <p:nvSpPr>
          <p:cNvPr id="23" name="Shape 20"/>
          <p:cNvSpPr/>
          <p:nvPr/>
        </p:nvSpPr>
        <p:spPr>
          <a:xfrm>
            <a:off x="3443630" y="1764792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441700" y="1854200"/>
            <a:ext cx="2260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50" b="1" dirty="0">
                <a:solidFill>
                  <a:srgbClr val="274E78"/>
                </a:solidFill>
              </a:rPr>
              <a:t># 데이터 입력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deoksun &lt;- c(5,2,3,5,1)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taek &lt;- c(3,1,5,5,4)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dong &lt;- c(5,4,2,5,1) ; jung &lt;- c(5,5,4,3,2)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sun  &lt;- c(3,2,3,4,5)</a:t>
            </a:r>
          </a:p>
        </p:txBody>
      </p:sp>
      <p:sp>
        <p:nvSpPr>
          <p:cNvPr id="25" name="Text 22"/>
          <p:cNvSpPr/>
          <p:nvPr/>
        </p:nvSpPr>
        <p:spPr>
          <a:xfrm>
            <a:off x="3441700" y="2717800"/>
            <a:ext cx="2260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50" b="1" dirty="0">
                <a:solidFill>
                  <a:srgbClr val="274E78"/>
                </a:solidFill>
              </a:rPr>
              <a:t># 상관행렬 출력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df &lt;- data.frame(deoksun,taek,dong,jung,sun)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cor(df)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cor.test(deoksun, dong)</a:t>
            </a:r>
          </a:p>
        </p:txBody>
      </p:sp>
      <p:sp>
        <p:nvSpPr>
          <p:cNvPr id="26" name="Text 23"/>
          <p:cNvSpPr/>
          <p:nvPr/>
        </p:nvSpPr>
        <p:spPr>
          <a:xfrm>
            <a:off x="3441700" y="3416300"/>
            <a:ext cx="2260600" cy="76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50" b="1" dirty="0">
                <a:solidFill>
                  <a:srgbClr val="274E78"/>
                </a:solidFill>
              </a:rPr>
              <a:t># 다중공선성 확인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990000"/>
                </a:solidFill>
              </a:rPr>
              <a:t>cor(sun, jung)  # = -0.942 !</a:t>
            </a:r>
          </a:p>
          <a:p>
            <a:pPr>
              <a:spcBef>
                <a:spcPts val="100"/>
              </a:spcBef>
              <a:buNone/>
            </a:pPr>
            <a:r>
              <a:rPr lang="ko-KR" sz="900" i="1" dirty="0">
                <a:solidFill>
                  <a:srgbClr val="64748B"/>
                </a:solidFill>
              </a:rPr>
              <a:t>→ 선우 제외 후 회귀분석</a:t>
            </a:r>
          </a:p>
          <a:p>
            <a:pPr>
              <a:spcBef>
                <a:spcPts val="100"/>
              </a:spcBef>
              <a:buNone/>
            </a:pPr>
            <a:r>
              <a:rPr lang="en-US" sz="900" dirty="0">
                <a:solidFill>
                  <a:srgbClr val="274E78"/>
                </a:solidFill>
              </a:rPr>
              <a:t>lm(deoksun ~ taek+dong+jung)</a:t>
            </a:r>
          </a:p>
        </p:txBody>
      </p:sp>
      <p:sp>
        <p:nvSpPr>
          <p:cNvPr id="27" name="Shape 24"/>
          <p:cNvSpPr/>
          <p:nvPr/>
        </p:nvSpPr>
        <p:spPr>
          <a:xfrm>
            <a:off x="6146800" y="1320800"/>
            <a:ext cx="25781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146800" y="1320800"/>
            <a:ext cx="25781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301130" y="1457554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엑셀 분석</a:t>
            </a:r>
          </a:p>
        </p:txBody>
      </p:sp>
      <p:sp>
        <p:nvSpPr>
          <p:cNvPr id="30" name="Text 27"/>
          <p:cNvSpPr/>
          <p:nvPr/>
        </p:nvSpPr>
        <p:spPr>
          <a:xfrm>
            <a:off x="6301130" y="1621231"/>
            <a:ext cx="225765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50" dirty="0">
                <a:solidFill>
                  <a:srgbClr val="64748B"/>
                </a:solidFill>
              </a:rPr>
              <a:t>Excel</a:t>
            </a:r>
          </a:p>
        </p:txBody>
      </p:sp>
      <p:sp>
        <p:nvSpPr>
          <p:cNvPr id="31" name="Shape 28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pPr>
              <a:buNone/>
            </a:pPr>
            <a:endParaRPr lang="ko-KR" dirty="0"/>
          </a:p>
        </p:txBody>
      </p:sp>
      <p:sp>
        <p:nvSpPr>
          <p:cNvPr id="32" name="Text 29"/>
          <p:cNvSpPr/>
          <p:nvPr/>
        </p:nvSpPr>
        <p:spPr>
          <a:xfrm>
            <a:off x="6299200" y="1854200"/>
            <a:ext cx="2260600" cy="7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00" b="1" dirty="0">
                <a:solidFill>
                  <a:srgbClr val="990000"/>
                </a:solidFill>
              </a:rPr>
              <a:t>① 상관 분석 결과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b="1" dirty="0">
                <a:solidFill>
                  <a:srgbClr val="990000"/>
                </a:solidFill>
              </a:rPr>
              <a:t>동룡 r=0.815</a:t>
            </a:r>
            <a:r>
              <a:rPr lang="ko-KR" sz="950" dirty="0">
                <a:solidFill>
                  <a:srgbClr val="334155"/>
                </a:solidFill>
              </a:rPr>
              <a:t>: 강한 양의 상관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dirty="0">
                <a:solidFill>
                  <a:srgbClr val="334155"/>
                </a:solidFill>
              </a:rPr>
              <a:t>정환 0.343 / 택이 0.284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dirty="0">
                <a:solidFill>
                  <a:srgbClr val="334155"/>
                </a:solidFill>
              </a:rPr>
              <a:t>선우 r=-0.172 (반대 취향)</a:t>
            </a:r>
          </a:p>
        </p:txBody>
      </p:sp>
      <p:sp>
        <p:nvSpPr>
          <p:cNvPr id="33" name="Text 30"/>
          <p:cNvSpPr/>
          <p:nvPr/>
        </p:nvSpPr>
        <p:spPr>
          <a:xfrm>
            <a:off x="6299200" y="2602770"/>
            <a:ext cx="2260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00" b="1" dirty="0">
                <a:solidFill>
                  <a:srgbClr val="990000"/>
                </a:solidFill>
              </a:rPr>
              <a:t>② 다중공선성 발견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dirty="0">
                <a:solidFill>
                  <a:srgbClr val="334155"/>
                </a:solidFill>
              </a:rPr>
              <a:t>선우-정환 r = </a:t>
            </a:r>
            <a:r>
              <a:rPr lang="en-US" sz="950" b="1" dirty="0">
                <a:solidFill>
                  <a:srgbClr val="990000"/>
                </a:solidFill>
              </a:rPr>
              <a:t>-0.942</a:t>
            </a:r>
            <a:r>
              <a:rPr lang="ko-KR" sz="950" dirty="0">
                <a:solidFill>
                  <a:srgbClr val="334155"/>
                </a:solidFill>
              </a:rPr>
              <a:t> → 위험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dirty="0">
                <a:solidFill>
                  <a:srgbClr val="334155"/>
                </a:solidFill>
              </a:rPr>
              <a:t>정환 남기고 선우 제외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dirty="0">
                <a:solidFill>
                  <a:srgbClr val="334155"/>
                </a:solidFill>
              </a:rPr>
              <a:t>재분석: R² = 0.970 (97% 설명)</a:t>
            </a:r>
          </a:p>
        </p:txBody>
      </p:sp>
      <p:sp>
        <p:nvSpPr>
          <p:cNvPr id="34" name="Text 31"/>
          <p:cNvSpPr/>
          <p:nvPr/>
        </p:nvSpPr>
        <p:spPr>
          <a:xfrm>
            <a:off x="6293201" y="3378200"/>
            <a:ext cx="2260600" cy="602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000" b="1" dirty="0">
                <a:solidFill>
                  <a:srgbClr val="990000"/>
                </a:solidFill>
              </a:rPr>
              <a:t>③ 최종 결론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b="1" dirty="0">
                <a:solidFill>
                  <a:srgbClr val="990000"/>
                </a:solidFill>
              </a:rPr>
              <a:t>동룡 계수 0.815 </a:t>
            </a:r>
            <a:r>
              <a:rPr lang="ko-KR" sz="950" dirty="0">
                <a:solidFill>
                  <a:srgbClr val="334155"/>
                </a:solidFill>
              </a:rPr>
              <a:t>= 영향력 1위</a:t>
            </a:r>
          </a:p>
          <a:p>
            <a:pPr marL="114300" indent="-114300">
              <a:spcBef>
                <a:spcPts val="100"/>
              </a:spcBef>
              <a:buFont typeface="Arial"/>
              <a:buChar char="▪"/>
            </a:pPr>
            <a:r>
              <a:rPr lang="ko-KR" sz="950" dirty="0">
                <a:solidFill>
                  <a:srgbClr val="334155"/>
                </a:solidFill>
              </a:rPr>
              <a:t>덕선이 최적 남편 = </a:t>
            </a:r>
            <a:r>
              <a:rPr lang="ko-KR" sz="950" b="1" dirty="0">
                <a:solidFill>
                  <a:srgbClr val="1E293B"/>
                </a:solidFill>
              </a:rPr>
              <a:t>동룡</a:t>
            </a:r>
          </a:p>
        </p:txBody>
      </p:sp>
      <p:sp>
        <p:nvSpPr>
          <p:cNvPr id="35" name="Shape 32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7" name="Text 34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00" dirty="0">
                <a:solidFill>
                  <a:srgbClr val="64748B"/>
                </a:solidFill>
              </a:rPr>
              <a:t>4 / 7</a:t>
            </a:r>
          </a:p>
        </p:txBody>
      </p:sp>
      <p:pic>
        <p:nvPicPr>
          <p:cNvPr id="39" name="Picture 4" descr="서강대학교 - 더시드위키">
            <a:extLst>
              <a:ext uri="{FF2B5EF4-FFF2-40B4-BE49-F238E27FC236}">
                <a16:creationId xmlns:a16="http://schemas.microsoft.com/office/drawing/2014/main" id="{7A64F662-3F7E-1E8F-3030-8749DB25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867C6559-CE74-0CEF-8036-145BB4FC747F}"/>
              </a:ext>
            </a:extLst>
          </p:cNvPr>
          <p:cNvSpPr/>
          <p:nvPr/>
        </p:nvSpPr>
        <p:spPr>
          <a:xfrm>
            <a:off x="6296147" y="1752903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0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05. 실제 연구 적용 사례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REAL-WORLD RESEARCH APPLICATION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4604004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00500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논문 사례: 다중공선성 탐지 기법 비교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9846" y="1459150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Font typeface="Arial"/>
              <a:buChar char="▪"/>
            </a:pPr>
            <a:r>
              <a:rPr lang="ko-KR" sz="1050" b="1" dirty="0">
                <a:solidFill>
                  <a:srgbClr val="990000"/>
                </a:solidFill>
              </a:rPr>
              <a:t>출처: </a:t>
            </a:r>
            <a:r>
              <a:rPr lang="ko-KR" sz="1050" dirty="0">
                <a:solidFill>
                  <a:srgbClr val="334155"/>
                </a:solidFill>
              </a:rPr>
              <a:t>Shrestha (2020), Am. J. Applied Math. &amp; Statistics, 8(2), 39-42</a:t>
            </a:r>
          </a:p>
        </p:txBody>
      </p:sp>
      <p:sp>
        <p:nvSpPr>
          <p:cNvPr id="13" name="Text 10"/>
          <p:cNvSpPr/>
          <p:nvPr/>
        </p:nvSpPr>
        <p:spPr>
          <a:xfrm>
            <a:off x="599846" y="181827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Font typeface="Arial"/>
              <a:buChar char="▪"/>
            </a:pPr>
            <a:r>
              <a:rPr lang="ko-KR" sz="1050" b="1" dirty="0">
                <a:solidFill>
                  <a:srgbClr val="990000"/>
                </a:solidFill>
              </a:rPr>
              <a:t>목적: </a:t>
            </a:r>
            <a:r>
              <a:rPr lang="ko-KR" sz="1050" dirty="0">
                <a:solidFill>
                  <a:srgbClr val="334155"/>
                </a:solidFill>
              </a:rPr>
              <a:t>스마트폰 고객만족도 설문 데이터로 다중공선성 탐지 기법 3종 비교</a:t>
            </a:r>
          </a:p>
        </p:txBody>
      </p:sp>
      <p:sp>
        <p:nvSpPr>
          <p:cNvPr id="14" name="Text 11"/>
          <p:cNvSpPr/>
          <p:nvPr/>
        </p:nvSpPr>
        <p:spPr>
          <a:xfrm>
            <a:off x="599846" y="2177404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Font typeface="Arial"/>
              <a:buChar char="▪"/>
            </a:pPr>
            <a:r>
              <a:rPr lang="ko-KR" sz="1050" b="1" dirty="0">
                <a:solidFill>
                  <a:srgbClr val="990000"/>
                </a:solidFill>
              </a:rPr>
              <a:t>방법: </a:t>
            </a:r>
            <a:r>
              <a:rPr lang="ko-KR" sz="1050" dirty="0">
                <a:solidFill>
                  <a:srgbClr val="334155"/>
                </a:solidFill>
              </a:rPr>
              <a:t>상관계수 행렬 → VIF → 고유값(Eigenvalue) 순으로 다중공선성 진단</a:t>
            </a:r>
          </a:p>
        </p:txBody>
      </p:sp>
      <p:sp>
        <p:nvSpPr>
          <p:cNvPr id="15" name="Text 12"/>
          <p:cNvSpPr/>
          <p:nvPr/>
        </p:nvSpPr>
        <p:spPr>
          <a:xfrm>
            <a:off x="599846" y="2540233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Font typeface="Arial"/>
              <a:buChar char="▪"/>
            </a:pPr>
            <a:r>
              <a:rPr lang="ko-KR" sz="1050" b="1" dirty="0">
                <a:solidFill>
                  <a:srgbClr val="990000"/>
                </a:solidFill>
              </a:rPr>
              <a:t>결과: </a:t>
            </a:r>
            <a:r>
              <a:rPr lang="ko-KR" sz="1050" dirty="0">
                <a:solidFill>
                  <a:srgbClr val="334155"/>
                </a:solidFill>
              </a:rPr>
              <a:t>제품 매력도가 고객만족의 가장 강력한 예측 변수; VIF≤5 확인 후 회귀 최종 해석</a:t>
            </a:r>
          </a:p>
        </p:txBody>
      </p:sp>
      <p:sp>
        <p:nvSpPr>
          <p:cNvPr id="16" name="Shape 13"/>
          <p:cNvSpPr/>
          <p:nvPr/>
        </p:nvSpPr>
        <p:spPr>
          <a:xfrm>
            <a:off x="599846" y="2974181"/>
            <a:ext cx="3657600" cy="73604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85800" y="3037629"/>
            <a:ext cx="3514954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sz="1000" b="1" dirty="0">
                <a:solidFill>
                  <a:sysClr val="windowText" lastClr="000000"/>
                </a:solidFill>
              </a:rPr>
              <a:t>💡 상관분석 → 상관 확인 후 회귀분석으로 인과 방향·강도를 검증하는 것이 연구의 표준 절차</a:t>
            </a:r>
          </a:p>
          <a:p>
            <a:pPr>
              <a:buNone/>
            </a:pPr>
            <a:r>
              <a:rPr lang="ko-KR" sz="800" dirty="0">
                <a:solidFill>
                  <a:sysClr val="windowText" lastClr="000000"/>
                </a:solidFill>
              </a:rPr>
              <a:t>주의: 상관이 높다고 인과관계가 성립하는 건 아님 (예: 아이스크림 판매 ↑ ↔ 익사 사고 ↑ — 여름이라는 제3 변수 때문)</a:t>
            </a:r>
          </a:p>
        </p:txBody>
      </p:sp>
      <p:sp>
        <p:nvSpPr>
          <p:cNvPr id="19" name="Shape 16"/>
          <p:cNvSpPr/>
          <p:nvPr/>
        </p:nvSpPr>
        <p:spPr>
          <a:xfrm>
            <a:off x="4714646" y="929030"/>
            <a:ext cx="4000500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886554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상관분석 활용 절차</a:t>
            </a:r>
          </a:p>
        </p:txBody>
      </p:sp>
      <p:sp>
        <p:nvSpPr>
          <p:cNvPr id="22" name="Shape 19"/>
          <p:cNvSpPr/>
          <p:nvPr/>
        </p:nvSpPr>
        <p:spPr>
          <a:xfrm>
            <a:off x="4886554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886554" y="1399946"/>
            <a:ext cx="3657600" cy="2572207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958921" y="1456069"/>
            <a:ext cx="3519453" cy="1474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①"/>
            </a:pPr>
            <a:r>
              <a:rPr lang="ko-KR" sz="1050" b="1" dirty="0">
                <a:solidFill>
                  <a:srgbClr val="990000"/>
                </a:solidFill>
              </a:rPr>
              <a:t>데이터 수집 &amp; 산점도 시각화</a:t>
            </a:r>
            <a:r>
              <a:rPr lang="ko-KR" sz="1000" dirty="0">
                <a:solidFill>
                  <a:srgbClr val="64748B"/>
                </a:solidFill>
              </a:rPr>
              <a:t> → 선형성·이상치 확인</a:t>
            </a:r>
          </a:p>
          <a:p>
            <a:pPr marL="228600" indent="-228600">
              <a:buFont typeface="Arial"/>
              <a:buChar char="②"/>
            </a:pPr>
            <a:r>
              <a:rPr lang="ko-KR" sz="1050" b="1" dirty="0">
                <a:solidFill>
                  <a:srgbClr val="990000"/>
                </a:solidFill>
              </a:rPr>
              <a:t>정규성 검정 (Shapiro-Wilk)</a:t>
            </a:r>
            <a:r>
              <a:rPr lang="ko-KR" sz="1000" dirty="0">
                <a:solidFill>
                  <a:srgbClr val="64748B"/>
                </a:solidFill>
              </a:rPr>
              <a:t> → 계수 방법 선택</a:t>
            </a:r>
          </a:p>
          <a:p>
            <a:pPr marL="228600" indent="-228600">
              <a:buFont typeface="Arial"/>
              <a:buChar char="③"/>
            </a:pPr>
            <a:r>
              <a:rPr lang="ko-KR" sz="1050" b="1" dirty="0">
                <a:solidFill>
                  <a:srgbClr val="990000"/>
                </a:solidFill>
              </a:rPr>
              <a:t>상관계수(r) 계산 &amp; p값 확인</a:t>
            </a:r>
            <a:r>
              <a:rPr lang="ko-KR" sz="1000" dirty="0">
                <a:solidFill>
                  <a:srgbClr val="64748B"/>
                </a:solidFill>
              </a:rPr>
              <a:t> → p &lt; 0.05 유의</a:t>
            </a:r>
          </a:p>
          <a:p>
            <a:pPr marL="228600" indent="-228600">
              <a:buFont typeface="Arial"/>
              <a:buChar char="④"/>
            </a:pPr>
            <a:r>
              <a:rPr lang="ko-KR" sz="1050" b="1" dirty="0">
                <a:solidFill>
                  <a:srgbClr val="990000"/>
                </a:solidFill>
              </a:rPr>
              <a:t>결과 해석 &amp; 후속 분석 결정</a:t>
            </a:r>
            <a:r>
              <a:rPr lang="ko-KR" sz="1000" dirty="0">
                <a:solidFill>
                  <a:srgbClr val="64748B"/>
                </a:solidFill>
              </a:rPr>
              <a:t> → 강한 상관 시 회귀분석 진행</a:t>
            </a:r>
          </a:p>
          <a:p>
            <a:pPr>
              <a:buNone/>
            </a:pPr>
            <a:r>
              <a:rPr lang="ko-KR" sz="950" dirty="0">
                <a:solidFill>
                  <a:srgbClr val="94A3B8"/>
                </a:solidFill>
              </a:rPr>
              <a:t> </a:t>
            </a:r>
          </a:p>
          <a:p>
            <a:pPr>
              <a:buNone/>
            </a:pPr>
            <a:r>
              <a:rPr lang="ko-KR" altLang="en-US" sz="1000" b="1" dirty="0">
                <a:solidFill>
                  <a:srgbClr val="990000"/>
                </a:solidFill>
              </a:rPr>
              <a:t> </a:t>
            </a:r>
            <a:r>
              <a:rPr lang="ko-KR" sz="1000" b="1" dirty="0">
                <a:solidFill>
                  <a:srgbClr val="990000"/>
                </a:solidFill>
              </a:rPr>
              <a:t>연구 포인트:</a:t>
            </a:r>
            <a:r>
              <a:rPr lang="ko-KR" sz="1000" dirty="0">
                <a:solidFill>
                  <a:srgbClr val="334155"/>
                </a:solidFill>
              </a:rPr>
              <a:t> </a:t>
            </a:r>
            <a:endParaRPr lang="en-US" altLang="ko-KR" sz="1000" dirty="0">
              <a:solidFill>
                <a:srgbClr val="334155"/>
              </a:solidFill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334155"/>
                </a:solidFill>
              </a:rPr>
              <a:t> </a:t>
            </a:r>
            <a:r>
              <a:rPr lang="en-US" altLang="ko-KR" sz="1000" dirty="0">
                <a:solidFill>
                  <a:srgbClr val="334155"/>
                </a:solidFill>
              </a:rPr>
              <a:t>-</a:t>
            </a:r>
            <a:r>
              <a:rPr lang="ko-KR" altLang="en-US" sz="1000" dirty="0">
                <a:solidFill>
                  <a:srgbClr val="334155"/>
                </a:solidFill>
              </a:rPr>
              <a:t> </a:t>
            </a:r>
            <a:r>
              <a:rPr lang="ko-KR" sz="1000" dirty="0">
                <a:solidFill>
                  <a:srgbClr val="334155"/>
                </a:solidFill>
              </a:rPr>
              <a:t>상관분석은 단독으로 인과관계를 입증할 수 없으며, </a:t>
            </a:r>
            <a:r>
              <a:rPr lang="ko-KR" altLang="en-US" sz="1000" dirty="0">
                <a:solidFill>
                  <a:srgbClr val="334155"/>
                </a:solidFill>
              </a:rPr>
              <a:t> </a:t>
            </a:r>
            <a:r>
              <a:rPr lang="ko-KR" sz="1000" dirty="0">
                <a:solidFill>
                  <a:srgbClr val="334155"/>
                </a:solidFill>
              </a:rPr>
              <a:t>회귀분석의 탐색적 선행 단계로 활용됩니다.</a:t>
            </a:r>
          </a:p>
        </p:txBody>
      </p:sp>
      <p:sp>
        <p:nvSpPr>
          <p:cNvPr id="25" name="Shape 22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 24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00" dirty="0">
                <a:solidFill>
                  <a:srgbClr val="64748B"/>
                </a:solidFill>
              </a:rPr>
              <a:t>5 / 7</a:t>
            </a:r>
          </a:p>
        </p:txBody>
      </p:sp>
      <p:pic>
        <p:nvPicPr>
          <p:cNvPr id="29" name="Picture 4" descr="서강대학교 - 더시드위키">
            <a:extLst>
              <a:ext uri="{FF2B5EF4-FFF2-40B4-BE49-F238E27FC236}">
                <a16:creationId xmlns:a16="http://schemas.microsoft.com/office/drawing/2014/main" id="{B55D6457-7FB0-26E9-C210-123FAB0B5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46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06. 상관분석의 한계점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LIMITATIONS OF CORRELATION ANALYSIS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5524805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2572207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6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주요 한계점</a:t>
            </a:r>
          </a:p>
        </p:txBody>
      </p:sp>
      <p:sp>
        <p:nvSpPr>
          <p:cNvPr id="11" name="Shape 8"/>
          <p:cNvSpPr/>
          <p:nvPr/>
        </p:nvSpPr>
        <p:spPr>
          <a:xfrm>
            <a:off x="586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86130" y="1399946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57454" y="1399946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1E293B"/>
                </a:solidFill>
              </a:rPr>
              <a:t>한계</a:t>
            </a:r>
          </a:p>
        </p:txBody>
      </p:sp>
      <p:sp>
        <p:nvSpPr>
          <p:cNvPr id="14" name="Text 11"/>
          <p:cNvSpPr/>
          <p:nvPr/>
        </p:nvSpPr>
        <p:spPr>
          <a:xfrm>
            <a:off x="586130" y="1557223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①</a:t>
            </a:r>
          </a:p>
        </p:txBody>
      </p:sp>
      <p:sp>
        <p:nvSpPr>
          <p:cNvPr id="15" name="Text 12"/>
          <p:cNvSpPr/>
          <p:nvPr/>
        </p:nvSpPr>
        <p:spPr>
          <a:xfrm>
            <a:off x="743752" y="1557223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상관 ≠ 인과관계</a:t>
            </a:r>
          </a:p>
        </p:txBody>
      </p:sp>
      <p:sp>
        <p:nvSpPr>
          <p:cNvPr id="16" name="Shape 13"/>
          <p:cNvSpPr/>
          <p:nvPr/>
        </p:nvSpPr>
        <p:spPr>
          <a:xfrm>
            <a:off x="586130" y="1699870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86130" y="1714500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②</a:t>
            </a:r>
          </a:p>
        </p:txBody>
      </p:sp>
      <p:sp>
        <p:nvSpPr>
          <p:cNvPr id="18" name="Text 15"/>
          <p:cNvSpPr/>
          <p:nvPr/>
        </p:nvSpPr>
        <p:spPr>
          <a:xfrm>
            <a:off x="743752" y="1714500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이상치에 민감 (r 왜곡)</a:t>
            </a:r>
          </a:p>
        </p:txBody>
      </p:sp>
      <p:sp>
        <p:nvSpPr>
          <p:cNvPr id="19" name="Shape 16"/>
          <p:cNvSpPr/>
          <p:nvPr/>
        </p:nvSpPr>
        <p:spPr>
          <a:xfrm>
            <a:off x="586130" y="1857146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86130" y="1871777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③</a:t>
            </a:r>
          </a:p>
        </p:txBody>
      </p:sp>
      <p:sp>
        <p:nvSpPr>
          <p:cNvPr id="21" name="Text 18"/>
          <p:cNvSpPr/>
          <p:nvPr/>
        </p:nvSpPr>
        <p:spPr>
          <a:xfrm>
            <a:off x="743752" y="1871777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선형 관계만 포착 가능</a:t>
            </a:r>
          </a:p>
        </p:txBody>
      </p:sp>
      <p:sp>
        <p:nvSpPr>
          <p:cNvPr id="22" name="Shape 19"/>
          <p:cNvSpPr/>
          <p:nvPr/>
        </p:nvSpPr>
        <p:spPr>
          <a:xfrm>
            <a:off x="586130" y="2014423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86130" y="2029054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④</a:t>
            </a:r>
          </a:p>
        </p:txBody>
      </p:sp>
      <p:sp>
        <p:nvSpPr>
          <p:cNvPr id="24" name="Text 21"/>
          <p:cNvSpPr/>
          <p:nvPr/>
        </p:nvSpPr>
        <p:spPr>
          <a:xfrm>
            <a:off x="743752" y="2029054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제3변수 허위 상관 위험</a:t>
            </a:r>
          </a:p>
        </p:txBody>
      </p:sp>
      <p:sp>
        <p:nvSpPr>
          <p:cNvPr id="25" name="Shape 22"/>
          <p:cNvSpPr/>
          <p:nvPr/>
        </p:nvSpPr>
        <p:spPr>
          <a:xfrm>
            <a:off x="586130" y="2171700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586130" y="2243023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57454" y="2243023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1E293B"/>
                </a:solidFill>
              </a:rPr>
              <a:t>추가</a:t>
            </a:r>
          </a:p>
        </p:txBody>
      </p:sp>
      <p:sp>
        <p:nvSpPr>
          <p:cNvPr id="28" name="Text 25"/>
          <p:cNvSpPr/>
          <p:nvPr/>
        </p:nvSpPr>
        <p:spPr>
          <a:xfrm>
            <a:off x="586130" y="2400300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⑤</a:t>
            </a:r>
          </a:p>
        </p:txBody>
      </p:sp>
      <p:sp>
        <p:nvSpPr>
          <p:cNvPr id="29" name="Text 26"/>
          <p:cNvSpPr/>
          <p:nvPr/>
        </p:nvSpPr>
        <p:spPr>
          <a:xfrm>
            <a:off x="737171" y="2400300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좁은 표본 → 과소 추정</a:t>
            </a:r>
          </a:p>
        </p:txBody>
      </p:sp>
      <p:sp>
        <p:nvSpPr>
          <p:cNvPr id="30" name="Shape 27"/>
          <p:cNvSpPr/>
          <p:nvPr/>
        </p:nvSpPr>
        <p:spPr>
          <a:xfrm>
            <a:off x="586130" y="2542946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86130" y="2557577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⑥</a:t>
            </a:r>
          </a:p>
        </p:txBody>
      </p:sp>
      <p:sp>
        <p:nvSpPr>
          <p:cNvPr id="32" name="Text 29"/>
          <p:cNvSpPr/>
          <p:nvPr/>
        </p:nvSpPr>
        <p:spPr>
          <a:xfrm>
            <a:off x="737171" y="2557577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소표본 유의성 어려움</a:t>
            </a:r>
          </a:p>
        </p:txBody>
      </p:sp>
      <p:sp>
        <p:nvSpPr>
          <p:cNvPr id="33" name="Shape 30"/>
          <p:cNvSpPr/>
          <p:nvPr/>
        </p:nvSpPr>
        <p:spPr>
          <a:xfrm>
            <a:off x="586130" y="2700223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586130" y="2714854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⑦</a:t>
            </a:r>
          </a:p>
        </p:txBody>
      </p:sp>
      <p:sp>
        <p:nvSpPr>
          <p:cNvPr id="35" name="Text 32"/>
          <p:cNvSpPr/>
          <p:nvPr/>
        </p:nvSpPr>
        <p:spPr>
          <a:xfrm>
            <a:off x="737171" y="2714854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명목척도 적용 불가</a:t>
            </a:r>
          </a:p>
        </p:txBody>
      </p:sp>
      <p:sp>
        <p:nvSpPr>
          <p:cNvPr id="36" name="Shape 33"/>
          <p:cNvSpPr/>
          <p:nvPr/>
        </p:nvSpPr>
        <p:spPr>
          <a:xfrm>
            <a:off x="586130" y="2857500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586130" y="2872130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⑧</a:t>
            </a:r>
          </a:p>
        </p:txBody>
      </p:sp>
      <p:sp>
        <p:nvSpPr>
          <p:cNvPr id="38" name="Text 35"/>
          <p:cNvSpPr/>
          <p:nvPr/>
        </p:nvSpPr>
        <p:spPr>
          <a:xfrm>
            <a:off x="737171" y="2872130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측정 오차 → r 과소</a:t>
            </a:r>
          </a:p>
        </p:txBody>
      </p:sp>
      <p:sp>
        <p:nvSpPr>
          <p:cNvPr id="39" name="Shape 36"/>
          <p:cNvSpPr/>
          <p:nvPr/>
        </p:nvSpPr>
        <p:spPr>
          <a:xfrm>
            <a:off x="586130" y="3014777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3286354" y="929030"/>
            <a:ext cx="2572207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32863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34436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한계 극복 대안</a:t>
            </a:r>
          </a:p>
        </p:txBody>
      </p:sp>
      <p:sp>
        <p:nvSpPr>
          <p:cNvPr id="43" name="Shape 40"/>
          <p:cNvSpPr/>
          <p:nvPr/>
        </p:nvSpPr>
        <p:spPr>
          <a:xfrm>
            <a:off x="34436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3443630" y="1399946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3514954" y="1399946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1E293B"/>
                </a:solidFill>
              </a:rPr>
              <a:t>대안</a:t>
            </a:r>
          </a:p>
        </p:txBody>
      </p:sp>
      <p:sp>
        <p:nvSpPr>
          <p:cNvPr id="46" name="Text 43"/>
          <p:cNvSpPr/>
          <p:nvPr/>
        </p:nvSpPr>
        <p:spPr>
          <a:xfrm>
            <a:off x="3443630" y="1557223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①</a:t>
            </a:r>
          </a:p>
        </p:txBody>
      </p:sp>
      <p:sp>
        <p:nvSpPr>
          <p:cNvPr id="47" name="Text 44"/>
          <p:cNvSpPr/>
          <p:nvPr/>
        </p:nvSpPr>
        <p:spPr>
          <a:xfrm>
            <a:off x="3607837" y="1557223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산점도로 시각화 먼저</a:t>
            </a:r>
          </a:p>
        </p:txBody>
      </p:sp>
      <p:sp>
        <p:nvSpPr>
          <p:cNvPr id="48" name="Shape 45"/>
          <p:cNvSpPr/>
          <p:nvPr/>
        </p:nvSpPr>
        <p:spPr>
          <a:xfrm>
            <a:off x="3443630" y="1699870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3443630" y="1714500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②</a:t>
            </a:r>
          </a:p>
        </p:txBody>
      </p:sp>
      <p:sp>
        <p:nvSpPr>
          <p:cNvPr id="50" name="Text 47"/>
          <p:cNvSpPr/>
          <p:nvPr/>
        </p:nvSpPr>
        <p:spPr>
          <a:xfrm>
            <a:off x="3607837" y="1714500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Spearman (비정규·서열)</a:t>
            </a:r>
          </a:p>
        </p:txBody>
      </p:sp>
      <p:sp>
        <p:nvSpPr>
          <p:cNvPr id="51" name="Shape 48"/>
          <p:cNvSpPr/>
          <p:nvPr/>
        </p:nvSpPr>
        <p:spPr>
          <a:xfrm>
            <a:off x="3443630" y="1857146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3443630" y="1871777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③</a:t>
            </a:r>
          </a:p>
        </p:txBody>
      </p:sp>
      <p:sp>
        <p:nvSpPr>
          <p:cNvPr id="53" name="Text 50"/>
          <p:cNvSpPr/>
          <p:nvPr/>
        </p:nvSpPr>
        <p:spPr>
          <a:xfrm>
            <a:off x="3607837" y="1871777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Kendall (소표본·동점)</a:t>
            </a:r>
          </a:p>
        </p:txBody>
      </p:sp>
      <p:sp>
        <p:nvSpPr>
          <p:cNvPr id="54" name="Shape 51"/>
          <p:cNvSpPr/>
          <p:nvPr/>
        </p:nvSpPr>
        <p:spPr>
          <a:xfrm>
            <a:off x="3443630" y="2014423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3443630" y="2029054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④</a:t>
            </a:r>
          </a:p>
        </p:txBody>
      </p:sp>
      <p:sp>
        <p:nvSpPr>
          <p:cNvPr id="56" name="Text 53"/>
          <p:cNvSpPr/>
          <p:nvPr/>
        </p:nvSpPr>
        <p:spPr>
          <a:xfrm>
            <a:off x="3607837" y="2029054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편상관계수 (제3변수 통제)</a:t>
            </a:r>
          </a:p>
        </p:txBody>
      </p:sp>
      <p:sp>
        <p:nvSpPr>
          <p:cNvPr id="57" name="Shape 54"/>
          <p:cNvSpPr/>
          <p:nvPr/>
        </p:nvSpPr>
        <p:spPr>
          <a:xfrm>
            <a:off x="3443630" y="2171700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3443630" y="2243023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3514954" y="2243023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1E293B"/>
                </a:solidFill>
              </a:rPr>
              <a:t>추가</a:t>
            </a:r>
          </a:p>
        </p:txBody>
      </p:sp>
      <p:sp>
        <p:nvSpPr>
          <p:cNvPr id="60" name="Text 57"/>
          <p:cNvSpPr/>
          <p:nvPr/>
        </p:nvSpPr>
        <p:spPr>
          <a:xfrm>
            <a:off x="3443630" y="2400300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⑤</a:t>
            </a:r>
          </a:p>
        </p:txBody>
      </p:sp>
      <p:sp>
        <p:nvSpPr>
          <p:cNvPr id="61" name="Text 58"/>
          <p:cNvSpPr/>
          <p:nvPr/>
        </p:nvSpPr>
        <p:spPr>
          <a:xfrm>
            <a:off x="3607837" y="2400300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회귀분석으로 인과 검증</a:t>
            </a:r>
          </a:p>
        </p:txBody>
      </p:sp>
      <p:sp>
        <p:nvSpPr>
          <p:cNvPr id="62" name="Shape 59"/>
          <p:cNvSpPr/>
          <p:nvPr/>
        </p:nvSpPr>
        <p:spPr>
          <a:xfrm>
            <a:off x="3443630" y="2542946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3443630" y="2557577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⑥</a:t>
            </a:r>
          </a:p>
        </p:txBody>
      </p:sp>
      <p:sp>
        <p:nvSpPr>
          <p:cNvPr id="64" name="Text 61"/>
          <p:cNvSpPr/>
          <p:nvPr/>
        </p:nvSpPr>
        <p:spPr>
          <a:xfrm>
            <a:off x="3607837" y="2557577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다변량 분석으로 복합 관계</a:t>
            </a:r>
          </a:p>
        </p:txBody>
      </p:sp>
      <p:sp>
        <p:nvSpPr>
          <p:cNvPr id="65" name="Shape 62"/>
          <p:cNvSpPr/>
          <p:nvPr/>
        </p:nvSpPr>
        <p:spPr>
          <a:xfrm>
            <a:off x="3443630" y="2700223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3443630" y="2714854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b="1" dirty="0">
                <a:solidFill>
                  <a:srgbClr val="990000"/>
                </a:solidFill>
              </a:rPr>
              <a:t>⑦</a:t>
            </a:r>
          </a:p>
        </p:txBody>
      </p:sp>
      <p:sp>
        <p:nvSpPr>
          <p:cNvPr id="67" name="Text 64"/>
          <p:cNvSpPr/>
          <p:nvPr/>
        </p:nvSpPr>
        <p:spPr>
          <a:xfrm>
            <a:off x="3607837" y="2714854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Bootstrap 소표본 신뢰구간</a:t>
            </a:r>
          </a:p>
        </p:txBody>
      </p:sp>
      <p:sp>
        <p:nvSpPr>
          <p:cNvPr id="68" name="Shape 65"/>
          <p:cNvSpPr/>
          <p:nvPr/>
        </p:nvSpPr>
        <p:spPr>
          <a:xfrm>
            <a:off x="3443630" y="2857500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143854" y="929030"/>
            <a:ext cx="2572207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6143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/>
          <p:nvPr/>
        </p:nvSpPr>
        <p:spPr>
          <a:xfrm>
            <a:off x="6301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200" b="1" dirty="0">
                <a:solidFill>
                  <a:srgbClr val="1E293B"/>
                </a:solidFill>
              </a:rPr>
              <a:t>핵심 원칙</a:t>
            </a:r>
          </a:p>
        </p:txBody>
      </p:sp>
      <p:sp>
        <p:nvSpPr>
          <p:cNvPr id="72" name="Shape 69"/>
          <p:cNvSpPr/>
          <p:nvPr/>
        </p:nvSpPr>
        <p:spPr>
          <a:xfrm>
            <a:off x="6301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0"/>
          <p:cNvSpPr/>
          <p:nvPr/>
        </p:nvSpPr>
        <p:spPr>
          <a:xfrm>
            <a:off x="6301130" y="1406523"/>
            <a:ext cx="2257654" cy="54315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1"/>
          <p:cNvSpPr/>
          <p:nvPr/>
        </p:nvSpPr>
        <p:spPr>
          <a:xfrm>
            <a:off x="6301130" y="1456815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/>
          <p:nvPr/>
        </p:nvSpPr>
        <p:spPr>
          <a:xfrm>
            <a:off x="6379769" y="1471270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상관 ≠ 인과</a:t>
            </a:r>
          </a:p>
        </p:txBody>
      </p:sp>
      <p:sp>
        <p:nvSpPr>
          <p:cNvPr id="76" name="Text 73"/>
          <p:cNvSpPr/>
          <p:nvPr/>
        </p:nvSpPr>
        <p:spPr>
          <a:xfrm>
            <a:off x="6379769" y="1687750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인과 해석 절대 금지</a:t>
            </a:r>
          </a:p>
          <a:p>
            <a:pPr>
              <a:buNone/>
            </a:pPr>
            <a:r>
              <a:rPr lang="ko-KR" sz="850" i="1" dirty="0">
                <a:solidFill>
                  <a:srgbClr val="64748B"/>
                </a:solidFill>
              </a:rPr>
              <a:t>ex) 신발 크기↑ ↔ 수학 성적↑ (나이가 원인)</a:t>
            </a:r>
          </a:p>
        </p:txBody>
      </p:sp>
      <p:sp>
        <p:nvSpPr>
          <p:cNvPr id="77" name="Shape 74"/>
          <p:cNvSpPr/>
          <p:nvPr/>
        </p:nvSpPr>
        <p:spPr>
          <a:xfrm>
            <a:off x="6301130" y="2014423"/>
            <a:ext cx="2257654" cy="54315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6301130" y="2064715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/>
          <p:nvPr/>
        </p:nvSpPr>
        <p:spPr>
          <a:xfrm>
            <a:off x="6379769" y="2091691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시각화 우선</a:t>
            </a:r>
          </a:p>
        </p:txBody>
      </p:sp>
      <p:sp>
        <p:nvSpPr>
          <p:cNvPr id="80" name="Text 77"/>
          <p:cNvSpPr/>
          <p:nvPr/>
        </p:nvSpPr>
        <p:spPr>
          <a:xfrm>
            <a:off x="6369253" y="2286000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산점도 → 분석 시작</a:t>
            </a:r>
          </a:p>
          <a:p>
            <a:pPr>
              <a:buNone/>
            </a:pPr>
            <a:r>
              <a:rPr lang="ko-KR" sz="850" i="1" dirty="0">
                <a:solidFill>
                  <a:srgbClr val="64748B"/>
                </a:solidFill>
              </a:rPr>
              <a:t>수치만 믿지 말고 눈으로 먼저 확인</a:t>
            </a:r>
          </a:p>
        </p:txBody>
      </p:sp>
      <p:sp>
        <p:nvSpPr>
          <p:cNvPr id="81" name="Shape 78"/>
          <p:cNvSpPr/>
          <p:nvPr/>
        </p:nvSpPr>
        <p:spPr>
          <a:xfrm>
            <a:off x="6300216" y="2628900"/>
            <a:ext cx="2257654" cy="54315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9"/>
          <p:cNvSpPr/>
          <p:nvPr/>
        </p:nvSpPr>
        <p:spPr>
          <a:xfrm>
            <a:off x="6301130" y="2686073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/>
          <p:nvPr/>
        </p:nvSpPr>
        <p:spPr>
          <a:xfrm>
            <a:off x="6369253" y="2671442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방법 선택</a:t>
            </a:r>
          </a:p>
        </p:txBody>
      </p:sp>
      <p:sp>
        <p:nvSpPr>
          <p:cNvPr id="84" name="Text 81"/>
          <p:cNvSpPr/>
          <p:nvPr/>
        </p:nvSpPr>
        <p:spPr>
          <a:xfrm>
            <a:off x="6369253" y="2864814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p값으로 유의성 확인</a:t>
            </a:r>
          </a:p>
          <a:p>
            <a:pPr>
              <a:buNone/>
            </a:pPr>
            <a:r>
              <a:rPr lang="ko-KR" sz="850" i="1" dirty="0">
                <a:solidFill>
                  <a:srgbClr val="64748B"/>
                </a:solidFill>
              </a:rPr>
              <a:t>p &lt; 0.05: 이 관계는 우연이 아님</a:t>
            </a:r>
          </a:p>
        </p:txBody>
      </p:sp>
      <p:sp>
        <p:nvSpPr>
          <p:cNvPr id="85" name="Shape 82"/>
          <p:cNvSpPr/>
          <p:nvPr/>
        </p:nvSpPr>
        <p:spPr>
          <a:xfrm>
            <a:off x="6301130" y="3236061"/>
            <a:ext cx="2257654" cy="54315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3"/>
          <p:cNvSpPr/>
          <p:nvPr/>
        </p:nvSpPr>
        <p:spPr>
          <a:xfrm>
            <a:off x="6301130" y="3286354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4"/>
          <p:cNvSpPr/>
          <p:nvPr/>
        </p:nvSpPr>
        <p:spPr>
          <a:xfrm>
            <a:off x="6369253" y="3293670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후속 분석</a:t>
            </a:r>
          </a:p>
        </p:txBody>
      </p:sp>
      <p:sp>
        <p:nvSpPr>
          <p:cNvPr id="88" name="Text 85"/>
          <p:cNvSpPr/>
          <p:nvPr/>
        </p:nvSpPr>
        <p:spPr>
          <a:xfrm>
            <a:off x="6369253" y="3491324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00" dirty="0">
                <a:solidFill>
                  <a:srgbClr val="334155"/>
                </a:solidFill>
              </a:rPr>
              <a:t>소수점 둘째 자리까지 보고</a:t>
            </a:r>
          </a:p>
          <a:p>
            <a:pPr>
              <a:buNone/>
            </a:pPr>
            <a:r>
              <a:rPr lang="ko-KR" sz="850" i="1" dirty="0">
                <a:solidFill>
                  <a:srgbClr val="64748B"/>
                </a:solidFill>
              </a:rPr>
              <a:t>실무/논문 표 가독성 기준</a:t>
            </a:r>
          </a:p>
        </p:txBody>
      </p:sp>
      <p:sp>
        <p:nvSpPr>
          <p:cNvPr id="89" name="Shape 86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00" dirty="0">
                <a:solidFill>
                  <a:srgbClr val="64748B"/>
                </a:solidFill>
              </a:rPr>
              <a:t>6 / 7</a:t>
            </a:r>
          </a:p>
        </p:txBody>
      </p:sp>
      <p:pic>
        <p:nvPicPr>
          <p:cNvPr id="93" name="Picture 4" descr="서강대학교 - 더시드위키">
            <a:extLst>
              <a:ext uri="{FF2B5EF4-FFF2-40B4-BE49-F238E27FC236}">
                <a16:creationId xmlns:a16="http://schemas.microsoft.com/office/drawing/2014/main" id="{FB0A9B8D-8095-6984-2874-D87801B3D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54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700" b="1" dirty="0">
                <a:solidFill>
                  <a:srgbClr val="1E293B"/>
                </a:solidFill>
              </a:rPr>
              <a:t>07. 참고문헌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000" dirty="0">
                <a:solidFill>
                  <a:srgbClr val="990000"/>
                </a:solidFill>
              </a:rPr>
              <a:t>REFERENCES &amp; FURTHER READING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6445606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1500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r</a:t>
            </a:r>
          </a:p>
        </p:txBody>
      </p:sp>
      <p:sp>
        <p:nvSpPr>
          <p:cNvPr id="11" name="Text 8"/>
          <p:cNvSpPr/>
          <p:nvPr/>
        </p:nvSpPr>
        <p:spPr>
          <a:xfrm>
            <a:off x="571500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Pearson 상관계수</a:t>
            </a:r>
          </a:p>
        </p:txBody>
      </p:sp>
      <p:sp>
        <p:nvSpPr>
          <p:cNvPr id="12" name="Text 9"/>
          <p:cNvSpPr/>
          <p:nvPr/>
        </p:nvSpPr>
        <p:spPr>
          <a:xfrm>
            <a:off x="571500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850" dirty="0">
                <a:solidFill>
                  <a:srgbClr val="334155"/>
                </a:solidFill>
              </a:rPr>
              <a:t>연속·정규 데이터 선형 상관</a:t>
            </a:r>
          </a:p>
        </p:txBody>
      </p:sp>
      <p:sp>
        <p:nvSpPr>
          <p:cNvPr id="13" name="Shape 10"/>
          <p:cNvSpPr/>
          <p:nvPr/>
        </p:nvSpPr>
        <p:spPr>
          <a:xfrm>
            <a:off x="2535631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535631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2679192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l-GR" sz="1400" b="1" dirty="0">
                <a:solidFill>
                  <a:srgbClr val="990000"/>
                </a:solidFill>
              </a:rPr>
              <a:t>ρ</a:t>
            </a:r>
          </a:p>
        </p:txBody>
      </p:sp>
      <p:sp>
        <p:nvSpPr>
          <p:cNvPr id="16" name="Text 13"/>
          <p:cNvSpPr/>
          <p:nvPr/>
        </p:nvSpPr>
        <p:spPr>
          <a:xfrm>
            <a:off x="2679192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Spearman 상관계수</a:t>
            </a:r>
          </a:p>
        </p:txBody>
      </p:sp>
      <p:sp>
        <p:nvSpPr>
          <p:cNvPr id="17" name="Text 14"/>
          <p:cNvSpPr/>
          <p:nvPr/>
        </p:nvSpPr>
        <p:spPr>
          <a:xfrm>
            <a:off x="2679192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850" dirty="0">
                <a:solidFill>
                  <a:srgbClr val="334155"/>
                </a:solidFill>
              </a:rPr>
              <a:t>서열·비정규 비모수 방법</a:t>
            </a:r>
          </a:p>
        </p:txBody>
      </p:sp>
      <p:sp>
        <p:nvSpPr>
          <p:cNvPr id="18" name="Shape 15"/>
          <p:cNvSpPr/>
          <p:nvPr/>
        </p:nvSpPr>
        <p:spPr>
          <a:xfrm>
            <a:off x="4643323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643323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785970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l-GR" sz="1400" b="1" dirty="0">
                <a:solidFill>
                  <a:srgbClr val="990000"/>
                </a:solidFill>
              </a:rPr>
              <a:t>τ</a:t>
            </a:r>
          </a:p>
        </p:txBody>
      </p:sp>
      <p:sp>
        <p:nvSpPr>
          <p:cNvPr id="21" name="Text 18"/>
          <p:cNvSpPr/>
          <p:nvPr/>
        </p:nvSpPr>
        <p:spPr>
          <a:xfrm>
            <a:off x="4785970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Kendall 상관계수</a:t>
            </a:r>
          </a:p>
        </p:txBody>
      </p:sp>
      <p:sp>
        <p:nvSpPr>
          <p:cNvPr id="22" name="Text 19"/>
          <p:cNvSpPr/>
          <p:nvPr/>
        </p:nvSpPr>
        <p:spPr>
          <a:xfrm>
            <a:off x="4785970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850" dirty="0">
                <a:solidFill>
                  <a:srgbClr val="334155"/>
                </a:solidFill>
              </a:rPr>
              <a:t>소표본·동점값 많을 때</a:t>
            </a:r>
          </a:p>
        </p:txBody>
      </p:sp>
      <p:sp>
        <p:nvSpPr>
          <p:cNvPr id="23" name="Shape 20"/>
          <p:cNvSpPr/>
          <p:nvPr/>
        </p:nvSpPr>
        <p:spPr>
          <a:xfrm>
            <a:off x="6751015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751015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893662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990000"/>
                </a:solidFill>
              </a:rPr>
              <a:t>r²</a:t>
            </a:r>
          </a:p>
        </p:txBody>
      </p:sp>
      <p:sp>
        <p:nvSpPr>
          <p:cNvPr id="26" name="Text 23"/>
          <p:cNvSpPr/>
          <p:nvPr/>
        </p:nvSpPr>
        <p:spPr>
          <a:xfrm>
            <a:off x="6893662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950" b="1" dirty="0">
                <a:solidFill>
                  <a:srgbClr val="1E293B"/>
                </a:solidFill>
              </a:rPr>
              <a:t>결정계수</a:t>
            </a:r>
          </a:p>
        </p:txBody>
      </p:sp>
      <p:sp>
        <p:nvSpPr>
          <p:cNvPr id="27" name="Text 24"/>
          <p:cNvSpPr/>
          <p:nvPr/>
        </p:nvSpPr>
        <p:spPr>
          <a:xfrm>
            <a:off x="6893662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850" dirty="0">
                <a:solidFill>
                  <a:srgbClr val="334155"/>
                </a:solidFill>
              </a:rPr>
              <a:t>Y변동의 X 설명 비율</a:t>
            </a:r>
          </a:p>
        </p:txBody>
      </p:sp>
      <p:sp>
        <p:nvSpPr>
          <p:cNvPr id="28" name="Shape 25"/>
          <p:cNvSpPr/>
          <p:nvPr/>
        </p:nvSpPr>
        <p:spPr>
          <a:xfrm>
            <a:off x="431800" y="2006600"/>
            <a:ext cx="4076700" cy="23631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31800" y="2006600"/>
            <a:ext cx="40767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96900" y="2133600"/>
            <a:ext cx="373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국내 참고문헌</a:t>
            </a:r>
          </a:p>
        </p:txBody>
      </p:sp>
      <p:sp>
        <p:nvSpPr>
          <p:cNvPr id="31" name="Shape 28"/>
          <p:cNvSpPr/>
          <p:nvPr/>
        </p:nvSpPr>
        <p:spPr>
          <a:xfrm>
            <a:off x="596900" y="2336800"/>
            <a:ext cx="37338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96900" y="2387600"/>
            <a:ext cx="3733800" cy="7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▪"/>
            </a:pPr>
            <a:r>
              <a:rPr lang="ko-KR" sz="1000" b="1" dirty="0">
                <a:solidFill>
                  <a:srgbClr val="1E293B"/>
                </a:solidFill>
              </a:rPr>
              <a:t>성태제 (2019). 연구방법론 (3판).</a:t>
            </a:r>
            <a:r>
              <a:rPr lang="ko-KR" sz="1000" dirty="0">
                <a:solidFill>
                  <a:srgbClr val="334155"/>
                </a:solidFill>
              </a:rPr>
              <a:t> 학지사.</a:t>
            </a:r>
          </a:p>
          <a:p>
            <a:pPr>
              <a:spcBef>
                <a:spcPts val="100"/>
              </a:spcBef>
            </a:pPr>
            <a:r>
              <a:rPr lang="ko-KR" sz="900" i="1" dirty="0">
                <a:solidFill>
                  <a:schemeClr val="bg1">
                    <a:lumMod val="50000"/>
                  </a:schemeClr>
                </a:solidFill>
              </a:rPr>
              <a:t>상관분석·회귀분석 이론과 실습을 체계적으로 다룬 국내 표준 연구방법론 교재</a:t>
            </a:r>
          </a:p>
        </p:txBody>
      </p:sp>
      <p:sp>
        <p:nvSpPr>
          <p:cNvPr id="33" name="Text 30"/>
          <p:cNvSpPr/>
          <p:nvPr/>
        </p:nvSpPr>
        <p:spPr>
          <a:xfrm>
            <a:off x="596900" y="3183965"/>
            <a:ext cx="3733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▪"/>
            </a:pPr>
            <a:r>
              <a:rPr lang="en" altLang="ko-KR" sz="1000" dirty="0"/>
              <a:t>Applied Multiple Regression/Correlation Analysis for the Behavioral Sciences (3rd ed.)</a:t>
            </a:r>
          </a:p>
          <a:p>
            <a:r>
              <a:rPr lang="en" altLang="ko-KR" sz="900" i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Pearson·Spearman</a:t>
            </a:r>
            <a:r>
              <a:rPr lang="en" altLang="ko-KR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상관계수 효과 크기 기준</a:t>
            </a:r>
            <a:r>
              <a:rPr lang="en-US" altLang="ko-KR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en" altLang="ko-KR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small/medium/large), </a:t>
            </a:r>
            <a:r>
              <a:rPr lang="ko-KR" altLang="en-US" sz="900" i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다중공선성</a:t>
            </a:r>
            <a:r>
              <a:rPr lang="en-US" altLang="ko-KR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회귀 연계 분석의 이론적 토대를 제시한 행동과학 분야 표준 교재</a:t>
            </a:r>
            <a:endParaRPr lang="ko-KR" sz="900" i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pPr>
              <a:buNone/>
            </a:pPr>
            <a:endParaRPr lang="ko-KR" dirty="0"/>
          </a:p>
        </p:txBody>
      </p:sp>
      <p:sp>
        <p:nvSpPr>
          <p:cNvPr id="35" name="Shape 3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buNone/>
            </a:pPr>
            <a:endParaRPr lang="ko-KR" dirty="0"/>
          </a:p>
        </p:txBody>
      </p:sp>
      <p:sp>
        <p:nvSpPr>
          <p:cNvPr id="36" name="Text 3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37" name="Text 3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38" name="Shape 35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pPr>
              <a:buNone/>
            </a:pPr>
            <a:endParaRPr lang="ko-KR" dirty="0"/>
          </a:p>
        </p:txBody>
      </p:sp>
      <p:sp>
        <p:nvSpPr>
          <p:cNvPr id="39" name="Shape 3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buNone/>
            </a:pPr>
            <a:endParaRPr lang="ko-KR" dirty="0"/>
          </a:p>
        </p:txBody>
      </p:sp>
      <p:sp>
        <p:nvSpPr>
          <p:cNvPr id="40" name="Text 37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41" name="Text 38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42" name="Shape 39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pPr>
              <a:buNone/>
            </a:pPr>
            <a:endParaRPr lang="ko-KR" dirty="0"/>
          </a:p>
        </p:txBody>
      </p:sp>
      <p:sp>
        <p:nvSpPr>
          <p:cNvPr id="43" name="Shape 40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buNone/>
            </a:pPr>
            <a:endParaRPr lang="ko-KR" dirty="0"/>
          </a:p>
        </p:txBody>
      </p:sp>
      <p:sp>
        <p:nvSpPr>
          <p:cNvPr id="44" name="Text 4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dirty="0"/>
          </a:p>
        </p:txBody>
      </p:sp>
      <p:sp>
        <p:nvSpPr>
          <p:cNvPr id="45" name="Shape 42"/>
          <p:cNvSpPr/>
          <p:nvPr/>
        </p:nvSpPr>
        <p:spPr>
          <a:xfrm>
            <a:off x="4648200" y="2006600"/>
            <a:ext cx="4076700" cy="23576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4648200" y="2006600"/>
            <a:ext cx="4076700" cy="25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4813300" y="2133600"/>
            <a:ext cx="373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sz="1100" b="1" dirty="0">
                <a:solidFill>
                  <a:srgbClr val="1E293B"/>
                </a:solidFill>
              </a:rPr>
              <a:t>해외 참고문헌 &amp; 추가 학습</a:t>
            </a:r>
          </a:p>
        </p:txBody>
      </p:sp>
      <p:sp>
        <p:nvSpPr>
          <p:cNvPr id="48" name="Shape 45"/>
          <p:cNvSpPr/>
          <p:nvPr/>
        </p:nvSpPr>
        <p:spPr>
          <a:xfrm>
            <a:off x="4813300" y="2336800"/>
            <a:ext cx="3733800" cy="127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4813300" y="2531035"/>
            <a:ext cx="3733800" cy="670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Font typeface="Arial"/>
              <a:buChar char="▪"/>
            </a:pPr>
            <a:r>
              <a:rPr lang="en-US" sz="1000" b="1" dirty="0">
                <a:solidFill>
                  <a:srgbClr val="1E293B"/>
                </a:solidFill>
              </a:rPr>
              <a:t>Shrestha (2020).</a:t>
            </a:r>
            <a:r>
              <a:rPr lang="en-US" sz="1000" i="1" dirty="0">
                <a:solidFill>
                  <a:srgbClr val="334155"/>
                </a:solidFill>
              </a:rPr>
              <a:t> Detecting Multicollinearity in Regression Analysis.</a:t>
            </a:r>
            <a:r>
              <a:rPr lang="en-US" sz="1000" dirty="0">
                <a:solidFill>
                  <a:srgbClr val="334155"/>
                </a:solidFill>
              </a:rPr>
              <a:t> AJAMS, 8(2).</a:t>
            </a:r>
          </a:p>
          <a:p>
            <a:pPr>
              <a:spcBef>
                <a:spcPts val="100"/>
              </a:spcBef>
            </a:pPr>
            <a:r>
              <a:rPr lang="ko-KR" sz="900" i="1" dirty="0">
                <a:solidFill>
                  <a:srgbClr val="64748B"/>
                </a:solidFill>
              </a:rPr>
              <a:t>상관행렬·VIF·고유값 3가지 방법으로 다중공선성 탐지하는 방법론 논문</a:t>
            </a:r>
          </a:p>
        </p:txBody>
      </p:sp>
      <p:sp>
        <p:nvSpPr>
          <p:cNvPr id="50" name="Text 47"/>
          <p:cNvSpPr/>
          <p:nvPr/>
        </p:nvSpPr>
        <p:spPr>
          <a:xfrm>
            <a:off x="4813300" y="3264650"/>
            <a:ext cx="3733800" cy="4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Font typeface="Arial"/>
              <a:buChar char="▪"/>
            </a:pPr>
            <a:r>
              <a:rPr lang="en-US" sz="1000" b="1" dirty="0">
                <a:solidFill>
                  <a:srgbClr val="1E293B"/>
                </a:solidFill>
              </a:rPr>
              <a:t>Senthilnathan (2019).</a:t>
            </a:r>
            <a:r>
              <a:rPr lang="en-US" sz="1000" i="1" dirty="0">
                <a:solidFill>
                  <a:srgbClr val="334155"/>
                </a:solidFill>
              </a:rPr>
              <a:t> Usefulness of Correlation Analysis.</a:t>
            </a:r>
            <a:r>
              <a:rPr lang="en-US" sz="1000" dirty="0">
                <a:solidFill>
                  <a:srgbClr val="334155"/>
                </a:solidFill>
              </a:rPr>
              <a:t> SSRN.</a:t>
            </a:r>
          </a:p>
          <a:p>
            <a:pPr>
              <a:spcBef>
                <a:spcPts val="100"/>
              </a:spcBef>
            </a:pPr>
            <a:r>
              <a:rPr lang="ko-KR" sz="900" i="1" dirty="0">
                <a:solidFill>
                  <a:srgbClr val="64748B"/>
                </a:solidFill>
              </a:rPr>
              <a:t>상관분석의 개념·활용·한계를 실용적으로 정리한 입문자용 논문</a:t>
            </a:r>
          </a:p>
        </p:txBody>
      </p:sp>
      <p:sp>
        <p:nvSpPr>
          <p:cNvPr id="51" name="Text 48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endParaRPr lang="ko-KR" dirty="0"/>
          </a:p>
        </p:txBody>
      </p:sp>
      <p:sp>
        <p:nvSpPr>
          <p:cNvPr id="53" name="Shape 50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900" dirty="0">
                <a:solidFill>
                  <a:srgbClr val="64748B"/>
                </a:solidFill>
              </a:rPr>
              <a:t>7 / 7</a:t>
            </a:r>
          </a:p>
        </p:txBody>
      </p:sp>
      <p:pic>
        <p:nvPicPr>
          <p:cNvPr id="57" name="Picture 4" descr="서강대학교 - 더시드위키">
            <a:extLst>
              <a:ext uri="{FF2B5EF4-FFF2-40B4-BE49-F238E27FC236}">
                <a16:creationId xmlns:a16="http://schemas.microsoft.com/office/drawing/2014/main" id="{FCEFAE82-54A8-5EF2-EF09-3F982E7A4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35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34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2428646" y="1000354"/>
            <a:ext cx="4286707" cy="26016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2428646" y="1000354"/>
            <a:ext cx="42867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214470" y="1321308"/>
            <a:ext cx="714146" cy="7141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2428646" y="2271370"/>
            <a:ext cx="4286707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4286707" y="2872130"/>
            <a:ext cx="571500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0" y="4286707"/>
            <a:ext cx="91440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0" y="4472330"/>
            <a:ext cx="914400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및 시스템공학과</a:t>
            </a:r>
            <a:endParaRPr lang="en-US" sz="1050" dirty="0"/>
          </a:p>
        </p:txBody>
      </p:sp>
      <p:pic>
        <p:nvPicPr>
          <p:cNvPr id="13" name="Picture 4" descr="서강대학교 - 더시드위키">
            <a:extLst>
              <a:ext uri="{FF2B5EF4-FFF2-40B4-BE49-F238E27FC236}">
                <a16:creationId xmlns:a16="http://schemas.microsoft.com/office/drawing/2014/main" id="{12787B0B-3A45-0A3B-428B-28D492A2C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469" y="1321307"/>
            <a:ext cx="714146" cy="71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30E785-F52A-CD47-A420-64428C87E09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a28f77c-967f-48b0-a35b-2bd5590d2b9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1567</Words>
  <Application>Microsoft Macintosh PowerPoint</Application>
  <PresentationFormat>화면 슬라이드 쇼(16:9)</PresentationFormat>
  <Paragraphs>291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서강대학교 AI.SW 대학원 학술 보고서</dc:title>
  <dc:subject>PptxGenJS Presentation</dc:subject>
  <dc:creator>PptxGenJS</dc:creator>
  <cp:lastModifiedBy>이인범</cp:lastModifiedBy>
  <cp:revision>6</cp:revision>
  <dcterms:created xsi:type="dcterms:W3CDTF">2026-03-26T15:08:37Z</dcterms:created>
  <dcterms:modified xsi:type="dcterms:W3CDTF">2026-04-12T15:08:55Z</dcterms:modified>
</cp:coreProperties>
</file>