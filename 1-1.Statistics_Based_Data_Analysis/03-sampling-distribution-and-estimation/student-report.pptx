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70" r:id="rId4"/>
    <p:sldId id="271" r:id="rId5"/>
    <p:sldId id="272" r:id="rId6"/>
    <p:sldId id="273" r:id="rId7"/>
    <p:sldId id="282" r:id="rId8"/>
    <p:sldId id="274" r:id="rId9"/>
    <p:sldId id="275" r:id="rId10"/>
    <p:sldId id="281" r:id="rId11"/>
    <p:sldId id="283" r:id="rId12"/>
    <p:sldId id="279" r:id="rId13"/>
    <p:sldId id="28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68"/>
    <p:restoredTop sz="94610"/>
  </p:normalViewPr>
  <p:slideViewPr>
    <p:cSldViewPr snapToGrid="0" snapToObjects="1">
      <p:cViewPr varScale="1">
        <p:scale>
          <a:sx n="194" d="100"/>
          <a:sy n="194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4281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DD1CA-C332-58F5-ADFC-A1790F493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E996E2-6E0A-B112-D948-8C072EB511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58204E-ECD1-3F16-882E-0F8D2AF27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9D350-6955-208B-DCA6-FB64FFE0BB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12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5724/jslhd.2020.29.2.047" TargetMode="External"/><Relationship Id="rId5" Type="http://schemas.openxmlformats.org/officeDocument/2006/relationships/hyperlink" Target="https://www.kci.go.kr/kciportal/ci/sereArticleSearch/ciSereArtiView.kci?sereArticleSearchBean.artiId=ART002417684" TargetMode="External"/><Relationship Id="rId4" Type="http://schemas.openxmlformats.org/officeDocument/2006/relationships/hyperlink" Target="https://jksronline.org/pdf/10.3348/jkrs.2002.47.4.379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464869" y="514807"/>
            <a:ext cx="357164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SOGANG UNIVERSITY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64869" y="685800"/>
            <a:ext cx="35716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AI.SW GRADUATE SCHOOL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14146" y="1800454"/>
            <a:ext cx="35662" cy="110733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71423" y="1785823"/>
            <a:ext cx="7144207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REPORT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71423" y="2071116"/>
            <a:ext cx="7715707" cy="500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추정과 가설검정의 개념 및 민감도</a:t>
            </a:r>
            <a:r>
              <a:rPr lang="en-US" altLang="ko-KR" sz="24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.</a:t>
            </a:r>
            <a:r>
              <a:rPr lang="ko-KR" altLang="en-US" sz="24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특이도 활용 사례 분석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71423" y="2572207"/>
            <a:ext cx="6429146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통계기반 데이터 분석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14146" y="3300070"/>
            <a:ext cx="7715707" cy="105704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3857854" y="3414370"/>
            <a:ext cx="7315" cy="843077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64692" y="3429000"/>
            <a:ext cx="642823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대학원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643177" y="3429000"/>
            <a:ext cx="207203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AI.SW </a:t>
            </a:r>
            <a:r>
              <a:rPr lang="en-US" sz="11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대학원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4692" y="3700577"/>
            <a:ext cx="642823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학과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643177" y="3700577"/>
            <a:ext cx="207203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소프트웨어 및 시스템공학과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4692" y="3972154"/>
            <a:ext cx="642823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643177" y="3972154"/>
            <a:ext cx="207203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이인범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036162" y="3507638"/>
            <a:ext cx="714146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교수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00600" y="3507638"/>
            <a:ext cx="3357677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정화민</a:t>
            </a:r>
            <a:r>
              <a:rPr lang="ko-KR" altLang="en-US" sz="11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교수님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036162" y="3807562"/>
            <a:ext cx="714146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 일자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00600" y="3807562"/>
            <a:ext cx="3357677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1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2026.03.29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14146" y="4643323"/>
            <a:ext cx="7715707" cy="7315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28" name="Picture 4" descr="서강대학교 - 더시드위키">
            <a:extLst>
              <a:ext uri="{FF2B5EF4-FFF2-40B4-BE49-F238E27FC236}">
                <a16:creationId xmlns:a16="http://schemas.microsoft.com/office/drawing/2014/main" id="{852CE6D6-1ACF-280A-C43C-998F29FF4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808" y="373279"/>
            <a:ext cx="604725" cy="60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6"/>
          <p:cNvSpPr/>
          <p:nvPr/>
        </p:nvSpPr>
        <p:spPr>
          <a:xfrm>
            <a:off x="4643323" y="3071470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428854" y="200254"/>
            <a:ext cx="371246" cy="37124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78738" y="200254"/>
            <a:ext cx="21433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</a:p>
        </p:txBody>
      </p:sp>
      <p:sp>
        <p:nvSpPr>
          <p:cNvPr id="5" name="Text 2"/>
          <p:cNvSpPr/>
          <p:nvPr/>
        </p:nvSpPr>
        <p:spPr>
          <a:xfrm>
            <a:off x="878738" y="406908"/>
            <a:ext cx="28575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</a:p>
        </p:txBody>
      </p:sp>
      <p:sp>
        <p:nvSpPr>
          <p:cNvPr id="6" name="Shape 3"/>
          <p:cNvSpPr/>
          <p:nvPr/>
        </p:nvSpPr>
        <p:spPr>
          <a:xfrm>
            <a:off x="428854" y="714146"/>
            <a:ext cx="8287207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28854" y="800100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854" y="800100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14807" y="857707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</a:p>
        </p:txBody>
      </p:sp>
      <p:sp>
        <p:nvSpPr>
          <p:cNvPr id="10" name="Shape 7"/>
          <p:cNvSpPr/>
          <p:nvPr/>
        </p:nvSpPr>
        <p:spPr>
          <a:xfrm>
            <a:off x="914400" y="914400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1000354" y="929030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통계학이 하려는 일</a:t>
            </a:r>
          </a:p>
        </p:txBody>
      </p:sp>
      <p:sp>
        <p:nvSpPr>
          <p:cNvPr id="12" name="Text 9"/>
          <p:cNvSpPr/>
          <p:nvPr/>
        </p:nvSpPr>
        <p:spPr>
          <a:xfrm>
            <a:off x="1000354" y="1114654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모집단, 표본, 모수, 통계량의 개념</a:t>
            </a:r>
          </a:p>
        </p:txBody>
      </p:sp>
      <p:sp>
        <p:nvSpPr>
          <p:cNvPr id="13" name="Shape 10"/>
          <p:cNvSpPr/>
          <p:nvPr/>
        </p:nvSpPr>
        <p:spPr>
          <a:xfrm>
            <a:off x="4643323" y="800100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643323" y="800100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4729277" y="857707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</a:p>
        </p:txBody>
      </p:sp>
      <p:sp>
        <p:nvSpPr>
          <p:cNvPr id="16" name="Shape 13"/>
          <p:cNvSpPr/>
          <p:nvPr/>
        </p:nvSpPr>
        <p:spPr>
          <a:xfrm>
            <a:off x="5128870" y="914400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214823" y="929030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편차·분산·표준편차</a:t>
            </a:r>
          </a:p>
        </p:txBody>
      </p:sp>
      <p:sp>
        <p:nvSpPr>
          <p:cNvPr id="18" name="Text 15"/>
          <p:cNvSpPr/>
          <p:nvPr/>
        </p:nvSpPr>
        <p:spPr>
          <a:xfrm>
            <a:off x="5214823" y="1114654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데이터의 흩어진 정도를 수치화</a:t>
            </a:r>
          </a:p>
        </p:txBody>
      </p:sp>
      <p:sp>
        <p:nvSpPr>
          <p:cNvPr id="19" name="Shape 16"/>
          <p:cNvSpPr/>
          <p:nvPr/>
        </p:nvSpPr>
        <p:spPr>
          <a:xfrm>
            <a:off x="428854" y="1557223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428854" y="1557223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514807" y="1614830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</a:p>
        </p:txBody>
      </p:sp>
      <p:sp>
        <p:nvSpPr>
          <p:cNvPr id="22" name="Shape 19"/>
          <p:cNvSpPr/>
          <p:nvPr/>
        </p:nvSpPr>
        <p:spPr>
          <a:xfrm>
            <a:off x="914400" y="1671523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1000354" y="1686154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정규분포와 z-score</a:t>
            </a:r>
          </a:p>
        </p:txBody>
      </p:sp>
      <p:sp>
        <p:nvSpPr>
          <p:cNvPr id="24" name="Text 21"/>
          <p:cNvSpPr/>
          <p:nvPr/>
        </p:nvSpPr>
        <p:spPr>
          <a:xfrm>
            <a:off x="1000354" y="1871777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표준화와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정규분포표</a:t>
            </a:r>
            <a:endParaRPr lang="en-US" sz="10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643323" y="1557223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4643323" y="1557223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4729277" y="1614830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</a:p>
        </p:txBody>
      </p:sp>
      <p:sp>
        <p:nvSpPr>
          <p:cNvPr id="28" name="Shape 25"/>
          <p:cNvSpPr/>
          <p:nvPr/>
        </p:nvSpPr>
        <p:spPr>
          <a:xfrm>
            <a:off x="5128870" y="1671523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5214823" y="1686154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신뢰구</a:t>
            </a:r>
            <a:r>
              <a:rPr lang="ko-KR" alt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간이란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</a:p>
        </p:txBody>
      </p:sp>
      <p:sp>
        <p:nvSpPr>
          <p:cNvPr id="30" name="Text 27"/>
          <p:cNvSpPr/>
          <p:nvPr/>
        </p:nvSpPr>
        <p:spPr>
          <a:xfrm>
            <a:off x="5214823" y="1871777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점추정과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구간추정</a:t>
            </a:r>
            <a:endParaRPr lang="en-US" sz="10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28854" y="2314346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428854" y="2314346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514807" y="2371954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</a:p>
        </p:txBody>
      </p:sp>
      <p:sp>
        <p:nvSpPr>
          <p:cNvPr id="34" name="Shape 31"/>
          <p:cNvSpPr/>
          <p:nvPr/>
        </p:nvSpPr>
        <p:spPr>
          <a:xfrm>
            <a:off x="914400" y="2428646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000354" y="2443277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구간 추정 </a:t>
            </a:r>
            <a:r>
              <a:rPr lang="en-US" alt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</a:t>
            </a:r>
            <a:r>
              <a:rPr lang="en-US" altLang="ko-KR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Pyton</a:t>
            </a:r>
            <a:endParaRPr lang="en-US" sz="12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1000354" y="2628900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ko-KR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</a:t>
            </a:r>
            <a:r>
              <a:rPr lang="ko-KR" alt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프로그래밍 및 </a:t>
            </a:r>
            <a:r>
              <a:rPr lang="en-US" altLang="ko-KR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r>
              <a:rPr lang="ko-KR" alt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변환</a:t>
            </a:r>
            <a:endParaRPr lang="en-US" sz="10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4643323" y="2314346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4643323" y="2314346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4729277" y="2371954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</a:p>
        </p:txBody>
      </p:sp>
      <p:sp>
        <p:nvSpPr>
          <p:cNvPr id="40" name="Shape 37"/>
          <p:cNvSpPr/>
          <p:nvPr/>
        </p:nvSpPr>
        <p:spPr>
          <a:xfrm>
            <a:off x="5128870" y="2428646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/>
          <p:nvPr/>
        </p:nvSpPr>
        <p:spPr>
          <a:xfrm>
            <a:off x="5214823" y="2443277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가설검정</a:t>
            </a:r>
            <a:r>
              <a:rPr lang="ko-KR" alt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이란</a:t>
            </a:r>
            <a:r>
              <a:rPr lang="en-US" alt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</a:p>
        </p:txBody>
      </p:sp>
      <p:sp>
        <p:nvSpPr>
          <p:cNvPr id="42" name="Text 39"/>
          <p:cNvSpPr/>
          <p:nvPr/>
        </p:nvSpPr>
        <p:spPr>
          <a:xfrm>
            <a:off x="5214823" y="2628900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귀무가설</a:t>
            </a:r>
            <a:r>
              <a:rPr lang="en-US" altLang="ko-KR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altLang="ko-KR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대립가설</a:t>
            </a:r>
            <a:endParaRPr lang="en-US" altLang="ko-KR" sz="10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428854" y="3071470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1"/>
          <p:cNvSpPr/>
          <p:nvPr/>
        </p:nvSpPr>
        <p:spPr>
          <a:xfrm>
            <a:off x="428854" y="3071470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/>
          <p:nvPr/>
        </p:nvSpPr>
        <p:spPr>
          <a:xfrm>
            <a:off x="514807" y="3129077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</a:p>
        </p:txBody>
      </p:sp>
      <p:sp>
        <p:nvSpPr>
          <p:cNvPr id="46" name="Shape 43"/>
          <p:cNvSpPr/>
          <p:nvPr/>
        </p:nvSpPr>
        <p:spPr>
          <a:xfrm>
            <a:off x="914400" y="3185770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/>
          <p:nvPr/>
        </p:nvSpPr>
        <p:spPr>
          <a:xfrm>
            <a:off x="5189676" y="3193145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혼동행렬</a:t>
            </a:r>
            <a:r>
              <a:rPr lang="en-US" alt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</a:t>
            </a:r>
            <a:endParaRPr lang="en-US" altLang="ko-KR" sz="12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5189676" y="3378768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</a:p>
        </p:txBody>
      </p:sp>
      <p:sp>
        <p:nvSpPr>
          <p:cNvPr id="50" name="Shape 47"/>
          <p:cNvSpPr/>
          <p:nvPr/>
        </p:nvSpPr>
        <p:spPr>
          <a:xfrm>
            <a:off x="4643323" y="3071470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/>
          <p:nvPr/>
        </p:nvSpPr>
        <p:spPr>
          <a:xfrm>
            <a:off x="4729277" y="3129077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</a:p>
        </p:txBody>
      </p:sp>
      <p:sp>
        <p:nvSpPr>
          <p:cNvPr id="52" name="Shape 49"/>
          <p:cNvSpPr/>
          <p:nvPr/>
        </p:nvSpPr>
        <p:spPr>
          <a:xfrm>
            <a:off x="5128870" y="3185770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/>
          <p:nvPr/>
        </p:nvSpPr>
        <p:spPr>
          <a:xfrm>
            <a:off x="1000354" y="3193145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1종 </a:t>
            </a:r>
            <a:r>
              <a:rPr lang="en-US" altLang="ko-KR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</a:t>
            </a:r>
            <a:r>
              <a:rPr lang="en-US" alt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2종 </a:t>
            </a:r>
            <a:r>
              <a:rPr lang="en-US" altLang="ko-KR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</a:t>
            </a:r>
            <a:endParaRPr lang="en-US" altLang="ko-KR" sz="12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1000354" y="3378768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</a:t>
            </a:r>
            <a:r>
              <a:rPr lang="en-US" altLang="ko-KR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Positive와</a:t>
            </a:r>
            <a:r>
              <a:rPr lang="en-US" altLang="ko-KR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False Negative</a:t>
            </a:r>
          </a:p>
        </p:txBody>
      </p:sp>
      <p:sp>
        <p:nvSpPr>
          <p:cNvPr id="55" name="Shape 52"/>
          <p:cNvSpPr/>
          <p:nvPr/>
        </p:nvSpPr>
        <p:spPr>
          <a:xfrm>
            <a:off x="428854" y="3829507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3"/>
          <p:cNvSpPr/>
          <p:nvPr/>
        </p:nvSpPr>
        <p:spPr>
          <a:xfrm>
            <a:off x="428854" y="3829507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/>
          <p:nvPr/>
        </p:nvSpPr>
        <p:spPr>
          <a:xfrm>
            <a:off x="514807" y="3886200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</a:p>
        </p:txBody>
      </p:sp>
      <p:sp>
        <p:nvSpPr>
          <p:cNvPr id="58" name="Shape 55"/>
          <p:cNvSpPr/>
          <p:nvPr/>
        </p:nvSpPr>
        <p:spPr>
          <a:xfrm>
            <a:off x="914400" y="3943807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/>
          <p:nvPr/>
        </p:nvSpPr>
        <p:spPr>
          <a:xfrm>
            <a:off x="1000354" y="3957523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민감도·특이도·정확도</a:t>
            </a:r>
            <a:endParaRPr lang="en-US" altLang="ko-KR" sz="12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1000354" y="4143146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</a:t>
            </a:r>
            <a:r>
              <a:rPr lang="en-US" altLang="ko-KR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</a:t>
            </a:r>
            <a:r>
              <a:rPr lang="en-US" altLang="ko-KR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지표와</a:t>
            </a:r>
            <a:r>
              <a:rPr lang="en-US" altLang="ko-KR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</a:t>
            </a:r>
            <a:r>
              <a:rPr lang="en-US" altLang="ko-KR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불균형</a:t>
            </a:r>
            <a:endParaRPr lang="en-US" altLang="ko-KR" sz="10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7144207" y="4772254"/>
            <a:ext cx="1571854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서강대학교 AI.SW 대학원</a:t>
            </a:r>
            <a:endParaRPr lang="en-US" sz="850" dirty="0"/>
          </a:p>
        </p:txBody>
      </p:sp>
      <p:pic>
        <p:nvPicPr>
          <p:cNvPr id="68" name="Picture 4" descr="서강대학교 - 더시드위키">
            <a:extLst>
              <a:ext uri="{FF2B5EF4-FFF2-40B4-BE49-F238E27FC236}">
                <a16:creationId xmlns:a16="http://schemas.microsoft.com/office/drawing/2014/main" id="{73ED477E-06C0-A4E4-839D-9C4377D3E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54" y="200254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Shape 52">
            <a:extLst>
              <a:ext uri="{FF2B5EF4-FFF2-40B4-BE49-F238E27FC236}">
                <a16:creationId xmlns:a16="http://schemas.microsoft.com/office/drawing/2014/main" id="{D3A20998-50B2-464B-B3A3-0CDDFF525C17}"/>
              </a:ext>
            </a:extLst>
          </p:cNvPr>
          <p:cNvSpPr/>
          <p:nvPr/>
        </p:nvSpPr>
        <p:spPr>
          <a:xfrm>
            <a:off x="4643323" y="3829507"/>
            <a:ext cx="4071823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53">
            <a:extLst>
              <a:ext uri="{FF2B5EF4-FFF2-40B4-BE49-F238E27FC236}">
                <a16:creationId xmlns:a16="http://schemas.microsoft.com/office/drawing/2014/main" id="{71B286F7-8F66-15BE-60D5-8AA0462C2439}"/>
              </a:ext>
            </a:extLst>
          </p:cNvPr>
          <p:cNvSpPr/>
          <p:nvPr/>
        </p:nvSpPr>
        <p:spPr>
          <a:xfrm>
            <a:off x="4643323" y="3829507"/>
            <a:ext cx="21031" cy="6858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54">
            <a:extLst>
              <a:ext uri="{FF2B5EF4-FFF2-40B4-BE49-F238E27FC236}">
                <a16:creationId xmlns:a16="http://schemas.microsoft.com/office/drawing/2014/main" id="{84E9BC1D-9871-406B-4C79-C9D1AF8A507C}"/>
              </a:ext>
            </a:extLst>
          </p:cNvPr>
          <p:cNvSpPr/>
          <p:nvPr/>
        </p:nvSpPr>
        <p:spPr>
          <a:xfrm>
            <a:off x="4729276" y="3886200"/>
            <a:ext cx="37124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ko-KR" sz="24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b="1" dirty="0">
              <a:solidFill>
                <a:srgbClr val="99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2" name="Shape 55">
            <a:extLst>
              <a:ext uri="{FF2B5EF4-FFF2-40B4-BE49-F238E27FC236}">
                <a16:creationId xmlns:a16="http://schemas.microsoft.com/office/drawing/2014/main" id="{2C6C6B97-8CAC-A883-DB1B-4086C1EA4939}"/>
              </a:ext>
            </a:extLst>
          </p:cNvPr>
          <p:cNvSpPr/>
          <p:nvPr/>
        </p:nvSpPr>
        <p:spPr>
          <a:xfrm>
            <a:off x="5128869" y="3943807"/>
            <a:ext cx="731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56">
            <a:extLst>
              <a:ext uri="{FF2B5EF4-FFF2-40B4-BE49-F238E27FC236}">
                <a16:creationId xmlns:a16="http://schemas.microsoft.com/office/drawing/2014/main" id="{E3E36C99-6B4C-F643-7627-D8004206EE02}"/>
              </a:ext>
            </a:extLst>
          </p:cNvPr>
          <p:cNvSpPr/>
          <p:nvPr/>
        </p:nvSpPr>
        <p:spPr>
          <a:xfrm>
            <a:off x="5214823" y="3957523"/>
            <a:ext cx="3400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 문헌 </a:t>
            </a:r>
            <a:endParaRPr lang="en-US" sz="12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4" name="Text 57">
            <a:extLst>
              <a:ext uri="{FF2B5EF4-FFF2-40B4-BE49-F238E27FC236}">
                <a16:creationId xmlns:a16="http://schemas.microsoft.com/office/drawing/2014/main" id="{9CE263DD-560D-31A9-F6C0-55AEC46ABCC1}"/>
              </a:ext>
            </a:extLst>
          </p:cNvPr>
          <p:cNvSpPr/>
          <p:nvPr/>
        </p:nvSpPr>
        <p:spPr>
          <a:xfrm>
            <a:off x="5214823" y="4143146"/>
            <a:ext cx="3400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참고문헌 목록 및 정리</a:t>
            </a:r>
            <a:endParaRPr lang="en-US" sz="10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74777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854" y="228600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93369" y="235915"/>
            <a:ext cx="64291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통계학이 하려는 일</a:t>
            </a:r>
          </a:p>
        </p:txBody>
      </p:sp>
      <p:sp>
        <p:nvSpPr>
          <p:cNvPr id="5" name="Text 2"/>
          <p:cNvSpPr/>
          <p:nvPr/>
        </p:nvSpPr>
        <p:spPr>
          <a:xfrm>
            <a:off x="893369" y="442570"/>
            <a:ext cx="64291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STATISTICS TRIES TO DO</a:t>
            </a:r>
          </a:p>
        </p:txBody>
      </p:sp>
      <p:sp>
        <p:nvSpPr>
          <p:cNvPr id="6" name="Shape 3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28854" y="807415"/>
            <a:ext cx="920801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854" y="929030"/>
            <a:ext cx="2572207" cy="3543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854" y="929030"/>
            <a:ext cx="2572207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86130" y="1086307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</a:t>
            </a:r>
          </a:p>
        </p:txBody>
      </p:sp>
      <p:sp>
        <p:nvSpPr>
          <p:cNvPr id="11" name="Shape 8"/>
          <p:cNvSpPr/>
          <p:nvPr/>
        </p:nvSpPr>
        <p:spPr>
          <a:xfrm>
            <a:off x="586130" y="1278331"/>
            <a:ext cx="2257654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85216" y="1491067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전체를 다 조사할 수 없다</a:t>
            </a:r>
          </a:p>
        </p:txBody>
      </p:sp>
      <p:sp>
        <p:nvSpPr>
          <p:cNvPr id="13" name="Text 10"/>
          <p:cNvSpPr/>
          <p:nvPr/>
        </p:nvSpPr>
        <p:spPr>
          <a:xfrm>
            <a:off x="585216" y="1805620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일부(표본)만 뽑아 전체(모집단)를 추측</a:t>
            </a:r>
          </a:p>
        </p:txBody>
      </p:sp>
      <p:sp>
        <p:nvSpPr>
          <p:cNvPr id="14" name="Text 11"/>
          <p:cNvSpPr/>
          <p:nvPr/>
        </p:nvSpPr>
        <p:spPr>
          <a:xfrm>
            <a:off x="585216" y="2119260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통계학 = 표본으로 모집단을 추측하는 방법론</a:t>
            </a:r>
          </a:p>
        </p:txBody>
      </p:sp>
      <p:sp>
        <p:nvSpPr>
          <p:cNvPr id="15" name="Shape 12"/>
          <p:cNvSpPr/>
          <p:nvPr/>
        </p:nvSpPr>
        <p:spPr>
          <a:xfrm>
            <a:off x="3286354" y="929030"/>
            <a:ext cx="2572207" cy="3543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3286354" y="929030"/>
            <a:ext cx="2572207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3443630" y="1086307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 vs 표본</a:t>
            </a:r>
          </a:p>
        </p:txBody>
      </p:sp>
      <p:sp>
        <p:nvSpPr>
          <p:cNvPr id="18" name="Shape 15"/>
          <p:cNvSpPr/>
          <p:nvPr/>
        </p:nvSpPr>
        <p:spPr>
          <a:xfrm>
            <a:off x="3443630" y="1278331"/>
            <a:ext cx="2257654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3443630" y="1491068"/>
            <a:ext cx="2321066" cy="13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모집단: 전체 (예: 대한민국 유권자 전체)</a:t>
            </a:r>
          </a:p>
        </p:txBody>
      </p:sp>
      <p:sp>
        <p:nvSpPr>
          <p:cNvPr id="20" name="Text 17"/>
          <p:cNvSpPr/>
          <p:nvPr/>
        </p:nvSpPr>
        <p:spPr>
          <a:xfrm>
            <a:off x="3443630" y="1805620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표본: 뽑은 일부 (예: 무작위 1,000명)</a:t>
            </a:r>
          </a:p>
        </p:txBody>
      </p:sp>
      <p:sp>
        <p:nvSpPr>
          <p:cNvPr id="21" name="Text 18"/>
          <p:cNvSpPr/>
          <p:nvPr/>
        </p:nvSpPr>
        <p:spPr>
          <a:xfrm>
            <a:off x="3443630" y="2162841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선거 여론조사 시 5,000만 명을 다 못 물어봄</a:t>
            </a:r>
          </a:p>
        </p:txBody>
      </p:sp>
      <p:sp>
        <p:nvSpPr>
          <p:cNvPr id="22" name="Shape 19"/>
          <p:cNvSpPr/>
          <p:nvPr/>
        </p:nvSpPr>
        <p:spPr>
          <a:xfrm>
            <a:off x="6143854" y="929030"/>
            <a:ext cx="2572207" cy="3543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6143854" y="929030"/>
            <a:ext cx="2572207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6301130" y="1086307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모수 vs 통계량</a:t>
            </a:r>
          </a:p>
        </p:txBody>
      </p:sp>
      <p:sp>
        <p:nvSpPr>
          <p:cNvPr id="25" name="Shape 22"/>
          <p:cNvSpPr/>
          <p:nvPr/>
        </p:nvSpPr>
        <p:spPr>
          <a:xfrm>
            <a:off x="6301130" y="1278331"/>
            <a:ext cx="2257654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6301130" y="1498599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모수: 전체의 </a:t>
            </a:r>
            <a:r>
              <a:rPr lang="en-US" sz="10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특성값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(예: 실제 지지율 37.2%)</a:t>
            </a:r>
          </a:p>
        </p:txBody>
      </p:sp>
      <p:sp>
        <p:nvSpPr>
          <p:cNvPr id="27" name="Text 24"/>
          <p:cNvSpPr/>
          <p:nvPr/>
        </p:nvSpPr>
        <p:spPr>
          <a:xfrm>
            <a:off x="6301130" y="1813152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통계량: 표본으로 계산한 값 (예: 38.1%)</a:t>
            </a:r>
          </a:p>
        </p:txBody>
      </p:sp>
      <p:sp>
        <p:nvSpPr>
          <p:cNvPr id="28" name="Text 25"/>
          <p:cNvSpPr/>
          <p:nvPr/>
        </p:nvSpPr>
        <p:spPr>
          <a:xfrm>
            <a:off x="6301130" y="2126792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표본에서 모수를 추정하는 것이 핵심</a:t>
            </a:r>
          </a:p>
        </p:txBody>
      </p:sp>
      <p:sp>
        <p:nvSpPr>
          <p:cNvPr id="29" name="Shape 26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</a:p>
        </p:txBody>
      </p:sp>
      <p:sp>
        <p:nvSpPr>
          <p:cNvPr id="31" name="Text 28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통계학이 하려는 일</a:t>
            </a:r>
          </a:p>
        </p:txBody>
      </p:sp>
      <p:sp>
        <p:nvSpPr>
          <p:cNvPr id="32" name="Text 29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</a:p>
        </p:txBody>
      </p:sp>
      <p:pic>
        <p:nvPicPr>
          <p:cNvPr id="33" name="Picture 4" descr="서강대학교 - 더시드위키">
            <a:extLst>
              <a:ext uri="{FF2B5EF4-FFF2-40B4-BE49-F238E27FC236}">
                <a16:creationId xmlns:a16="http://schemas.microsoft.com/office/drawing/2014/main" id="{6973CF73-B1D7-CB6D-4A9D-31CB062BA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202" y="239833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5735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854" y="228600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93369" y="235915"/>
            <a:ext cx="64291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편차·분산·표준편차</a:t>
            </a:r>
          </a:p>
        </p:txBody>
      </p:sp>
      <p:sp>
        <p:nvSpPr>
          <p:cNvPr id="5" name="Text 2"/>
          <p:cNvSpPr/>
          <p:nvPr/>
        </p:nvSpPr>
        <p:spPr>
          <a:xfrm>
            <a:off x="893369" y="442570"/>
            <a:ext cx="64291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DEVIATION, VARIANCE &amp; STANDARD DEVIATION</a:t>
            </a:r>
          </a:p>
        </p:txBody>
      </p:sp>
      <p:sp>
        <p:nvSpPr>
          <p:cNvPr id="6" name="Shape 3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28854" y="807415"/>
            <a:ext cx="1841602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854" y="929030"/>
            <a:ext cx="4071823" cy="257220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854" y="929030"/>
            <a:ext cx="4071823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99846" y="1086307"/>
            <a:ext cx="3728923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 정의</a:t>
            </a:r>
          </a:p>
        </p:txBody>
      </p:sp>
      <p:sp>
        <p:nvSpPr>
          <p:cNvPr id="11" name="Shape 8"/>
          <p:cNvSpPr/>
          <p:nvPr/>
        </p:nvSpPr>
        <p:spPr>
          <a:xfrm>
            <a:off x="599846" y="1278331"/>
            <a:ext cx="3728923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99846" y="1399946"/>
            <a:ext cx="37289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편차 (Deviation)</a:t>
            </a:r>
          </a:p>
        </p:txBody>
      </p:sp>
      <p:sp>
        <p:nvSpPr>
          <p:cNvPr id="13" name="Text 10"/>
          <p:cNvSpPr/>
          <p:nvPr/>
        </p:nvSpPr>
        <p:spPr>
          <a:xfrm>
            <a:off x="714146" y="1557223"/>
            <a:ext cx="3571646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값 - 평균 (예: 150-100 = +50ms)</a:t>
            </a:r>
          </a:p>
        </p:txBody>
      </p:sp>
      <p:sp>
        <p:nvSpPr>
          <p:cNvPr id="14" name="Text 11"/>
          <p:cNvSpPr/>
          <p:nvPr/>
        </p:nvSpPr>
        <p:spPr>
          <a:xfrm>
            <a:off x="599846" y="1843430"/>
            <a:ext cx="37289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분산 (Variance)</a:t>
            </a:r>
          </a:p>
        </p:txBody>
      </p:sp>
      <p:sp>
        <p:nvSpPr>
          <p:cNvPr id="15" name="Text 12"/>
          <p:cNvSpPr/>
          <p:nvPr/>
        </p:nvSpPr>
        <p:spPr>
          <a:xfrm>
            <a:off x="714146" y="2000707"/>
            <a:ext cx="3571646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편차²의 평균 (단위가 ms²로 커져버림)</a:t>
            </a:r>
          </a:p>
        </p:txBody>
      </p:sp>
      <p:sp>
        <p:nvSpPr>
          <p:cNvPr id="16" name="Text 13"/>
          <p:cNvSpPr/>
          <p:nvPr/>
        </p:nvSpPr>
        <p:spPr>
          <a:xfrm>
            <a:off x="599846" y="2286000"/>
            <a:ext cx="37289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표준편차 (Std Dev)</a:t>
            </a:r>
          </a:p>
        </p:txBody>
      </p:sp>
      <p:sp>
        <p:nvSpPr>
          <p:cNvPr id="17" name="Text 14"/>
          <p:cNvSpPr/>
          <p:nvPr/>
        </p:nvSpPr>
        <p:spPr>
          <a:xfrm>
            <a:off x="714146" y="2443277"/>
            <a:ext cx="3571646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√분산 → 다시 원래 단위(ms)로 돌아옴</a:t>
            </a:r>
          </a:p>
        </p:txBody>
      </p:sp>
      <p:sp>
        <p:nvSpPr>
          <p:cNvPr id="18" name="Shape 15"/>
          <p:cNvSpPr/>
          <p:nvPr/>
        </p:nvSpPr>
        <p:spPr>
          <a:xfrm>
            <a:off x="4714646" y="929030"/>
            <a:ext cx="4000500" cy="257220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714646" y="929030"/>
            <a:ext cx="400050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4886554" y="1086307"/>
            <a:ext cx="365760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비유로 이해</a:t>
            </a:r>
          </a:p>
        </p:txBody>
      </p:sp>
      <p:sp>
        <p:nvSpPr>
          <p:cNvPr id="21" name="Shape 18"/>
          <p:cNvSpPr/>
          <p:nvPr/>
        </p:nvSpPr>
        <p:spPr>
          <a:xfrm>
            <a:off x="4886554" y="1278331"/>
            <a:ext cx="365760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4886554" y="1399946"/>
            <a:ext cx="36576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응답시간 = 100ms라고 할 때</a:t>
            </a:r>
          </a:p>
        </p:txBody>
      </p:sp>
      <p:sp>
        <p:nvSpPr>
          <p:cNvPr id="23" name="Text 20"/>
          <p:cNvSpPr/>
          <p:nvPr/>
        </p:nvSpPr>
        <p:spPr>
          <a:xfrm>
            <a:off x="5000854" y="1557223"/>
            <a:ext cx="35433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요청은 80ms, 어떤 건 150ms</a:t>
            </a:r>
          </a:p>
        </p:txBody>
      </p:sp>
      <p:sp>
        <p:nvSpPr>
          <p:cNvPr id="24" name="Text 21"/>
          <p:cNvSpPr/>
          <p:nvPr/>
        </p:nvSpPr>
        <p:spPr>
          <a:xfrm>
            <a:off x="4886554" y="1843430"/>
            <a:ext cx="36576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흩어진 정도를 수치화하면?</a:t>
            </a:r>
          </a:p>
        </p:txBody>
      </p:sp>
      <p:sp>
        <p:nvSpPr>
          <p:cNvPr id="25" name="Text 22"/>
          <p:cNvSpPr/>
          <p:nvPr/>
        </p:nvSpPr>
        <p:spPr>
          <a:xfrm>
            <a:off x="5000854" y="2000707"/>
            <a:ext cx="35433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표준편차가 그 역할을 함</a:t>
            </a:r>
          </a:p>
        </p:txBody>
      </p:sp>
      <p:sp>
        <p:nvSpPr>
          <p:cNvPr id="26" name="Text 23"/>
          <p:cNvSpPr/>
          <p:nvPr/>
        </p:nvSpPr>
        <p:spPr>
          <a:xfrm>
            <a:off x="4886554" y="2286000"/>
            <a:ext cx="36576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잔차 (Residual)</a:t>
            </a:r>
          </a:p>
        </p:txBody>
      </p:sp>
      <p:sp>
        <p:nvSpPr>
          <p:cNvPr id="27" name="Text 24"/>
          <p:cNvSpPr/>
          <p:nvPr/>
        </p:nvSpPr>
        <p:spPr>
          <a:xfrm>
            <a:off x="5000854" y="2443277"/>
            <a:ext cx="35433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예측값 - 실제값 → 모델이 얼마나 틀렸나</a:t>
            </a:r>
          </a:p>
        </p:txBody>
      </p:sp>
      <p:sp>
        <p:nvSpPr>
          <p:cNvPr id="28" name="Shape 25"/>
          <p:cNvSpPr/>
          <p:nvPr/>
        </p:nvSpPr>
        <p:spPr>
          <a:xfrm>
            <a:off x="428854" y="3629254"/>
            <a:ext cx="8287207" cy="84307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428854" y="3629254"/>
            <a:ext cx="35662" cy="843077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599846" y="3700577"/>
            <a:ext cx="78583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포인트</a:t>
            </a:r>
          </a:p>
        </p:txBody>
      </p:sp>
      <p:sp>
        <p:nvSpPr>
          <p:cNvPr id="31" name="Text 28"/>
          <p:cNvSpPr/>
          <p:nvPr/>
        </p:nvSpPr>
        <p:spPr>
          <a:xfrm>
            <a:off x="599846" y="3907231"/>
            <a:ext cx="78583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"표준편차가 크다 = 데이터가 넓게 퍼져있다 = 예측이 어렵다"</a:t>
            </a:r>
          </a:p>
        </p:txBody>
      </p:sp>
      <p:sp>
        <p:nvSpPr>
          <p:cNvPr id="32" name="Shape 29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</a:p>
        </p:txBody>
      </p:sp>
      <p:sp>
        <p:nvSpPr>
          <p:cNvPr id="34" name="Text 31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편차·분산·표준편차</a:t>
            </a:r>
          </a:p>
        </p:txBody>
      </p:sp>
      <p:sp>
        <p:nvSpPr>
          <p:cNvPr id="35" name="Text 32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</a:p>
        </p:txBody>
      </p:sp>
      <p:pic>
        <p:nvPicPr>
          <p:cNvPr id="36" name="Picture 4" descr="서강대학교 - 더시드위키">
            <a:extLst>
              <a:ext uri="{FF2B5EF4-FFF2-40B4-BE49-F238E27FC236}">
                <a16:creationId xmlns:a16="http://schemas.microsoft.com/office/drawing/2014/main" id="{1BA5656D-972A-9653-B25F-FE1391505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27" y="237350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3544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854" y="228600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93369" y="235915"/>
            <a:ext cx="64291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정규분포와 z-score</a:t>
            </a:r>
          </a:p>
        </p:txBody>
      </p:sp>
      <p:sp>
        <p:nvSpPr>
          <p:cNvPr id="5" name="Text 2"/>
          <p:cNvSpPr/>
          <p:nvPr/>
        </p:nvSpPr>
        <p:spPr>
          <a:xfrm>
            <a:off x="893369" y="442570"/>
            <a:ext cx="64291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DISTRIBUTION &amp; Z-SCORE</a:t>
            </a:r>
          </a:p>
        </p:txBody>
      </p:sp>
      <p:sp>
        <p:nvSpPr>
          <p:cNvPr id="6" name="Shape 3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28854" y="807415"/>
            <a:ext cx="2762402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854" y="929030"/>
            <a:ext cx="4358030" cy="3543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854" y="929030"/>
            <a:ext cx="435803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99846" y="1086307"/>
            <a:ext cx="401513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공식</a:t>
            </a:r>
          </a:p>
        </p:txBody>
      </p:sp>
      <p:sp>
        <p:nvSpPr>
          <p:cNvPr id="11" name="Shape 8"/>
          <p:cNvSpPr/>
          <p:nvPr/>
        </p:nvSpPr>
        <p:spPr>
          <a:xfrm>
            <a:off x="599846" y="1278331"/>
            <a:ext cx="401513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99846" y="1399946"/>
            <a:ext cx="400507" cy="14264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13" name="Text 10"/>
          <p:cNvSpPr/>
          <p:nvPr/>
        </p:nvSpPr>
        <p:spPr>
          <a:xfrm>
            <a:off x="575570" y="1416130"/>
            <a:ext cx="400507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공식</a:t>
            </a:r>
            <a:endParaRPr lang="en-US" sz="8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57046" y="1399946"/>
            <a:ext cx="35286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(내 값 - 평균) / 표준편차</a:t>
            </a:r>
          </a:p>
        </p:txBody>
      </p:sp>
      <p:sp>
        <p:nvSpPr>
          <p:cNvPr id="15" name="Shape 12"/>
          <p:cNvSpPr/>
          <p:nvPr/>
        </p:nvSpPr>
        <p:spPr>
          <a:xfrm>
            <a:off x="657454" y="1585570"/>
            <a:ext cx="10973" cy="37124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728777" y="1585570"/>
            <a:ext cx="384322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표준편차 몇 개만큼 평균에서 떨어져 있는지를 나타내는 수치</a:t>
            </a:r>
          </a:p>
        </p:txBody>
      </p:sp>
      <p:sp>
        <p:nvSpPr>
          <p:cNvPr id="17" name="Text 14"/>
          <p:cNvSpPr/>
          <p:nvPr/>
        </p:nvSpPr>
        <p:spPr>
          <a:xfrm>
            <a:off x="728777" y="1772107"/>
            <a:ext cx="384322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단위가 달라도 비교 가능하게 해줌</a:t>
            </a:r>
          </a:p>
        </p:txBody>
      </p:sp>
      <p:sp>
        <p:nvSpPr>
          <p:cNvPr id="18" name="Shape 15"/>
          <p:cNvSpPr/>
          <p:nvPr/>
        </p:nvSpPr>
        <p:spPr>
          <a:xfrm>
            <a:off x="599846" y="2057400"/>
            <a:ext cx="400507" cy="14264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575570" y="2073584"/>
            <a:ext cx="400507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</a:p>
        </p:txBody>
      </p:sp>
      <p:sp>
        <p:nvSpPr>
          <p:cNvPr id="20" name="Text 17"/>
          <p:cNvSpPr/>
          <p:nvPr/>
        </p:nvSpPr>
        <p:spPr>
          <a:xfrm>
            <a:off x="1057046" y="2057400"/>
            <a:ext cx="35286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 평균 70점, 표준편차 9, 내 점수 80점</a:t>
            </a:r>
          </a:p>
        </p:txBody>
      </p:sp>
      <p:sp>
        <p:nvSpPr>
          <p:cNvPr id="21" name="Shape 18"/>
          <p:cNvSpPr/>
          <p:nvPr/>
        </p:nvSpPr>
        <p:spPr>
          <a:xfrm>
            <a:off x="657454" y="2243023"/>
            <a:ext cx="10973" cy="18562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728777" y="2243023"/>
            <a:ext cx="384322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(80-70)/9 = 1.11 → 상위 몇 %인지 알 수 있음</a:t>
            </a:r>
          </a:p>
        </p:txBody>
      </p:sp>
      <p:sp>
        <p:nvSpPr>
          <p:cNvPr id="23" name="Shape 20"/>
          <p:cNvSpPr/>
          <p:nvPr/>
        </p:nvSpPr>
        <p:spPr>
          <a:xfrm>
            <a:off x="599846" y="2529230"/>
            <a:ext cx="400507" cy="14264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575570" y="2534441"/>
            <a:ext cx="45720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정규분포</a:t>
            </a:r>
          </a:p>
        </p:txBody>
      </p:sp>
      <p:sp>
        <p:nvSpPr>
          <p:cNvPr id="25" name="Text 22"/>
          <p:cNvSpPr/>
          <p:nvPr/>
        </p:nvSpPr>
        <p:spPr>
          <a:xfrm>
            <a:off x="1057046" y="2529230"/>
            <a:ext cx="35286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자연에서 수집한 데이터는 평균 주변에 종 모양으로 쌓임</a:t>
            </a:r>
          </a:p>
        </p:txBody>
      </p:sp>
      <p:sp>
        <p:nvSpPr>
          <p:cNvPr id="26" name="Shape 23"/>
          <p:cNvSpPr/>
          <p:nvPr/>
        </p:nvSpPr>
        <p:spPr>
          <a:xfrm>
            <a:off x="657454" y="2714854"/>
            <a:ext cx="10973" cy="37124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728777" y="2714854"/>
            <a:ext cx="384322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키, 시험 점수, 응답시간 등</a:t>
            </a:r>
          </a:p>
        </p:txBody>
      </p:sp>
      <p:sp>
        <p:nvSpPr>
          <p:cNvPr id="28" name="Text 25"/>
          <p:cNvSpPr/>
          <p:nvPr/>
        </p:nvSpPr>
        <p:spPr>
          <a:xfrm>
            <a:off x="728777" y="2900477"/>
            <a:ext cx="384322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이것을 정규분포(Normal Distribution)라고 함</a:t>
            </a:r>
          </a:p>
        </p:txBody>
      </p:sp>
      <p:sp>
        <p:nvSpPr>
          <p:cNvPr id="29" name="Shape 26"/>
          <p:cNvSpPr/>
          <p:nvPr/>
        </p:nvSpPr>
        <p:spPr>
          <a:xfrm>
            <a:off x="5000854" y="929030"/>
            <a:ext cx="3571646" cy="3543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5000854" y="929030"/>
            <a:ext cx="3571646" cy="24689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5171846" y="1086307"/>
            <a:ext cx="3228746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정리</a:t>
            </a:r>
          </a:p>
        </p:txBody>
      </p:sp>
      <p:sp>
        <p:nvSpPr>
          <p:cNvPr id="32" name="Shape 29"/>
          <p:cNvSpPr/>
          <p:nvPr/>
        </p:nvSpPr>
        <p:spPr>
          <a:xfrm>
            <a:off x="5171846" y="1278331"/>
            <a:ext cx="3228746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5171846" y="1399946"/>
            <a:ext cx="3228746" cy="58613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5171846" y="1399946"/>
            <a:ext cx="24689" cy="58613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5257800" y="1464869"/>
            <a:ext cx="307147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정규분포</a:t>
            </a:r>
          </a:p>
        </p:txBody>
      </p:sp>
      <p:sp>
        <p:nvSpPr>
          <p:cNvPr id="36" name="Text 33"/>
          <p:cNvSpPr/>
          <p:nvPr/>
        </p:nvSpPr>
        <p:spPr>
          <a:xfrm>
            <a:off x="5257800" y="1614830"/>
            <a:ext cx="3071470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중심 좌우 대칭, 종 모양 곡선. 68-95-99.7 규칙 적용</a:t>
            </a:r>
          </a:p>
        </p:txBody>
      </p:sp>
      <p:sp>
        <p:nvSpPr>
          <p:cNvPr id="37" name="Shape 34"/>
          <p:cNvSpPr/>
          <p:nvPr/>
        </p:nvSpPr>
        <p:spPr>
          <a:xfrm>
            <a:off x="5171846" y="2085746"/>
            <a:ext cx="3228746" cy="58613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5171846" y="2085746"/>
            <a:ext cx="24689" cy="58613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5257800" y="2150669"/>
            <a:ext cx="307147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표준정규분포</a:t>
            </a:r>
          </a:p>
        </p:txBody>
      </p:sp>
      <p:sp>
        <p:nvSpPr>
          <p:cNvPr id="40" name="Text 37"/>
          <p:cNvSpPr/>
          <p:nvPr/>
        </p:nvSpPr>
        <p:spPr>
          <a:xfrm>
            <a:off x="5257800" y="2300630"/>
            <a:ext cx="3071470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평균=0, 표준편차=1로 변환한 정규분포. z-score 활용</a:t>
            </a:r>
          </a:p>
        </p:txBody>
      </p:sp>
      <p:sp>
        <p:nvSpPr>
          <p:cNvPr id="41" name="Shape 38"/>
          <p:cNvSpPr/>
          <p:nvPr/>
        </p:nvSpPr>
        <p:spPr>
          <a:xfrm>
            <a:off x="5171846" y="2771546"/>
            <a:ext cx="3228746" cy="58613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5171846" y="2771546"/>
            <a:ext cx="24689" cy="58613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/>
          <p:nvPr/>
        </p:nvSpPr>
        <p:spPr>
          <a:xfrm>
            <a:off x="5257800" y="2836469"/>
            <a:ext cx="307147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활용</a:t>
            </a:r>
          </a:p>
        </p:txBody>
      </p:sp>
      <p:sp>
        <p:nvSpPr>
          <p:cNvPr id="44" name="Text 41"/>
          <p:cNvSpPr/>
          <p:nvPr/>
        </p:nvSpPr>
        <p:spPr>
          <a:xfrm>
            <a:off x="5257800" y="2986430"/>
            <a:ext cx="3071470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정규분포표에서 확률 계산. 내가 몇 %보다 높은지 알 수 있음</a:t>
            </a:r>
          </a:p>
        </p:txBody>
      </p:sp>
      <p:sp>
        <p:nvSpPr>
          <p:cNvPr id="45" name="Shape 42"/>
          <p:cNvSpPr/>
          <p:nvPr/>
        </p:nvSpPr>
        <p:spPr>
          <a:xfrm>
            <a:off x="5171846" y="3500323"/>
            <a:ext cx="3228746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/>
          <p:nvPr/>
        </p:nvSpPr>
        <p:spPr>
          <a:xfrm>
            <a:off x="5171846" y="3543300"/>
            <a:ext cx="3228746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= 평균에서 표준편차 몇 개만큼 떨어져 있나를 숫자로 표현</a:t>
            </a:r>
          </a:p>
        </p:txBody>
      </p:sp>
      <p:sp>
        <p:nvSpPr>
          <p:cNvPr id="47" name="Shape 44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</a:p>
        </p:txBody>
      </p:sp>
      <p:sp>
        <p:nvSpPr>
          <p:cNvPr id="49" name="Text 46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정규분포와 z-score</a:t>
            </a:r>
          </a:p>
        </p:txBody>
      </p:sp>
      <p:sp>
        <p:nvSpPr>
          <p:cNvPr id="50" name="Text 47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</a:p>
        </p:txBody>
      </p:sp>
      <p:pic>
        <p:nvPicPr>
          <p:cNvPr id="51" name="Picture 4" descr="서강대학교 - 더시드위키">
            <a:extLst>
              <a:ext uri="{FF2B5EF4-FFF2-40B4-BE49-F238E27FC236}">
                <a16:creationId xmlns:a16="http://schemas.microsoft.com/office/drawing/2014/main" id="{E335A1C9-334C-88CD-DBB8-CBC113AB2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79" y="239131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8751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854" y="228600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93369" y="235915"/>
            <a:ext cx="64291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</a:t>
            </a:r>
            <a:r>
              <a:rPr lang="en-US" sz="17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신뢰구간</a:t>
            </a:r>
            <a:r>
              <a:rPr lang="ko-KR" alt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이란</a:t>
            </a: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</a:p>
        </p:txBody>
      </p:sp>
      <p:sp>
        <p:nvSpPr>
          <p:cNvPr id="5" name="Text 2"/>
          <p:cNvSpPr/>
          <p:nvPr/>
        </p:nvSpPr>
        <p:spPr>
          <a:xfrm>
            <a:off x="893369" y="442570"/>
            <a:ext cx="64291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</a:t>
            </a:r>
          </a:p>
        </p:txBody>
      </p:sp>
      <p:sp>
        <p:nvSpPr>
          <p:cNvPr id="6" name="Shape 3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28854" y="807415"/>
            <a:ext cx="3683203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854" y="886054"/>
            <a:ext cx="8287207" cy="32827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854" y="886054"/>
            <a:ext cx="24689" cy="32827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71500" y="964692"/>
            <a:ext cx="79296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뉴스에서 "지지율 38%, 오차범위 ±3.1%p"라고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하는</a:t>
            </a:r>
            <a:r>
              <a:rPr lang="ko-KR" alt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내용이 신뢰구간이다</a:t>
            </a:r>
            <a:r>
              <a:rPr lang="en-US" altLang="ko-KR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28854" y="1314907"/>
            <a:ext cx="2572207" cy="314370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28854" y="1314907"/>
            <a:ext cx="2572207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86130" y="1457554"/>
            <a:ext cx="2257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신뢰구간의 의미</a:t>
            </a:r>
          </a:p>
        </p:txBody>
      </p:sp>
      <p:sp>
        <p:nvSpPr>
          <p:cNvPr id="14" name="Text 11"/>
          <p:cNvSpPr/>
          <p:nvPr/>
        </p:nvSpPr>
        <p:spPr>
          <a:xfrm>
            <a:off x="586130" y="1621231"/>
            <a:ext cx="2257654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방법으로 100번 조사하면</a:t>
            </a:r>
          </a:p>
        </p:txBody>
      </p:sp>
      <p:sp>
        <p:nvSpPr>
          <p:cNvPr id="15" name="Shape 12"/>
          <p:cNvSpPr/>
          <p:nvPr/>
        </p:nvSpPr>
        <p:spPr>
          <a:xfrm>
            <a:off x="586130" y="1764792"/>
            <a:ext cx="2257654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86130" y="1857146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95번은 진짜 값이 이 구간 안에 들어온다</a:t>
            </a:r>
          </a:p>
        </p:txBody>
      </p:sp>
      <p:sp>
        <p:nvSpPr>
          <p:cNvPr id="17" name="Text 14"/>
          <p:cNvSpPr/>
          <p:nvPr/>
        </p:nvSpPr>
        <p:spPr>
          <a:xfrm>
            <a:off x="586130" y="2171700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± 3.1%라면 진짜 지지율은</a:t>
            </a:r>
          </a:p>
        </p:txBody>
      </p:sp>
      <p:sp>
        <p:nvSpPr>
          <p:cNvPr id="18" name="Text 15"/>
          <p:cNvSpPr/>
          <p:nvPr/>
        </p:nvSpPr>
        <p:spPr>
          <a:xfrm>
            <a:off x="586130" y="2486254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34.9% ~ 41.1% 사이일 가능성이 높다</a:t>
            </a:r>
          </a:p>
        </p:txBody>
      </p:sp>
      <p:sp>
        <p:nvSpPr>
          <p:cNvPr id="19" name="Shape 16"/>
          <p:cNvSpPr/>
          <p:nvPr/>
        </p:nvSpPr>
        <p:spPr>
          <a:xfrm>
            <a:off x="3286354" y="1314907"/>
            <a:ext cx="2572207" cy="314370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3286354" y="1314907"/>
            <a:ext cx="2572207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3443630" y="1457554"/>
            <a:ext cx="2257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점추정 vs 구간추정</a:t>
            </a:r>
          </a:p>
        </p:txBody>
      </p:sp>
      <p:sp>
        <p:nvSpPr>
          <p:cNvPr id="22" name="Text 19"/>
          <p:cNvSpPr/>
          <p:nvPr/>
        </p:nvSpPr>
        <p:spPr>
          <a:xfrm>
            <a:off x="3443630" y="1621231"/>
            <a:ext cx="2257654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추정 방법의 두 가지 접근</a:t>
            </a:r>
          </a:p>
        </p:txBody>
      </p:sp>
      <p:sp>
        <p:nvSpPr>
          <p:cNvPr id="23" name="Shape 20"/>
          <p:cNvSpPr/>
          <p:nvPr/>
        </p:nvSpPr>
        <p:spPr>
          <a:xfrm>
            <a:off x="3443630" y="1764792"/>
            <a:ext cx="2257654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3443630" y="1857146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점추정: 값 하나 ("지지율은 38%")</a:t>
            </a:r>
          </a:p>
        </p:txBody>
      </p:sp>
      <p:sp>
        <p:nvSpPr>
          <p:cNvPr id="25" name="Text 22"/>
          <p:cNvSpPr/>
          <p:nvPr/>
        </p:nvSpPr>
        <p:spPr>
          <a:xfrm>
            <a:off x="3443630" y="2171700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구간추정: 범위로 추정 ("34.9%~41.1%")</a:t>
            </a:r>
          </a:p>
        </p:txBody>
      </p:sp>
      <p:sp>
        <p:nvSpPr>
          <p:cNvPr id="26" name="Text 23"/>
          <p:cNvSpPr/>
          <p:nvPr/>
        </p:nvSpPr>
        <p:spPr>
          <a:xfrm>
            <a:off x="3443630" y="2486254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구간추정이 불확실성을 솔직하게 표현</a:t>
            </a:r>
          </a:p>
        </p:txBody>
      </p:sp>
      <p:sp>
        <p:nvSpPr>
          <p:cNvPr id="27" name="Shape 24"/>
          <p:cNvSpPr/>
          <p:nvPr/>
        </p:nvSpPr>
        <p:spPr>
          <a:xfrm>
            <a:off x="6143854" y="1314907"/>
            <a:ext cx="2572207" cy="314370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6143854" y="1314907"/>
            <a:ext cx="2572207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6301130" y="1457554"/>
            <a:ext cx="2257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신뢰수준 비교</a:t>
            </a:r>
          </a:p>
        </p:txBody>
      </p:sp>
      <p:sp>
        <p:nvSpPr>
          <p:cNvPr id="30" name="Text 27"/>
          <p:cNvSpPr/>
          <p:nvPr/>
        </p:nvSpPr>
        <p:spPr>
          <a:xfrm>
            <a:off x="6301130" y="1621231"/>
            <a:ext cx="2257654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신뢰수준이 높을수록 구간이 넓어짐</a:t>
            </a:r>
          </a:p>
        </p:txBody>
      </p:sp>
      <p:sp>
        <p:nvSpPr>
          <p:cNvPr id="31" name="Shape 28"/>
          <p:cNvSpPr/>
          <p:nvPr/>
        </p:nvSpPr>
        <p:spPr>
          <a:xfrm>
            <a:off x="6301130" y="1764792"/>
            <a:ext cx="2257654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6301130" y="1857146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신뢰구간: 좁지만 틀릴 확률 높음</a:t>
            </a:r>
          </a:p>
        </p:txBody>
      </p:sp>
      <p:sp>
        <p:nvSpPr>
          <p:cNvPr id="33" name="Text 30"/>
          <p:cNvSpPr/>
          <p:nvPr/>
        </p:nvSpPr>
        <p:spPr>
          <a:xfrm>
            <a:off x="6301130" y="2171700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신뢰구간: 가장 많이 사용</a:t>
            </a:r>
          </a:p>
        </p:txBody>
      </p:sp>
      <p:sp>
        <p:nvSpPr>
          <p:cNvPr id="34" name="Text 31"/>
          <p:cNvSpPr/>
          <p:nvPr/>
        </p:nvSpPr>
        <p:spPr>
          <a:xfrm>
            <a:off x="6301130" y="2486254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신뢰구간: 넓지만 거의 확실</a:t>
            </a:r>
          </a:p>
        </p:txBody>
      </p:sp>
      <p:sp>
        <p:nvSpPr>
          <p:cNvPr id="35" name="Shape 32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</a:p>
        </p:txBody>
      </p:sp>
      <p:sp>
        <p:nvSpPr>
          <p:cNvPr id="37" name="Text 34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신뢰구간</a:t>
            </a:r>
          </a:p>
        </p:txBody>
      </p:sp>
      <p:sp>
        <p:nvSpPr>
          <p:cNvPr id="38" name="Text 35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</a:p>
        </p:txBody>
      </p:sp>
      <p:pic>
        <p:nvPicPr>
          <p:cNvPr id="39" name="Picture 4" descr="서강대학교 - 더시드위키">
            <a:extLst>
              <a:ext uri="{FF2B5EF4-FFF2-40B4-BE49-F238E27FC236}">
                <a16:creationId xmlns:a16="http://schemas.microsoft.com/office/drawing/2014/main" id="{7A64F662-3F7E-1E8F-3030-8749DB258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79" y="239629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8933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3D2DB-56E0-F0A8-C142-58D1F1C80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6">
            <a:extLst>
              <a:ext uri="{FF2B5EF4-FFF2-40B4-BE49-F238E27FC236}">
                <a16:creationId xmlns:a16="http://schemas.microsoft.com/office/drawing/2014/main" id="{E0E82AEF-42C2-C61D-7F0F-DD77C1C65612}"/>
              </a:ext>
            </a:extLst>
          </p:cNvPr>
          <p:cNvSpPr/>
          <p:nvPr/>
        </p:nvSpPr>
        <p:spPr>
          <a:xfrm>
            <a:off x="3286354" y="1531625"/>
            <a:ext cx="2572207" cy="302409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240FA3B8-5D21-21FD-B7E7-D938867F06A3}"/>
              </a:ext>
            </a:extLst>
          </p:cNvPr>
          <p:cNvSpPr/>
          <p:nvPr/>
        </p:nvSpPr>
        <p:spPr>
          <a:xfrm>
            <a:off x="428854" y="228600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EAC57EF-0C12-E2E1-817E-B040F681AC62}"/>
              </a:ext>
            </a:extLst>
          </p:cNvPr>
          <p:cNvSpPr/>
          <p:nvPr/>
        </p:nvSpPr>
        <p:spPr>
          <a:xfrm>
            <a:off x="893369" y="235915"/>
            <a:ext cx="64291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</a:t>
            </a:r>
            <a:r>
              <a:rPr lang="ko-KR" alt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구간 추정 </a:t>
            </a:r>
            <a:r>
              <a:rPr lang="en-US" altLang="ko-KR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R/Python</a:t>
            </a:r>
            <a:endParaRPr lang="en-US" sz="17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F35110B-3CB6-7C06-22B1-69D1EA2A67BF}"/>
              </a:ext>
            </a:extLst>
          </p:cNvPr>
          <p:cNvSpPr/>
          <p:nvPr/>
        </p:nvSpPr>
        <p:spPr>
          <a:xfrm>
            <a:off x="893369" y="442570"/>
            <a:ext cx="64291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4DDACED-C843-D52A-25ED-13AD4411DE4E}"/>
              </a:ext>
            </a:extLst>
          </p:cNvPr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BA4F420-B399-4D05-CC33-4D38F9C9BBAE}"/>
              </a:ext>
            </a:extLst>
          </p:cNvPr>
          <p:cNvSpPr/>
          <p:nvPr/>
        </p:nvSpPr>
        <p:spPr>
          <a:xfrm>
            <a:off x="428854" y="807415"/>
            <a:ext cx="3683203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11EC546-630C-E5F0-78CC-682D40251036}"/>
              </a:ext>
            </a:extLst>
          </p:cNvPr>
          <p:cNvSpPr/>
          <p:nvPr/>
        </p:nvSpPr>
        <p:spPr>
          <a:xfrm>
            <a:off x="571500" y="964692"/>
            <a:ext cx="79296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F02401F1-3353-D437-F446-19873E91B434}"/>
              </a:ext>
            </a:extLst>
          </p:cNvPr>
          <p:cNvSpPr/>
          <p:nvPr/>
        </p:nvSpPr>
        <p:spPr>
          <a:xfrm>
            <a:off x="428854" y="1531625"/>
            <a:ext cx="2694672" cy="302409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EA4BEB36-66C4-8EFE-7D24-E8832EB9C59C}"/>
              </a:ext>
            </a:extLst>
          </p:cNvPr>
          <p:cNvSpPr/>
          <p:nvPr/>
        </p:nvSpPr>
        <p:spPr>
          <a:xfrm>
            <a:off x="433887" y="1505520"/>
            <a:ext cx="2689638" cy="4571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530EE66D-2067-97FF-3B6C-B92FF0D8F4E9}"/>
              </a:ext>
            </a:extLst>
          </p:cNvPr>
          <p:cNvSpPr/>
          <p:nvPr/>
        </p:nvSpPr>
        <p:spPr>
          <a:xfrm>
            <a:off x="3291387" y="1505520"/>
            <a:ext cx="2572207" cy="581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F35F44DF-A0DA-88B1-97BF-5F37358816B9}"/>
              </a:ext>
            </a:extLst>
          </p:cNvPr>
          <p:cNvSpPr/>
          <p:nvPr/>
        </p:nvSpPr>
        <p:spPr>
          <a:xfrm>
            <a:off x="6031456" y="1531625"/>
            <a:ext cx="2684606" cy="302409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02B2874A-066F-B016-5564-5FC55084E0C4}"/>
              </a:ext>
            </a:extLst>
          </p:cNvPr>
          <p:cNvSpPr/>
          <p:nvPr/>
        </p:nvSpPr>
        <p:spPr>
          <a:xfrm flipV="1">
            <a:off x="6031455" y="1530209"/>
            <a:ext cx="2689639" cy="4571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927A5C91-8B07-E48D-53B5-95A46304FB88}"/>
              </a:ext>
            </a:extLst>
          </p:cNvPr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B6BD582D-0BFF-870E-728C-0D4ED90C8469}"/>
              </a:ext>
            </a:extLst>
          </p:cNvPr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altLang="ko-KR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5FA17275-981C-22AC-DCD6-9B4C4494AE92}"/>
              </a:ext>
            </a:extLst>
          </p:cNvPr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구간 추정</a:t>
            </a:r>
            <a:endParaRPr lang="en-US" sz="85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0B7D61F1-5C03-B93C-577E-F6984184D36B}"/>
              </a:ext>
            </a:extLst>
          </p:cNvPr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</a:p>
        </p:txBody>
      </p:sp>
      <p:pic>
        <p:nvPicPr>
          <p:cNvPr id="39" name="Picture 4" descr="서강대학교 - 더시드위키">
            <a:extLst>
              <a:ext uri="{FF2B5EF4-FFF2-40B4-BE49-F238E27FC236}">
                <a16:creationId xmlns:a16="http://schemas.microsoft.com/office/drawing/2014/main" id="{82539D7D-E14B-05D3-E3B4-1C8D27442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79" y="239629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Shape 5">
            <a:extLst>
              <a:ext uri="{FF2B5EF4-FFF2-40B4-BE49-F238E27FC236}">
                <a16:creationId xmlns:a16="http://schemas.microsoft.com/office/drawing/2014/main" id="{E18EE775-5DDA-85C1-E870-FEAE7DEC4FBE}"/>
              </a:ext>
            </a:extLst>
          </p:cNvPr>
          <p:cNvSpPr/>
          <p:nvPr/>
        </p:nvSpPr>
        <p:spPr>
          <a:xfrm>
            <a:off x="441979" y="892830"/>
            <a:ext cx="8287207" cy="5397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B9D8A6E7-D488-F88F-ED41-990B1C428966}"/>
              </a:ext>
            </a:extLst>
          </p:cNvPr>
          <p:cNvSpPr/>
          <p:nvPr/>
        </p:nvSpPr>
        <p:spPr>
          <a:xfrm>
            <a:off x="441979" y="909014"/>
            <a:ext cx="45719" cy="52353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ADABEBA1-1E56-D434-E59D-40EDD880A4BF}"/>
              </a:ext>
            </a:extLst>
          </p:cNvPr>
          <p:cNvSpPr/>
          <p:nvPr/>
        </p:nvSpPr>
        <p:spPr>
          <a:xfrm>
            <a:off x="584625" y="1076665"/>
            <a:ext cx="79296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</a:t>
            </a:r>
            <a:r>
              <a:rPr lang="ko-KR" altLang="en-US" sz="8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표본평균의 분포에서의 신뢰구간</a:t>
            </a:r>
            <a:r>
              <a:rPr lang="en-US" altLang="ko-KR" sz="8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8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표본평균의 분포에서의 신뢰구간</a:t>
            </a:r>
            <a:r>
              <a:rPr lang="en-US" altLang="ko-KR" sz="8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(1-a)</a:t>
            </a:r>
          </a:p>
          <a:p>
            <a:r>
              <a:rPr lang="en-US" altLang="ko-KR" sz="8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</a:t>
            </a:r>
            <a:r>
              <a:rPr lang="ko-KR" altLang="en-US" sz="87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코딩예</a:t>
            </a:r>
            <a:r>
              <a:rPr lang="en-US" altLang="ko-KR" sz="8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ko-KR" altLang="en-US" sz="8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표준정규분포에서 평균을 중심으로 </a:t>
            </a:r>
            <a:r>
              <a:rPr lang="en-US" altLang="ko-KR" sz="8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</a:t>
            </a:r>
            <a:r>
              <a:rPr lang="ko-KR" altLang="en-US" sz="8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면적 오류확률 </a:t>
            </a:r>
            <a:r>
              <a:rPr lang="en-US" altLang="ko-KR" sz="8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a=0.05 </a:t>
            </a:r>
            <a:r>
              <a:rPr lang="ko-KR" altLang="en-US" sz="8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</a:t>
            </a:r>
          </a:p>
          <a:p>
            <a:r>
              <a:rPr lang="en-US" altLang="ko-KR" sz="8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95% </a:t>
            </a:r>
            <a:r>
              <a:rPr lang="ko-KR" altLang="en-US" sz="8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신뢰구간 </a:t>
            </a:r>
            <a:r>
              <a:rPr lang="en-US" altLang="ko-KR" sz="8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8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 가설검증의 기준이 됨  </a:t>
            </a:r>
            <a:r>
              <a:rPr lang="en-US" altLang="ko-KR" sz="8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</a:t>
            </a:r>
            <a:r>
              <a:rPr lang="ko-KR" altLang="en-US" sz="8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이내 귀무가설 채택</a:t>
            </a:r>
            <a:r>
              <a:rPr lang="en-US" altLang="ko-KR" sz="8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</p:txBody>
      </p:sp>
      <p:sp>
        <p:nvSpPr>
          <p:cNvPr id="44" name="AutoShape 2">
            <a:extLst>
              <a:ext uri="{FF2B5EF4-FFF2-40B4-BE49-F238E27FC236}">
                <a16:creationId xmlns:a16="http://schemas.microsoft.com/office/drawing/2014/main" id="{2A416A2F-441A-762C-BF32-1D262C3C2E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5" name="AutoShape 4">
            <a:extLst>
              <a:ext uri="{FF2B5EF4-FFF2-40B4-BE49-F238E27FC236}">
                <a16:creationId xmlns:a16="http://schemas.microsoft.com/office/drawing/2014/main" id="{5E79E2E6-853A-F45D-8ADC-5635BCA2E1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1999" y="837357"/>
            <a:ext cx="2039193" cy="203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809F072F-60F2-13DC-5B94-44985E01C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2480" y="1894076"/>
            <a:ext cx="2424819" cy="1166309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5E65FC7F-81BD-C61F-7146-EAF3EF45DC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5144" y="1892190"/>
            <a:ext cx="2499871" cy="2493687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790C1E6-4C13-E4C0-BC8C-4E0246B3AF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436" y="1863514"/>
            <a:ext cx="2312293" cy="2547645"/>
          </a:xfrm>
          <a:prstGeom prst="rect">
            <a:avLst/>
          </a:prstGeom>
        </p:spPr>
      </p:pic>
      <p:sp>
        <p:nvSpPr>
          <p:cNvPr id="50" name="Text 10">
            <a:extLst>
              <a:ext uri="{FF2B5EF4-FFF2-40B4-BE49-F238E27FC236}">
                <a16:creationId xmlns:a16="http://schemas.microsoft.com/office/drawing/2014/main" id="{948FD5C1-D04C-C283-EFDB-08801D540045}"/>
              </a:ext>
            </a:extLst>
          </p:cNvPr>
          <p:cNvSpPr/>
          <p:nvPr/>
        </p:nvSpPr>
        <p:spPr>
          <a:xfrm>
            <a:off x="630829" y="1643402"/>
            <a:ext cx="2257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</a:p>
        </p:txBody>
      </p:sp>
      <p:sp>
        <p:nvSpPr>
          <p:cNvPr id="51" name="Text 10">
            <a:extLst>
              <a:ext uri="{FF2B5EF4-FFF2-40B4-BE49-F238E27FC236}">
                <a16:creationId xmlns:a16="http://schemas.microsoft.com/office/drawing/2014/main" id="{D27810F4-815F-F50A-43FF-3E65696328F0}"/>
              </a:ext>
            </a:extLst>
          </p:cNvPr>
          <p:cNvSpPr/>
          <p:nvPr/>
        </p:nvSpPr>
        <p:spPr>
          <a:xfrm>
            <a:off x="6262283" y="1654875"/>
            <a:ext cx="2257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</a:p>
        </p:txBody>
      </p:sp>
      <p:sp>
        <p:nvSpPr>
          <p:cNvPr id="52" name="Text 10">
            <a:extLst>
              <a:ext uri="{FF2B5EF4-FFF2-40B4-BE49-F238E27FC236}">
                <a16:creationId xmlns:a16="http://schemas.microsoft.com/office/drawing/2014/main" id="{F31154E0-3410-CD0E-A653-44FAC97D6C5F}"/>
              </a:ext>
            </a:extLst>
          </p:cNvPr>
          <p:cNvSpPr/>
          <p:nvPr/>
        </p:nvSpPr>
        <p:spPr>
          <a:xfrm>
            <a:off x="3443172" y="1747757"/>
            <a:ext cx="225765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A9D6C507-D0ED-C986-D1BD-DCF904A5D291}"/>
              </a:ext>
            </a:extLst>
          </p:cNvPr>
          <p:cNvSpPr/>
          <p:nvPr/>
        </p:nvSpPr>
        <p:spPr>
          <a:xfrm>
            <a:off x="3378952" y="3111058"/>
            <a:ext cx="2424819" cy="1286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/>
              <a:t>표준정규분포 곡선에서 가운데 </a:t>
            </a:r>
            <a:r>
              <a:rPr lang="en-US" altLang="ko-KR" sz="800" dirty="0"/>
              <a:t>95% </a:t>
            </a:r>
            <a:r>
              <a:rPr lang="ko-KR" altLang="en-US" sz="800" dirty="0"/>
              <a:t>영역과 양쪽 </a:t>
            </a:r>
            <a:r>
              <a:rPr lang="ko-KR" altLang="en-US" sz="800" dirty="0" err="1"/>
              <a:t>기각역</a:t>
            </a:r>
            <a:r>
              <a:rPr lang="ko-KR" altLang="en-US" sz="800" dirty="0"/>
              <a:t> </a:t>
            </a:r>
            <a:r>
              <a:rPr lang="en-US" altLang="ko-KR" sz="800" dirty="0"/>
              <a:t>2.5%</a:t>
            </a:r>
            <a:r>
              <a:rPr lang="ko-KR" altLang="en-US" sz="800" dirty="0"/>
              <a:t>씩의 경계선이 </a:t>
            </a:r>
            <a:r>
              <a:rPr lang="en-US" altLang="ko-KR" sz="800" dirty="0"/>
              <a:t>±1.96</a:t>
            </a:r>
            <a:r>
              <a:rPr lang="ko-KR" altLang="en-US" sz="800" dirty="0"/>
              <a:t>이다</a:t>
            </a:r>
            <a:r>
              <a:rPr lang="en-US" altLang="ko-KR" sz="800" dirty="0"/>
              <a:t>.</a:t>
            </a:r>
          </a:p>
          <a:p>
            <a:endParaRPr lang="en-US" altLang="ko-KR" sz="800" dirty="0"/>
          </a:p>
          <a:p>
            <a:r>
              <a:rPr lang="en-US" altLang="ko-KR" sz="800" dirty="0"/>
              <a:t>±1.96</a:t>
            </a:r>
            <a:r>
              <a:rPr lang="ko-KR" altLang="en-US" sz="800" dirty="0"/>
              <a:t>은 코드의 </a:t>
            </a:r>
            <a:r>
              <a:rPr lang="en" altLang="ko-KR" sz="800" dirty="0" err="1"/>
              <a:t>qnorm</a:t>
            </a:r>
            <a:r>
              <a:rPr lang="en" altLang="ko-KR" sz="800" dirty="0"/>
              <a:t>(0.025), </a:t>
            </a:r>
            <a:r>
              <a:rPr lang="en" altLang="ko-KR" sz="800" dirty="0" err="1"/>
              <a:t>qnorm</a:t>
            </a:r>
            <a:r>
              <a:rPr lang="en" altLang="ko-KR" sz="800" dirty="0"/>
              <a:t>(0.975)</a:t>
            </a:r>
            <a:r>
              <a:rPr lang="ko-KR" altLang="en-US" sz="800" dirty="0"/>
              <a:t>가 계산한 값으로</a:t>
            </a:r>
            <a:r>
              <a:rPr lang="en-US" altLang="ko-KR" sz="800" dirty="0"/>
              <a:t>, </a:t>
            </a:r>
            <a:r>
              <a:rPr lang="ko-KR" altLang="en-US" sz="800" dirty="0"/>
              <a:t>전체 면적을 </a:t>
            </a:r>
            <a:r>
              <a:rPr lang="en-US" altLang="ko-KR" sz="800" dirty="0"/>
              <a:t>1</a:t>
            </a:r>
            <a:r>
              <a:rPr lang="ko-KR" altLang="en-US" sz="800" dirty="0"/>
              <a:t>로 봤을 때 </a:t>
            </a:r>
            <a:r>
              <a:rPr lang="en-US" altLang="ko-KR" sz="800" dirty="0"/>
              <a:t>2.5% </a:t>
            </a:r>
            <a:r>
              <a:rPr lang="ko-KR" altLang="en-US" sz="800" dirty="0"/>
              <a:t>지점의 </a:t>
            </a:r>
            <a:r>
              <a:rPr lang="en" altLang="ko-KR" sz="800" dirty="0"/>
              <a:t>x</a:t>
            </a:r>
            <a:r>
              <a:rPr lang="ko-KR" altLang="en-US" sz="800" dirty="0"/>
              <a:t>값이 </a:t>
            </a:r>
            <a:r>
              <a:rPr lang="ko-KR" altLang="en-US" sz="800" dirty="0" err="1"/>
              <a:t>얼마냐를</a:t>
            </a:r>
            <a:r>
              <a:rPr lang="ko-KR" altLang="en-US" sz="800" dirty="0"/>
              <a:t> 표준정규분포에서 찾으면 수학적으로 </a:t>
            </a:r>
            <a:r>
              <a:rPr lang="en-US" altLang="ko-KR" sz="800" dirty="0"/>
              <a:t>1.96</a:t>
            </a:r>
            <a:r>
              <a:rPr lang="ko-KR" altLang="en-US" sz="800" dirty="0"/>
              <a:t>이 나온다</a:t>
            </a:r>
            <a:r>
              <a:rPr lang="en-US" altLang="ko-KR" sz="800" dirty="0"/>
              <a:t>.</a:t>
            </a:r>
          </a:p>
          <a:p>
            <a:endParaRPr lang="en-US" altLang="ko-KR" sz="800" dirty="0"/>
          </a:p>
          <a:p>
            <a:r>
              <a:rPr lang="ko-KR" altLang="en-US" sz="800" dirty="0" err="1"/>
              <a:t>가설검정할</a:t>
            </a:r>
            <a:r>
              <a:rPr lang="ko-KR" altLang="en-US" sz="800" dirty="0"/>
              <a:t> 때 계산한 </a:t>
            </a:r>
            <a:r>
              <a:rPr lang="en" altLang="ko-KR" sz="800" dirty="0"/>
              <a:t>z</a:t>
            </a:r>
            <a:r>
              <a:rPr lang="ko-KR" altLang="en-US" sz="800" dirty="0"/>
              <a:t>값이 </a:t>
            </a:r>
            <a:r>
              <a:rPr lang="en-US" altLang="ko-KR" sz="800" dirty="0"/>
              <a:t>±1.96 </a:t>
            </a:r>
            <a:r>
              <a:rPr lang="ko-KR" altLang="en-US" sz="800" dirty="0"/>
              <a:t>바깥이면 귀무가설 기각</a:t>
            </a:r>
            <a:r>
              <a:rPr lang="en-US" altLang="ko-KR" sz="800" dirty="0"/>
              <a:t>, </a:t>
            </a:r>
            <a:r>
              <a:rPr lang="ko-KR" altLang="en-US" sz="800" dirty="0"/>
              <a:t>안쪽이면 귀무가설 채택임</a:t>
            </a:r>
            <a:r>
              <a:rPr lang="en-US" altLang="ko-KR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1253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854" y="228600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93369" y="235915"/>
            <a:ext cx="64291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</a:t>
            </a:r>
            <a:r>
              <a:rPr lang="en-US" sz="17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가설검정</a:t>
            </a:r>
            <a:r>
              <a:rPr lang="ko-KR" alt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이란</a:t>
            </a: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</a:p>
        </p:txBody>
      </p:sp>
      <p:sp>
        <p:nvSpPr>
          <p:cNvPr id="5" name="Text 2"/>
          <p:cNvSpPr/>
          <p:nvPr/>
        </p:nvSpPr>
        <p:spPr>
          <a:xfrm>
            <a:off x="893369" y="442570"/>
            <a:ext cx="64291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</a:p>
        </p:txBody>
      </p:sp>
      <p:sp>
        <p:nvSpPr>
          <p:cNvPr id="6" name="Shape 3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28854" y="807415"/>
            <a:ext cx="4604004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854" y="929030"/>
            <a:ext cx="4000500" cy="352867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854" y="929030"/>
            <a:ext cx="400050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99846" y="1086307"/>
            <a:ext cx="365760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가설검정 절차</a:t>
            </a:r>
          </a:p>
        </p:txBody>
      </p:sp>
      <p:sp>
        <p:nvSpPr>
          <p:cNvPr id="11" name="Shape 8"/>
          <p:cNvSpPr/>
          <p:nvPr/>
        </p:nvSpPr>
        <p:spPr>
          <a:xfrm>
            <a:off x="599846" y="1278331"/>
            <a:ext cx="365760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99846" y="1485465"/>
            <a:ext cx="365760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질문에 데이터로 답하는 방법</a:t>
            </a:r>
          </a:p>
        </p:txBody>
      </p:sp>
      <p:sp>
        <p:nvSpPr>
          <p:cNvPr id="13" name="Text 10"/>
          <p:cNvSpPr/>
          <p:nvPr/>
        </p:nvSpPr>
        <p:spPr>
          <a:xfrm>
            <a:off x="599846" y="1800019"/>
            <a:ext cx="365760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개발에서의 A/B 테스트와 같은 구조</a:t>
            </a:r>
          </a:p>
        </p:txBody>
      </p:sp>
      <p:sp>
        <p:nvSpPr>
          <p:cNvPr id="14" name="Text 11"/>
          <p:cNvSpPr/>
          <p:nvPr/>
        </p:nvSpPr>
        <p:spPr>
          <a:xfrm>
            <a:off x="599846" y="2114573"/>
            <a:ext cx="365760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귀무가설(H₀): 변화 없음이 기본 가정</a:t>
            </a:r>
          </a:p>
        </p:txBody>
      </p:sp>
      <p:sp>
        <p:nvSpPr>
          <p:cNvPr id="15" name="Text 12"/>
          <p:cNvSpPr/>
          <p:nvPr/>
        </p:nvSpPr>
        <p:spPr>
          <a:xfrm>
            <a:off x="599846" y="2429126"/>
            <a:ext cx="365760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대립가설(H₁): 우리가 증명하고 싶은 것</a:t>
            </a:r>
          </a:p>
        </p:txBody>
      </p:sp>
      <p:sp>
        <p:nvSpPr>
          <p:cNvPr id="16" name="Shape 13"/>
          <p:cNvSpPr/>
          <p:nvPr/>
        </p:nvSpPr>
        <p:spPr>
          <a:xfrm>
            <a:off x="599846" y="2836034"/>
            <a:ext cx="3657600" cy="514807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599846" y="2836034"/>
            <a:ext cx="24689" cy="514807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685800" y="2886326"/>
            <a:ext cx="3514954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모아 H₀이 맞을 확률(p-value) </a:t>
            </a: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너무 낮으면(보통 5% 미만) H₀ 기각</a:t>
            </a:r>
          </a:p>
        </p:txBody>
      </p:sp>
      <p:sp>
        <p:nvSpPr>
          <p:cNvPr id="19" name="Shape 16"/>
          <p:cNvSpPr/>
          <p:nvPr/>
        </p:nvSpPr>
        <p:spPr>
          <a:xfrm>
            <a:off x="4714646" y="929030"/>
            <a:ext cx="4000500" cy="352867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4714646" y="929030"/>
            <a:ext cx="400050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4886554" y="1086307"/>
            <a:ext cx="365760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테스트 예시</a:t>
            </a:r>
          </a:p>
        </p:txBody>
      </p:sp>
      <p:sp>
        <p:nvSpPr>
          <p:cNvPr id="22" name="Shape 19"/>
          <p:cNvSpPr/>
          <p:nvPr/>
        </p:nvSpPr>
        <p:spPr>
          <a:xfrm>
            <a:off x="4886554" y="1278331"/>
            <a:ext cx="365760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4886554" y="1399946"/>
            <a:ext cx="3657600" cy="2572207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4" name="Text 21"/>
          <p:cNvSpPr/>
          <p:nvPr/>
        </p:nvSpPr>
        <p:spPr>
          <a:xfrm>
            <a:off x="4886554" y="1399946"/>
            <a:ext cx="3657600" cy="2572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(귀무가설)</a:t>
            </a:r>
          </a:p>
          <a:p>
            <a:pPr marL="0" indent="0">
              <a:buNone/>
            </a:pPr>
            <a:r>
              <a:rPr lang="ko-KR" alt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9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색을 바꿔도 클릭률 차이 없음 (기본 가정)</a:t>
            </a:r>
          </a:p>
          <a:p>
            <a:pPr marL="0" indent="0">
              <a:buNone/>
            </a:pPr>
            <a:r>
              <a:rPr lang="en-US" sz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ko-KR" alt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(대립가설)</a:t>
            </a:r>
          </a:p>
          <a:p>
            <a:pPr marL="0" indent="0">
              <a:buNone/>
            </a:pPr>
            <a:r>
              <a:rPr lang="ko-KR" alt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9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색을 바꾸면 클릭률이 달라짐 (증명 목표)</a:t>
            </a:r>
          </a:p>
          <a:p>
            <a:pPr marL="0" indent="0">
              <a:buNone/>
            </a:pPr>
            <a:r>
              <a:rPr lang="en-US" sz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ko-KR" altLang="en-US" sz="10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050" b="1" dirty="0" err="1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</a:t>
            </a:r>
            <a:r>
              <a:rPr lang="en-US" sz="10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기준</a:t>
            </a:r>
          </a:p>
          <a:p>
            <a:pPr marL="0" indent="0">
              <a:buNone/>
            </a:pPr>
            <a:r>
              <a:rPr lang="ko-KR" alt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&lt; 0.05 → H₀ 기각 → "</a:t>
            </a:r>
            <a:r>
              <a:rPr lang="en-US" sz="9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차이가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있다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</a:p>
        </p:txBody>
      </p:sp>
      <p:sp>
        <p:nvSpPr>
          <p:cNvPr id="25" name="Shape 22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altLang="ko-KR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가설검정</a:t>
            </a:r>
          </a:p>
        </p:txBody>
      </p:sp>
      <p:sp>
        <p:nvSpPr>
          <p:cNvPr id="28" name="Text 25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</a:p>
        </p:txBody>
      </p:sp>
      <p:pic>
        <p:nvPicPr>
          <p:cNvPr id="29" name="Picture 4" descr="서강대학교 - 더시드위키">
            <a:extLst>
              <a:ext uri="{FF2B5EF4-FFF2-40B4-BE49-F238E27FC236}">
                <a16:creationId xmlns:a16="http://schemas.microsoft.com/office/drawing/2014/main" id="{B55D6457-7FB0-26E9-C210-123FAB0B5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79" y="239629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5306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854" y="228600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93369" y="235915"/>
            <a:ext cx="64291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1종 오류 vs 2종 오류</a:t>
            </a:r>
          </a:p>
        </p:txBody>
      </p:sp>
      <p:sp>
        <p:nvSpPr>
          <p:cNvPr id="5" name="Text 2"/>
          <p:cNvSpPr/>
          <p:nvPr/>
        </p:nvSpPr>
        <p:spPr>
          <a:xfrm>
            <a:off x="893369" y="442570"/>
            <a:ext cx="64291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 &amp; TYPE II ERRORS</a:t>
            </a:r>
          </a:p>
        </p:txBody>
      </p:sp>
      <p:sp>
        <p:nvSpPr>
          <p:cNvPr id="6" name="Shape 3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28854" y="807415"/>
            <a:ext cx="5524805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854" y="929030"/>
            <a:ext cx="2572207" cy="352867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854" y="929030"/>
            <a:ext cx="2572207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86130" y="1086307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1종 오류 (Type I)</a:t>
            </a:r>
          </a:p>
        </p:txBody>
      </p:sp>
      <p:sp>
        <p:nvSpPr>
          <p:cNvPr id="11" name="Shape 8"/>
          <p:cNvSpPr/>
          <p:nvPr/>
        </p:nvSpPr>
        <p:spPr>
          <a:xfrm>
            <a:off x="586130" y="1278331"/>
            <a:ext cx="2257654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86130" y="1511155"/>
            <a:ext cx="21031" cy="12893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57454" y="1511155"/>
            <a:ext cx="218633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</a:p>
        </p:txBody>
      </p:sp>
      <p:sp>
        <p:nvSpPr>
          <p:cNvPr id="14" name="Text 11"/>
          <p:cNvSpPr/>
          <p:nvPr/>
        </p:nvSpPr>
        <p:spPr>
          <a:xfrm>
            <a:off x="586130" y="1668432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</a:t>
            </a:r>
          </a:p>
        </p:txBody>
      </p:sp>
      <p:sp>
        <p:nvSpPr>
          <p:cNvPr id="15" name="Text 12"/>
          <p:cNvSpPr/>
          <p:nvPr/>
        </p:nvSpPr>
        <p:spPr>
          <a:xfrm>
            <a:off x="1171346" y="1668432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없는데 있다고 판정</a:t>
            </a:r>
          </a:p>
        </p:txBody>
      </p:sp>
      <p:sp>
        <p:nvSpPr>
          <p:cNvPr id="16" name="Shape 13"/>
          <p:cNvSpPr/>
          <p:nvPr/>
        </p:nvSpPr>
        <p:spPr>
          <a:xfrm>
            <a:off x="586130" y="1811079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86130" y="1825709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스팸 필터</a:t>
            </a:r>
          </a:p>
        </p:txBody>
      </p:sp>
      <p:sp>
        <p:nvSpPr>
          <p:cNvPr id="18" name="Text 15"/>
          <p:cNvSpPr/>
          <p:nvPr/>
        </p:nvSpPr>
        <p:spPr>
          <a:xfrm>
            <a:off x="1171346" y="1825709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메일을 스팸으로 분류</a:t>
            </a:r>
          </a:p>
        </p:txBody>
      </p:sp>
      <p:sp>
        <p:nvSpPr>
          <p:cNvPr id="19" name="Shape 16"/>
          <p:cNvSpPr/>
          <p:nvPr/>
        </p:nvSpPr>
        <p:spPr>
          <a:xfrm>
            <a:off x="586130" y="1968355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586130" y="1982986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가설검정</a:t>
            </a:r>
          </a:p>
        </p:txBody>
      </p:sp>
      <p:sp>
        <p:nvSpPr>
          <p:cNvPr id="21" name="Text 18"/>
          <p:cNvSpPr/>
          <p:nvPr/>
        </p:nvSpPr>
        <p:spPr>
          <a:xfrm>
            <a:off x="1171346" y="1982986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귀무가설이 참인데 기각</a:t>
            </a:r>
          </a:p>
        </p:txBody>
      </p:sp>
      <p:sp>
        <p:nvSpPr>
          <p:cNvPr id="22" name="Shape 19"/>
          <p:cNvSpPr/>
          <p:nvPr/>
        </p:nvSpPr>
        <p:spPr>
          <a:xfrm>
            <a:off x="586130" y="2125632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586130" y="2140263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의료</a:t>
            </a:r>
          </a:p>
        </p:txBody>
      </p:sp>
      <p:sp>
        <p:nvSpPr>
          <p:cNvPr id="24" name="Text 21"/>
          <p:cNvSpPr/>
          <p:nvPr/>
        </p:nvSpPr>
        <p:spPr>
          <a:xfrm>
            <a:off x="1171346" y="2140263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건강한 사람을 환자로 진단</a:t>
            </a:r>
          </a:p>
        </p:txBody>
      </p:sp>
      <p:sp>
        <p:nvSpPr>
          <p:cNvPr id="25" name="Shape 22"/>
          <p:cNvSpPr/>
          <p:nvPr/>
        </p:nvSpPr>
        <p:spPr>
          <a:xfrm>
            <a:off x="586130" y="2282909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586130" y="2589010"/>
            <a:ext cx="21031" cy="12893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657454" y="2589010"/>
            <a:ext cx="218633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유의수준(α)</a:t>
            </a:r>
          </a:p>
        </p:txBody>
      </p:sp>
      <p:sp>
        <p:nvSpPr>
          <p:cNvPr id="28" name="Text 25"/>
          <p:cNvSpPr/>
          <p:nvPr/>
        </p:nvSpPr>
        <p:spPr>
          <a:xfrm>
            <a:off x="586130" y="2746287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</a:t>
            </a:r>
          </a:p>
        </p:txBody>
      </p:sp>
      <p:sp>
        <p:nvSpPr>
          <p:cNvPr id="29" name="Text 26"/>
          <p:cNvSpPr/>
          <p:nvPr/>
        </p:nvSpPr>
        <p:spPr>
          <a:xfrm>
            <a:off x="1171346" y="2746287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 5% (0.05)로 설정</a:t>
            </a:r>
          </a:p>
        </p:txBody>
      </p:sp>
      <p:sp>
        <p:nvSpPr>
          <p:cNvPr id="30" name="Shape 27"/>
          <p:cNvSpPr/>
          <p:nvPr/>
        </p:nvSpPr>
        <p:spPr>
          <a:xfrm>
            <a:off x="586130" y="2888933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586130" y="2903564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의미</a:t>
            </a:r>
          </a:p>
        </p:txBody>
      </p:sp>
      <p:sp>
        <p:nvSpPr>
          <p:cNvPr id="32" name="Text 29"/>
          <p:cNvSpPr/>
          <p:nvPr/>
        </p:nvSpPr>
        <p:spPr>
          <a:xfrm>
            <a:off x="1171346" y="2903564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1종 오류 허용 한계</a:t>
            </a:r>
          </a:p>
        </p:txBody>
      </p:sp>
      <p:sp>
        <p:nvSpPr>
          <p:cNvPr id="33" name="Shape 30"/>
          <p:cNvSpPr/>
          <p:nvPr/>
        </p:nvSpPr>
        <p:spPr>
          <a:xfrm>
            <a:off x="586130" y="3046210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586130" y="3060841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</a:t>
            </a:r>
          </a:p>
        </p:txBody>
      </p:sp>
      <p:sp>
        <p:nvSpPr>
          <p:cNvPr id="35" name="Text 32"/>
          <p:cNvSpPr/>
          <p:nvPr/>
        </p:nvSpPr>
        <p:spPr>
          <a:xfrm>
            <a:off x="1171346" y="3060841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줄이면 2종 오류 증가</a:t>
            </a:r>
          </a:p>
        </p:txBody>
      </p:sp>
      <p:sp>
        <p:nvSpPr>
          <p:cNvPr id="36" name="Shape 33"/>
          <p:cNvSpPr/>
          <p:nvPr/>
        </p:nvSpPr>
        <p:spPr>
          <a:xfrm>
            <a:off x="586130" y="3203487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586130" y="3218117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</a:t>
            </a:r>
          </a:p>
        </p:txBody>
      </p:sp>
      <p:sp>
        <p:nvSpPr>
          <p:cNvPr id="38" name="Text 35"/>
          <p:cNvSpPr/>
          <p:nvPr/>
        </p:nvSpPr>
        <p:spPr>
          <a:xfrm>
            <a:off x="1171346" y="3218117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1종과 2종은 트레이드오프</a:t>
            </a:r>
          </a:p>
        </p:txBody>
      </p:sp>
      <p:sp>
        <p:nvSpPr>
          <p:cNvPr id="39" name="Shape 36"/>
          <p:cNvSpPr/>
          <p:nvPr/>
        </p:nvSpPr>
        <p:spPr>
          <a:xfrm>
            <a:off x="586130" y="3360764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3286354" y="929030"/>
            <a:ext cx="2572207" cy="352867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8"/>
          <p:cNvSpPr/>
          <p:nvPr/>
        </p:nvSpPr>
        <p:spPr>
          <a:xfrm>
            <a:off x="3286354" y="929030"/>
            <a:ext cx="2572207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3443630" y="1086307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2종 오류 (Type II)</a:t>
            </a:r>
          </a:p>
        </p:txBody>
      </p:sp>
      <p:sp>
        <p:nvSpPr>
          <p:cNvPr id="43" name="Shape 40"/>
          <p:cNvSpPr/>
          <p:nvPr/>
        </p:nvSpPr>
        <p:spPr>
          <a:xfrm>
            <a:off x="3443630" y="1278331"/>
            <a:ext cx="2257654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1"/>
          <p:cNvSpPr/>
          <p:nvPr/>
        </p:nvSpPr>
        <p:spPr>
          <a:xfrm>
            <a:off x="3443630" y="1511155"/>
            <a:ext cx="21031" cy="12893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/>
          <p:nvPr/>
        </p:nvSpPr>
        <p:spPr>
          <a:xfrm>
            <a:off x="3514954" y="1511155"/>
            <a:ext cx="218633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</a:p>
        </p:txBody>
      </p:sp>
      <p:sp>
        <p:nvSpPr>
          <p:cNvPr id="46" name="Text 43"/>
          <p:cNvSpPr/>
          <p:nvPr/>
        </p:nvSpPr>
        <p:spPr>
          <a:xfrm>
            <a:off x="3443630" y="1668432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</a:t>
            </a:r>
          </a:p>
        </p:txBody>
      </p:sp>
      <p:sp>
        <p:nvSpPr>
          <p:cNvPr id="47" name="Text 44"/>
          <p:cNvSpPr/>
          <p:nvPr/>
        </p:nvSpPr>
        <p:spPr>
          <a:xfrm>
            <a:off x="4028846" y="1668432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있는데 없다고 판정</a:t>
            </a:r>
          </a:p>
        </p:txBody>
      </p:sp>
      <p:sp>
        <p:nvSpPr>
          <p:cNvPr id="48" name="Shape 45"/>
          <p:cNvSpPr/>
          <p:nvPr/>
        </p:nvSpPr>
        <p:spPr>
          <a:xfrm>
            <a:off x="3443630" y="1811079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/>
          <p:nvPr/>
        </p:nvSpPr>
        <p:spPr>
          <a:xfrm>
            <a:off x="3443630" y="1825709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스팸 필터</a:t>
            </a:r>
          </a:p>
        </p:txBody>
      </p:sp>
      <p:sp>
        <p:nvSpPr>
          <p:cNvPr id="50" name="Text 47"/>
          <p:cNvSpPr/>
          <p:nvPr/>
        </p:nvSpPr>
        <p:spPr>
          <a:xfrm>
            <a:off x="4028846" y="1825709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스팸을 통과시킴</a:t>
            </a:r>
          </a:p>
        </p:txBody>
      </p:sp>
      <p:sp>
        <p:nvSpPr>
          <p:cNvPr id="51" name="Shape 48"/>
          <p:cNvSpPr/>
          <p:nvPr/>
        </p:nvSpPr>
        <p:spPr>
          <a:xfrm>
            <a:off x="3443630" y="1968355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/>
          <p:nvPr/>
        </p:nvSpPr>
        <p:spPr>
          <a:xfrm>
            <a:off x="3443630" y="1982986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가설검정</a:t>
            </a:r>
          </a:p>
        </p:txBody>
      </p:sp>
      <p:sp>
        <p:nvSpPr>
          <p:cNvPr id="53" name="Text 50"/>
          <p:cNvSpPr/>
          <p:nvPr/>
        </p:nvSpPr>
        <p:spPr>
          <a:xfrm>
            <a:off x="4028846" y="1982986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귀무가설이 거짓인데 채택</a:t>
            </a:r>
          </a:p>
        </p:txBody>
      </p:sp>
      <p:sp>
        <p:nvSpPr>
          <p:cNvPr id="54" name="Shape 51"/>
          <p:cNvSpPr/>
          <p:nvPr/>
        </p:nvSpPr>
        <p:spPr>
          <a:xfrm>
            <a:off x="3443630" y="2125632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2"/>
          <p:cNvSpPr/>
          <p:nvPr/>
        </p:nvSpPr>
        <p:spPr>
          <a:xfrm>
            <a:off x="3443630" y="2140263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의료</a:t>
            </a:r>
          </a:p>
        </p:txBody>
      </p:sp>
      <p:sp>
        <p:nvSpPr>
          <p:cNvPr id="56" name="Text 53"/>
          <p:cNvSpPr/>
          <p:nvPr/>
        </p:nvSpPr>
        <p:spPr>
          <a:xfrm>
            <a:off x="4028846" y="2140263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환자를 정상으로 판정</a:t>
            </a:r>
          </a:p>
        </p:txBody>
      </p:sp>
      <p:sp>
        <p:nvSpPr>
          <p:cNvPr id="57" name="Shape 54"/>
          <p:cNvSpPr/>
          <p:nvPr/>
        </p:nvSpPr>
        <p:spPr>
          <a:xfrm>
            <a:off x="3443630" y="2282909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5"/>
          <p:cNvSpPr/>
          <p:nvPr/>
        </p:nvSpPr>
        <p:spPr>
          <a:xfrm>
            <a:off x="3443630" y="2601368"/>
            <a:ext cx="21031" cy="12893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/>
          <p:nvPr/>
        </p:nvSpPr>
        <p:spPr>
          <a:xfrm>
            <a:off x="3514954" y="2601368"/>
            <a:ext cx="218633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검정력(1-β)</a:t>
            </a:r>
          </a:p>
        </p:txBody>
      </p:sp>
      <p:sp>
        <p:nvSpPr>
          <p:cNvPr id="60" name="Text 57"/>
          <p:cNvSpPr/>
          <p:nvPr/>
        </p:nvSpPr>
        <p:spPr>
          <a:xfrm>
            <a:off x="3443630" y="2758645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</a:t>
            </a:r>
          </a:p>
        </p:txBody>
      </p:sp>
      <p:sp>
        <p:nvSpPr>
          <p:cNvPr id="61" name="Text 58"/>
          <p:cNvSpPr/>
          <p:nvPr/>
        </p:nvSpPr>
        <p:spPr>
          <a:xfrm>
            <a:off x="4028846" y="2758645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2종 오류 확률</a:t>
            </a:r>
          </a:p>
        </p:txBody>
      </p:sp>
      <p:sp>
        <p:nvSpPr>
          <p:cNvPr id="62" name="Shape 59"/>
          <p:cNvSpPr/>
          <p:nvPr/>
        </p:nvSpPr>
        <p:spPr>
          <a:xfrm>
            <a:off x="3443630" y="2901291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/>
          <p:nvPr/>
        </p:nvSpPr>
        <p:spPr>
          <a:xfrm>
            <a:off x="3443630" y="2915922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검정력</a:t>
            </a:r>
          </a:p>
        </p:txBody>
      </p:sp>
      <p:sp>
        <p:nvSpPr>
          <p:cNvPr id="64" name="Text 61"/>
          <p:cNvSpPr/>
          <p:nvPr/>
        </p:nvSpPr>
        <p:spPr>
          <a:xfrm>
            <a:off x="4028846" y="2915922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1-β, 보통 80% 이상 목표</a:t>
            </a:r>
          </a:p>
        </p:txBody>
      </p:sp>
      <p:sp>
        <p:nvSpPr>
          <p:cNvPr id="65" name="Shape 62"/>
          <p:cNvSpPr/>
          <p:nvPr/>
        </p:nvSpPr>
        <p:spPr>
          <a:xfrm>
            <a:off x="3443630" y="3058568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/>
          <p:nvPr/>
        </p:nvSpPr>
        <p:spPr>
          <a:xfrm>
            <a:off x="3443630" y="3073199"/>
            <a:ext cx="55687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높이려면</a:t>
            </a:r>
          </a:p>
        </p:txBody>
      </p:sp>
      <p:sp>
        <p:nvSpPr>
          <p:cNvPr id="67" name="Text 64"/>
          <p:cNvSpPr/>
          <p:nvPr/>
        </p:nvSpPr>
        <p:spPr>
          <a:xfrm>
            <a:off x="4028846" y="3073199"/>
            <a:ext cx="167152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 크기를 늘리면 됨</a:t>
            </a:r>
          </a:p>
        </p:txBody>
      </p:sp>
      <p:sp>
        <p:nvSpPr>
          <p:cNvPr id="68" name="Shape 65"/>
          <p:cNvSpPr/>
          <p:nvPr/>
        </p:nvSpPr>
        <p:spPr>
          <a:xfrm>
            <a:off x="3443630" y="3215845"/>
            <a:ext cx="2257654" cy="36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6"/>
          <p:cNvSpPr/>
          <p:nvPr/>
        </p:nvSpPr>
        <p:spPr>
          <a:xfrm>
            <a:off x="6143854" y="929030"/>
            <a:ext cx="2572207" cy="352867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7"/>
          <p:cNvSpPr/>
          <p:nvPr/>
        </p:nvSpPr>
        <p:spPr>
          <a:xfrm>
            <a:off x="6143854" y="929030"/>
            <a:ext cx="2572207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/>
          <p:cNvSpPr/>
          <p:nvPr/>
        </p:nvSpPr>
        <p:spPr>
          <a:xfrm>
            <a:off x="6301130" y="1086307"/>
            <a:ext cx="2257654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정리</a:t>
            </a:r>
          </a:p>
        </p:txBody>
      </p:sp>
      <p:sp>
        <p:nvSpPr>
          <p:cNvPr id="72" name="Shape 69"/>
          <p:cNvSpPr/>
          <p:nvPr/>
        </p:nvSpPr>
        <p:spPr>
          <a:xfrm>
            <a:off x="6301130" y="1278331"/>
            <a:ext cx="2257654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0"/>
          <p:cNvSpPr/>
          <p:nvPr/>
        </p:nvSpPr>
        <p:spPr>
          <a:xfrm>
            <a:off x="6301130" y="1486440"/>
            <a:ext cx="2257654" cy="44257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1"/>
          <p:cNvSpPr/>
          <p:nvPr/>
        </p:nvSpPr>
        <p:spPr>
          <a:xfrm>
            <a:off x="6301130" y="1486440"/>
            <a:ext cx="21031" cy="44257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2"/>
          <p:cNvSpPr/>
          <p:nvPr/>
        </p:nvSpPr>
        <p:spPr>
          <a:xfrm>
            <a:off x="6379769" y="1557764"/>
            <a:ext cx="2121408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스팸 필터 비유</a:t>
            </a:r>
          </a:p>
        </p:txBody>
      </p:sp>
      <p:sp>
        <p:nvSpPr>
          <p:cNvPr id="76" name="Text 73"/>
          <p:cNvSpPr/>
          <p:nvPr/>
        </p:nvSpPr>
        <p:spPr>
          <a:xfrm>
            <a:off x="6379769" y="1715040"/>
            <a:ext cx="2121408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잘 잡으려 하면 정상 메일도 막힘</a:t>
            </a:r>
          </a:p>
        </p:txBody>
      </p:sp>
      <p:sp>
        <p:nvSpPr>
          <p:cNvPr id="77" name="Shape 74"/>
          <p:cNvSpPr/>
          <p:nvPr/>
        </p:nvSpPr>
        <p:spPr>
          <a:xfrm>
            <a:off x="6301130" y="2014964"/>
            <a:ext cx="2257654" cy="44257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5"/>
          <p:cNvSpPr/>
          <p:nvPr/>
        </p:nvSpPr>
        <p:spPr>
          <a:xfrm>
            <a:off x="6301130" y="2014964"/>
            <a:ext cx="21031" cy="44257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6"/>
          <p:cNvSpPr/>
          <p:nvPr/>
        </p:nvSpPr>
        <p:spPr>
          <a:xfrm>
            <a:off x="6379769" y="2087201"/>
            <a:ext cx="2121408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트레이드오프</a:t>
            </a:r>
          </a:p>
        </p:txBody>
      </p:sp>
      <p:sp>
        <p:nvSpPr>
          <p:cNvPr id="80" name="Text 77"/>
          <p:cNvSpPr/>
          <p:nvPr/>
        </p:nvSpPr>
        <p:spPr>
          <a:xfrm>
            <a:off x="6379769" y="2243564"/>
            <a:ext cx="2121408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1종↓ 하면 2종↑, 둘 다 0은 불가능</a:t>
            </a:r>
          </a:p>
        </p:txBody>
      </p:sp>
      <p:sp>
        <p:nvSpPr>
          <p:cNvPr id="81" name="Shape 78"/>
          <p:cNvSpPr/>
          <p:nvPr/>
        </p:nvSpPr>
        <p:spPr>
          <a:xfrm>
            <a:off x="6301130" y="2544401"/>
            <a:ext cx="2257654" cy="44257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79"/>
          <p:cNvSpPr/>
          <p:nvPr/>
        </p:nvSpPr>
        <p:spPr>
          <a:xfrm>
            <a:off x="6301130" y="2544401"/>
            <a:ext cx="21031" cy="44257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0"/>
          <p:cNvSpPr/>
          <p:nvPr/>
        </p:nvSpPr>
        <p:spPr>
          <a:xfrm>
            <a:off x="6379769" y="2615724"/>
            <a:ext cx="2121408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무죄 추정 원칙</a:t>
            </a:r>
          </a:p>
        </p:txBody>
      </p:sp>
      <p:sp>
        <p:nvSpPr>
          <p:cNvPr id="84" name="Text 81"/>
          <p:cNvSpPr/>
          <p:nvPr/>
        </p:nvSpPr>
        <p:spPr>
          <a:xfrm>
            <a:off x="6379769" y="2773001"/>
            <a:ext cx="2121408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귀무가설은 기본값, 증거 충분해야 기각</a:t>
            </a:r>
          </a:p>
        </p:txBody>
      </p:sp>
      <p:sp>
        <p:nvSpPr>
          <p:cNvPr id="85" name="Shape 82"/>
          <p:cNvSpPr/>
          <p:nvPr/>
        </p:nvSpPr>
        <p:spPr>
          <a:xfrm>
            <a:off x="6301130" y="3072924"/>
            <a:ext cx="2257654" cy="44257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3"/>
          <p:cNvSpPr/>
          <p:nvPr/>
        </p:nvSpPr>
        <p:spPr>
          <a:xfrm>
            <a:off x="6301130" y="3072924"/>
            <a:ext cx="21031" cy="44257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4"/>
          <p:cNvSpPr/>
          <p:nvPr/>
        </p:nvSpPr>
        <p:spPr>
          <a:xfrm>
            <a:off x="6379769" y="3144248"/>
            <a:ext cx="2121408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적용</a:t>
            </a:r>
          </a:p>
        </p:txBody>
      </p:sp>
      <p:sp>
        <p:nvSpPr>
          <p:cNvPr id="88" name="Text 85"/>
          <p:cNvSpPr/>
          <p:nvPr/>
        </p:nvSpPr>
        <p:spPr>
          <a:xfrm>
            <a:off x="6379769" y="3301524"/>
            <a:ext cx="2121408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테스트, 의료 진단, 품질 관리</a:t>
            </a:r>
          </a:p>
        </p:txBody>
      </p:sp>
      <p:sp>
        <p:nvSpPr>
          <p:cNvPr id="89" name="Shape 86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7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altLang="ko-KR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1" name="Text 88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1종 오류 vs 2종 오류</a:t>
            </a:r>
          </a:p>
        </p:txBody>
      </p:sp>
      <p:sp>
        <p:nvSpPr>
          <p:cNvPr id="92" name="Text 89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</a:p>
        </p:txBody>
      </p:sp>
      <p:pic>
        <p:nvPicPr>
          <p:cNvPr id="93" name="Picture 4" descr="서강대학교 - 더시드위키">
            <a:extLst>
              <a:ext uri="{FF2B5EF4-FFF2-40B4-BE49-F238E27FC236}">
                <a16:creationId xmlns:a16="http://schemas.microsoft.com/office/drawing/2014/main" id="{FB0A9B8D-8095-6984-2874-D87801B3D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79" y="239629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8369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854" y="228600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93369" y="235915"/>
            <a:ext cx="64291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</a:t>
            </a:r>
            <a:r>
              <a:rPr lang="en-US" sz="17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혼동행렬</a:t>
            </a:r>
            <a:endParaRPr lang="en-US" sz="17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93369" y="442570"/>
            <a:ext cx="64291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</a:p>
        </p:txBody>
      </p:sp>
      <p:sp>
        <p:nvSpPr>
          <p:cNvPr id="6" name="Shape 3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854" y="886054"/>
            <a:ext cx="8287207" cy="84307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854" y="886054"/>
            <a:ext cx="8287207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99846" y="1053539"/>
            <a:ext cx="79443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(혼동행렬)</a:t>
            </a:r>
          </a:p>
        </p:txBody>
      </p:sp>
      <p:sp>
        <p:nvSpPr>
          <p:cNvPr id="11" name="Text 8"/>
          <p:cNvSpPr/>
          <p:nvPr/>
        </p:nvSpPr>
        <p:spPr>
          <a:xfrm>
            <a:off x="599846" y="1268423"/>
            <a:ext cx="7944307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 모델이 맞힌 것과 틀린 것을 4가지 경우로 정리한 표입니다. TP(진양성), TN(진음성), FP(위양성), FN(위음성)</a:t>
            </a:r>
            <a:r>
              <a:rPr lang="en-US" sz="9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으로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</a:t>
            </a:r>
            <a:r>
              <a:rPr lang="ko-KR" altLang="en-US" sz="9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성된다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12" name="Shape 9"/>
          <p:cNvSpPr/>
          <p:nvPr/>
        </p:nvSpPr>
        <p:spPr>
          <a:xfrm>
            <a:off x="428854" y="1828800"/>
            <a:ext cx="4000500" cy="264353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28854" y="1828800"/>
            <a:ext cx="400050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99846" y="1986077"/>
            <a:ext cx="365760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혼동행렬 구성</a:t>
            </a:r>
          </a:p>
        </p:txBody>
      </p:sp>
      <p:sp>
        <p:nvSpPr>
          <p:cNvPr id="15" name="Shape 12"/>
          <p:cNvSpPr/>
          <p:nvPr/>
        </p:nvSpPr>
        <p:spPr>
          <a:xfrm>
            <a:off x="599846" y="2179015"/>
            <a:ext cx="365760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99846" y="2229307"/>
            <a:ext cx="36576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vs 실제의 4가지 조합</a:t>
            </a:r>
          </a:p>
        </p:txBody>
      </p:sp>
      <p:sp>
        <p:nvSpPr>
          <p:cNvPr id="17" name="Text 14"/>
          <p:cNvSpPr/>
          <p:nvPr/>
        </p:nvSpPr>
        <p:spPr>
          <a:xfrm>
            <a:off x="599846" y="2489378"/>
            <a:ext cx="3657600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(True Positive)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양성 → 양성으로 맞게 판정</a:t>
            </a:r>
          </a:p>
        </p:txBody>
      </p:sp>
      <p:sp>
        <p:nvSpPr>
          <p:cNvPr id="18" name="Text 15"/>
          <p:cNvSpPr/>
          <p:nvPr/>
        </p:nvSpPr>
        <p:spPr>
          <a:xfrm>
            <a:off x="599846" y="3009690"/>
            <a:ext cx="3657600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(True Negative)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음성 → 음성으로 맞게 판정</a:t>
            </a:r>
          </a:p>
        </p:txBody>
      </p:sp>
      <p:sp>
        <p:nvSpPr>
          <p:cNvPr id="19" name="Text 16"/>
          <p:cNvSpPr/>
          <p:nvPr/>
        </p:nvSpPr>
        <p:spPr>
          <a:xfrm>
            <a:off x="599846" y="3554579"/>
            <a:ext cx="3657600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(1종 오류) &amp; FN (2종 오류)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FP: 음성→양성 오판 / FN: 양성→음성 오판</a:t>
            </a:r>
          </a:p>
        </p:txBody>
      </p:sp>
      <p:sp>
        <p:nvSpPr>
          <p:cNvPr id="20" name="Shape 17"/>
          <p:cNvSpPr/>
          <p:nvPr/>
        </p:nvSpPr>
        <p:spPr>
          <a:xfrm>
            <a:off x="4714646" y="1828800"/>
            <a:ext cx="4000500" cy="264353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4714646" y="1828800"/>
            <a:ext cx="400050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4886554" y="1986077"/>
            <a:ext cx="365760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혼동행렬 예시</a:t>
            </a:r>
            <a:endParaRPr lang="en-US" sz="12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886554" y="2179015"/>
            <a:ext cx="365760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0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altLang="ko-KR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혼동행렬 상세</a:t>
            </a:r>
          </a:p>
        </p:txBody>
      </p:sp>
      <p:pic>
        <p:nvPicPr>
          <p:cNvPr id="46" name="Picture 4" descr="서강대학교 - 더시드위키">
            <a:extLst>
              <a:ext uri="{FF2B5EF4-FFF2-40B4-BE49-F238E27FC236}">
                <a16:creationId xmlns:a16="http://schemas.microsoft.com/office/drawing/2014/main" id="{48BC84B9-F7B6-EBCA-900D-07E546035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79" y="239629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6F5AD80-91C1-80BD-0F6D-8F31C0EA3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554" y="2406247"/>
            <a:ext cx="3730330" cy="1767530"/>
          </a:xfrm>
          <a:prstGeom prst="rect">
            <a:avLst/>
          </a:prstGeom>
        </p:spPr>
      </p:pic>
      <p:sp>
        <p:nvSpPr>
          <p:cNvPr id="47" name="Shape 4">
            <a:extLst>
              <a:ext uri="{FF2B5EF4-FFF2-40B4-BE49-F238E27FC236}">
                <a16:creationId xmlns:a16="http://schemas.microsoft.com/office/drawing/2014/main" id="{1AC2616B-29C7-6E2B-D72A-B9C17885E434}"/>
              </a:ext>
            </a:extLst>
          </p:cNvPr>
          <p:cNvSpPr/>
          <p:nvPr/>
        </p:nvSpPr>
        <p:spPr>
          <a:xfrm>
            <a:off x="428854" y="807415"/>
            <a:ext cx="6445606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871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854" y="228600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93369" y="235915"/>
            <a:ext cx="64291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민감도·특이도·정확도</a:t>
            </a:r>
          </a:p>
        </p:txBody>
      </p:sp>
      <p:sp>
        <p:nvSpPr>
          <p:cNvPr id="5" name="Text 2"/>
          <p:cNvSpPr/>
          <p:nvPr/>
        </p:nvSpPr>
        <p:spPr>
          <a:xfrm>
            <a:off x="893369" y="442570"/>
            <a:ext cx="64291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SENSITIVITY, SPECIFICITY &amp; ACCURACY</a:t>
            </a:r>
          </a:p>
        </p:txBody>
      </p:sp>
      <p:sp>
        <p:nvSpPr>
          <p:cNvPr id="6" name="Shape 3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854" y="929030"/>
            <a:ext cx="1928470" cy="92903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854" y="929030"/>
            <a:ext cx="192847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71500" y="1086307"/>
            <a:ext cx="16431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TP/(TP+FN)</a:t>
            </a:r>
          </a:p>
        </p:txBody>
      </p:sp>
      <p:sp>
        <p:nvSpPr>
          <p:cNvPr id="11" name="Text 8"/>
          <p:cNvSpPr/>
          <p:nvPr/>
        </p:nvSpPr>
        <p:spPr>
          <a:xfrm>
            <a:off x="571500" y="1328623"/>
            <a:ext cx="1643177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민감도 (Recall)</a:t>
            </a:r>
          </a:p>
        </p:txBody>
      </p:sp>
      <p:sp>
        <p:nvSpPr>
          <p:cNvPr id="12" name="Text 9"/>
          <p:cNvSpPr/>
          <p:nvPr/>
        </p:nvSpPr>
        <p:spPr>
          <a:xfrm>
            <a:off x="571500" y="1471270"/>
            <a:ext cx="164317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환자를 잘 잡나?</a:t>
            </a:r>
          </a:p>
        </p:txBody>
      </p:sp>
      <p:sp>
        <p:nvSpPr>
          <p:cNvPr id="13" name="Shape 10"/>
          <p:cNvSpPr/>
          <p:nvPr/>
        </p:nvSpPr>
        <p:spPr>
          <a:xfrm>
            <a:off x="2535631" y="929030"/>
            <a:ext cx="1928470" cy="92903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2535631" y="929030"/>
            <a:ext cx="192847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2679191" y="1086307"/>
            <a:ext cx="16431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TN/(TN+FP)</a:t>
            </a:r>
          </a:p>
        </p:txBody>
      </p:sp>
      <p:sp>
        <p:nvSpPr>
          <p:cNvPr id="16" name="Text 13"/>
          <p:cNvSpPr/>
          <p:nvPr/>
        </p:nvSpPr>
        <p:spPr>
          <a:xfrm>
            <a:off x="2679192" y="1328623"/>
            <a:ext cx="1643177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특이도 (Specificity)</a:t>
            </a:r>
          </a:p>
        </p:txBody>
      </p:sp>
      <p:sp>
        <p:nvSpPr>
          <p:cNvPr id="17" name="Text 14"/>
          <p:cNvSpPr/>
          <p:nvPr/>
        </p:nvSpPr>
        <p:spPr>
          <a:xfrm>
            <a:off x="2679192" y="1471270"/>
            <a:ext cx="164317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정상인을 잘 통과?</a:t>
            </a:r>
          </a:p>
        </p:txBody>
      </p:sp>
      <p:sp>
        <p:nvSpPr>
          <p:cNvPr id="18" name="Shape 15"/>
          <p:cNvSpPr/>
          <p:nvPr/>
        </p:nvSpPr>
        <p:spPr>
          <a:xfrm>
            <a:off x="4643323" y="929030"/>
            <a:ext cx="1928470" cy="92903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643323" y="929030"/>
            <a:ext cx="192847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4785970" y="1086307"/>
            <a:ext cx="16431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(TP+TN)/전체</a:t>
            </a:r>
          </a:p>
        </p:txBody>
      </p:sp>
      <p:sp>
        <p:nvSpPr>
          <p:cNvPr id="21" name="Text 18"/>
          <p:cNvSpPr/>
          <p:nvPr/>
        </p:nvSpPr>
        <p:spPr>
          <a:xfrm>
            <a:off x="4785970" y="1328623"/>
            <a:ext cx="1643177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 (Accuracy)</a:t>
            </a:r>
          </a:p>
        </p:txBody>
      </p:sp>
      <p:sp>
        <p:nvSpPr>
          <p:cNvPr id="22" name="Text 19"/>
          <p:cNvSpPr/>
          <p:nvPr/>
        </p:nvSpPr>
        <p:spPr>
          <a:xfrm>
            <a:off x="4785970" y="1471270"/>
            <a:ext cx="164317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맞춘 비율</a:t>
            </a:r>
          </a:p>
        </p:txBody>
      </p:sp>
      <p:sp>
        <p:nvSpPr>
          <p:cNvPr id="23" name="Shape 20"/>
          <p:cNvSpPr/>
          <p:nvPr/>
        </p:nvSpPr>
        <p:spPr>
          <a:xfrm>
            <a:off x="6751015" y="929030"/>
            <a:ext cx="1928470" cy="92903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6751015" y="929030"/>
            <a:ext cx="192847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6893661" y="1086307"/>
            <a:ext cx="16431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TP/(TP+FP)</a:t>
            </a:r>
          </a:p>
        </p:txBody>
      </p:sp>
      <p:sp>
        <p:nvSpPr>
          <p:cNvPr id="26" name="Text 23"/>
          <p:cNvSpPr/>
          <p:nvPr/>
        </p:nvSpPr>
        <p:spPr>
          <a:xfrm>
            <a:off x="6893662" y="1328623"/>
            <a:ext cx="1643177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정밀도 (Precision)</a:t>
            </a:r>
          </a:p>
        </p:txBody>
      </p:sp>
      <p:sp>
        <p:nvSpPr>
          <p:cNvPr id="27" name="Text 24"/>
          <p:cNvSpPr/>
          <p:nvPr/>
        </p:nvSpPr>
        <p:spPr>
          <a:xfrm>
            <a:off x="6893662" y="1471270"/>
            <a:ext cx="164317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양성 판정의 정확도</a:t>
            </a:r>
          </a:p>
        </p:txBody>
      </p:sp>
      <p:sp>
        <p:nvSpPr>
          <p:cNvPr id="28" name="Shape 25"/>
          <p:cNvSpPr/>
          <p:nvPr/>
        </p:nvSpPr>
        <p:spPr>
          <a:xfrm>
            <a:off x="428854" y="2000707"/>
            <a:ext cx="4071823" cy="245790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428854" y="2000707"/>
            <a:ext cx="4071823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599846" y="2157070"/>
            <a:ext cx="3728923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정확도의 함정</a:t>
            </a:r>
          </a:p>
        </p:txBody>
      </p:sp>
      <p:sp>
        <p:nvSpPr>
          <p:cNvPr id="31" name="Shape 28"/>
          <p:cNvSpPr/>
          <p:nvPr/>
        </p:nvSpPr>
        <p:spPr>
          <a:xfrm>
            <a:off x="599846" y="2350008"/>
            <a:ext cx="3728923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599846" y="2464308"/>
            <a:ext cx="3728923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불균형 문제</a:t>
            </a:r>
          </a:p>
        </p:txBody>
      </p:sp>
      <p:sp>
        <p:nvSpPr>
          <p:cNvPr id="33" name="Text 30"/>
          <p:cNvSpPr/>
          <p:nvPr/>
        </p:nvSpPr>
        <p:spPr>
          <a:xfrm>
            <a:off x="599846" y="2750515"/>
            <a:ext cx="821131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환자 1%일 때</a:t>
            </a:r>
          </a:p>
        </p:txBody>
      </p:sp>
      <p:sp>
        <p:nvSpPr>
          <p:cNvPr id="34" name="Shape 31"/>
          <p:cNvSpPr/>
          <p:nvPr/>
        </p:nvSpPr>
        <p:spPr>
          <a:xfrm>
            <a:off x="1485900" y="2793492"/>
            <a:ext cx="2499970" cy="9967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1485900" y="2793492"/>
            <a:ext cx="2286000" cy="9967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4058107" y="2750515"/>
            <a:ext cx="400507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</a:p>
        </p:txBody>
      </p:sp>
      <p:sp>
        <p:nvSpPr>
          <p:cNvPr id="37" name="Text 34"/>
          <p:cNvSpPr/>
          <p:nvPr/>
        </p:nvSpPr>
        <p:spPr>
          <a:xfrm>
            <a:off x="599846" y="3107131"/>
            <a:ext cx="821131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전부 정상 판정</a:t>
            </a:r>
          </a:p>
        </p:txBody>
      </p:sp>
      <p:sp>
        <p:nvSpPr>
          <p:cNvPr id="38" name="Shape 35"/>
          <p:cNvSpPr/>
          <p:nvPr/>
        </p:nvSpPr>
        <p:spPr>
          <a:xfrm>
            <a:off x="1485900" y="3150108"/>
            <a:ext cx="2499970" cy="9967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/>
          <p:cNvSpPr/>
          <p:nvPr/>
        </p:nvSpPr>
        <p:spPr>
          <a:xfrm>
            <a:off x="1485900" y="3150108"/>
            <a:ext cx="1928470" cy="9967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4058107" y="3107131"/>
            <a:ext cx="400507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</a:t>
            </a:r>
          </a:p>
        </p:txBody>
      </p:sp>
      <p:sp>
        <p:nvSpPr>
          <p:cNvPr id="41" name="Text 38"/>
          <p:cNvSpPr/>
          <p:nvPr/>
        </p:nvSpPr>
        <p:spPr>
          <a:xfrm>
            <a:off x="599846" y="3464662"/>
            <a:ext cx="821131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환자 발견</a:t>
            </a:r>
          </a:p>
        </p:txBody>
      </p:sp>
      <p:sp>
        <p:nvSpPr>
          <p:cNvPr id="42" name="Shape 39"/>
          <p:cNvSpPr/>
          <p:nvPr/>
        </p:nvSpPr>
        <p:spPr>
          <a:xfrm>
            <a:off x="1485900" y="3507638"/>
            <a:ext cx="2499970" cy="9967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0"/>
          <p:cNvSpPr/>
          <p:nvPr/>
        </p:nvSpPr>
        <p:spPr>
          <a:xfrm>
            <a:off x="1485900" y="3507638"/>
            <a:ext cx="1429207" cy="9967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4058107" y="3464662"/>
            <a:ext cx="400507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</a:p>
        </p:txBody>
      </p:sp>
      <p:sp>
        <p:nvSpPr>
          <p:cNvPr id="45" name="Shape 42"/>
          <p:cNvSpPr/>
          <p:nvPr/>
        </p:nvSpPr>
        <p:spPr>
          <a:xfrm>
            <a:off x="4643323" y="2000707"/>
            <a:ext cx="4071823" cy="245790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4643323" y="2000707"/>
            <a:ext cx="4071823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/>
          <p:nvPr/>
        </p:nvSpPr>
        <p:spPr>
          <a:xfrm>
            <a:off x="4815230" y="2157070"/>
            <a:ext cx="3728923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</a:t>
            </a:r>
            <a:r>
              <a:rPr lang="en-US" alt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</a:t>
            </a:r>
            <a:r>
              <a:rPr lang="ko-KR" alt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</a:t>
            </a:r>
            <a:endParaRPr lang="en-US" altLang="ko-KR" sz="12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4815230" y="2350008"/>
            <a:ext cx="3728923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/>
          <p:nvPr/>
        </p:nvSpPr>
        <p:spPr>
          <a:xfrm>
            <a:off x="428854" y="4543654"/>
            <a:ext cx="8287207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정확도만으로 부족한 이유: 클래스 불균형 시 민감도/특이도/F1을 함께 확인해야 함</a:t>
            </a:r>
          </a:p>
        </p:txBody>
      </p:sp>
      <p:sp>
        <p:nvSpPr>
          <p:cNvPr id="53" name="Shape 50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altLang="ko-KR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민감도·특이도·정확도</a:t>
            </a:r>
          </a:p>
        </p:txBody>
      </p:sp>
      <p:sp>
        <p:nvSpPr>
          <p:cNvPr id="56" name="Text 53"/>
          <p:cNvSpPr/>
          <p:nvPr/>
        </p:nvSpPr>
        <p:spPr>
          <a:xfrm>
            <a:off x="7500823" y="4750308"/>
            <a:ext cx="1214323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</a:p>
        </p:txBody>
      </p:sp>
      <p:pic>
        <p:nvPicPr>
          <p:cNvPr id="57" name="Picture 4" descr="서강대학교 - 더시드위키">
            <a:extLst>
              <a:ext uri="{FF2B5EF4-FFF2-40B4-BE49-F238E27FC236}">
                <a16:creationId xmlns:a16="http://schemas.microsoft.com/office/drawing/2014/main" id="{FCEFAE82-54A8-5EF2-EF09-3F982E7A4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79" y="239629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 59"/>
          <p:cNvSpPr txBox="1"/>
          <p:nvPr/>
        </p:nvSpPr>
        <p:spPr>
          <a:xfrm>
            <a:off x="4813300" y="2514600"/>
            <a:ext cx="373380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의료 진단 → 민감도 우선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 검진은 놓치면 안 되니까 Recall 중시</a:t>
            </a:r>
          </a:p>
        </p:txBody>
      </p:sp>
      <p:sp>
        <p:nvSpPr>
          <p:cNvPr id="61" name="Text 60"/>
          <p:cNvSpPr txBox="1"/>
          <p:nvPr/>
        </p:nvSpPr>
        <p:spPr>
          <a:xfrm>
            <a:off x="4813300" y="3086100"/>
            <a:ext cx="373380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스팸 필터 → 정밀도 우선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메일을 스팸 처리하면 안 되니까 Precision 중시</a:t>
            </a:r>
          </a:p>
        </p:txBody>
      </p:sp>
      <p:sp>
        <p:nvSpPr>
          <p:cNvPr id="62" name="Text 61"/>
          <p:cNvSpPr txBox="1"/>
          <p:nvPr/>
        </p:nvSpPr>
        <p:spPr>
          <a:xfrm>
            <a:off x="4813300" y="3657600"/>
            <a:ext cx="373380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균형이 필요하면 → F1-Score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Precision과 Recall의 </a:t>
            </a:r>
            <a:r>
              <a:rPr lang="en-US" sz="8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조화평균</a:t>
            </a:r>
            <a:endParaRPr lang="en-US" sz="85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altLang="ko-KR" sz="85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ko-KR" alt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en-US" altLang="ko-KR" sz="800" b="1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F1-Score</a:t>
            </a:r>
            <a:r>
              <a:rPr lang="en-US" altLang="ko-KR" sz="80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" altLang="ko-KR" sz="800" dirty="0"/>
              <a:t>= 2 × (</a:t>
            </a:r>
            <a:r>
              <a:rPr lang="ko-KR" altLang="en-US" sz="800" dirty="0"/>
              <a:t>정밀도 </a:t>
            </a:r>
            <a:r>
              <a:rPr lang="en-US" altLang="ko-KR" sz="800" dirty="0"/>
              <a:t>× </a:t>
            </a:r>
            <a:r>
              <a:rPr lang="ko-KR" altLang="en-US" sz="800" dirty="0"/>
              <a:t>민감도</a:t>
            </a:r>
            <a:r>
              <a:rPr lang="en-US" altLang="ko-KR" sz="800" dirty="0"/>
              <a:t>) / (</a:t>
            </a:r>
            <a:r>
              <a:rPr lang="ko-KR" altLang="en-US" sz="800" dirty="0"/>
              <a:t>정밀도 </a:t>
            </a:r>
            <a:r>
              <a:rPr lang="en-US" altLang="ko-KR" sz="800" dirty="0"/>
              <a:t>+ </a:t>
            </a:r>
            <a:r>
              <a:rPr lang="ko-KR" altLang="en-US" sz="800" dirty="0"/>
              <a:t>민감도</a:t>
            </a:r>
            <a:r>
              <a:rPr lang="en-US" altLang="ko-KR" sz="800" dirty="0"/>
              <a:t>)</a:t>
            </a:r>
            <a:endParaRPr lang="en-US" altLang="ko-KR" sz="800" dirty="0">
              <a:solidFill>
                <a:srgbClr val="334155"/>
              </a:solidFill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85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A7C3742D-7842-1068-5BE0-ED3531ECB350}"/>
              </a:ext>
            </a:extLst>
          </p:cNvPr>
          <p:cNvSpPr/>
          <p:nvPr/>
        </p:nvSpPr>
        <p:spPr>
          <a:xfrm>
            <a:off x="428854" y="801237"/>
            <a:ext cx="7366406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4240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854" y="228600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93369" y="235915"/>
            <a:ext cx="64291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</a:t>
            </a:r>
            <a:r>
              <a:rPr lang="ko-KR" alt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 문헌</a:t>
            </a:r>
            <a:endParaRPr lang="en-US" sz="17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93369" y="442570"/>
            <a:ext cx="642914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</a:p>
        </p:txBody>
      </p:sp>
      <p:sp>
        <p:nvSpPr>
          <p:cNvPr id="6" name="Shape 3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28854" y="807415"/>
            <a:ext cx="8287207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854" y="929030"/>
            <a:ext cx="4000500" cy="357164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854" y="929030"/>
            <a:ext cx="400050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99846" y="1092708"/>
            <a:ext cx="128930" cy="12893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85470" y="1071677"/>
            <a:ext cx="3486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민감도</a:t>
            </a:r>
            <a:r>
              <a:rPr lang="en-US" alt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ko-KR" alt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특이도</a:t>
            </a:r>
            <a:r>
              <a:rPr lang="en-US" alt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ko-KR" alt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 활용 논문</a:t>
            </a:r>
            <a:endParaRPr lang="en-US" sz="12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99846" y="1257300"/>
            <a:ext cx="365760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714646" y="929030"/>
            <a:ext cx="4000500" cy="357164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Shape 15"/>
          <p:cNvSpPr/>
          <p:nvPr/>
        </p:nvSpPr>
        <p:spPr>
          <a:xfrm>
            <a:off x="4714646" y="929030"/>
            <a:ext cx="4000500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886554" y="1092708"/>
            <a:ext cx="128930" cy="12893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5072177" y="1071677"/>
            <a:ext cx="345734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급성 </a:t>
            </a:r>
            <a:r>
              <a:rPr lang="ko-KR" alt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충수돌기염</a:t>
            </a:r>
            <a:r>
              <a:rPr lang="en-US" alt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맹장염</a:t>
            </a:r>
            <a:r>
              <a:rPr lang="en-US" alt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ko-KR" alt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진단 정확도</a:t>
            </a:r>
            <a:endParaRPr lang="en-US" sz="12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886554" y="1257300"/>
            <a:ext cx="365760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4837130" y="1421300"/>
            <a:ext cx="3763176" cy="1539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/>
              <a:t>이 논문은 이진 분류 모델 성능 평가 구조를 그대로 따름</a:t>
            </a:r>
            <a:r>
              <a:rPr lang="en-US" altLang="ko-KR" sz="900" dirty="0"/>
              <a:t>. </a:t>
            </a:r>
            <a:r>
              <a:rPr lang="en" altLang="ko-KR" sz="900" dirty="0"/>
              <a:t>CT </a:t>
            </a:r>
            <a:r>
              <a:rPr lang="ko-KR" altLang="en-US" sz="900" dirty="0"/>
              <a:t>소견</a:t>
            </a:r>
            <a:r>
              <a:rPr lang="en-US" altLang="ko-KR" sz="900" dirty="0"/>
              <a:t>(</a:t>
            </a:r>
            <a:r>
              <a:rPr lang="ko-KR" altLang="en-US" sz="900" dirty="0"/>
              <a:t>입력</a:t>
            </a:r>
            <a:r>
              <a:rPr lang="en-US" altLang="ko-KR" sz="900" dirty="0"/>
              <a:t>)</a:t>
            </a:r>
            <a:r>
              <a:rPr lang="ko-KR" altLang="en-US" sz="900" dirty="0" err="1"/>
              <a:t>으로</a:t>
            </a:r>
            <a:r>
              <a:rPr lang="ko-KR" altLang="en-US" sz="900" dirty="0"/>
              <a:t> </a:t>
            </a:r>
            <a:r>
              <a:rPr lang="ko-KR" altLang="en-US" sz="900" dirty="0" err="1"/>
              <a:t>충수돌기염</a:t>
            </a:r>
            <a:r>
              <a:rPr lang="ko-KR" altLang="en-US" sz="900" dirty="0"/>
              <a:t> 있음</a:t>
            </a:r>
            <a:r>
              <a:rPr lang="en-US" altLang="ko-KR" sz="900" dirty="0"/>
              <a:t>/</a:t>
            </a:r>
            <a:r>
              <a:rPr lang="ko-KR" altLang="en-US" sz="900" dirty="0"/>
              <a:t>없음</a:t>
            </a:r>
            <a:r>
              <a:rPr lang="en-US" altLang="ko-KR" sz="900" dirty="0"/>
              <a:t>(</a:t>
            </a:r>
            <a:r>
              <a:rPr lang="ko-KR" altLang="en-US" sz="900" dirty="0"/>
              <a:t>출력</a:t>
            </a:r>
            <a:r>
              <a:rPr lang="en-US" altLang="ko-KR" sz="900" dirty="0"/>
              <a:t>)</a:t>
            </a:r>
            <a:r>
              <a:rPr lang="ko-KR" altLang="en-US" sz="900" dirty="0"/>
              <a:t>을 분류하는 문제이다</a:t>
            </a:r>
            <a:r>
              <a:rPr lang="en-US" altLang="ko-KR" sz="900" dirty="0"/>
              <a:t>.</a:t>
            </a:r>
          </a:p>
          <a:p>
            <a:endParaRPr lang="en-US" altLang="ko-KR" sz="900" dirty="0"/>
          </a:p>
          <a:p>
            <a:r>
              <a:rPr lang="en-US" altLang="ko-KR" sz="900" dirty="0"/>
              <a:t>162</a:t>
            </a:r>
            <a:r>
              <a:rPr lang="ko-KR" altLang="en-US" sz="900" dirty="0"/>
              <a:t>명의 실제 진단 결과를 정답으로 두고</a:t>
            </a:r>
            <a:r>
              <a:rPr lang="en-US" altLang="ko-KR" sz="900" dirty="0"/>
              <a:t>, </a:t>
            </a:r>
            <a:r>
              <a:rPr lang="en" altLang="ko-KR" sz="900" dirty="0"/>
              <a:t>CT </a:t>
            </a:r>
            <a:r>
              <a:rPr lang="ko-KR" altLang="en-US" sz="900" dirty="0"/>
              <a:t>소견별로 </a:t>
            </a:r>
            <a:r>
              <a:rPr lang="en" altLang="ko-KR" sz="900" dirty="0"/>
              <a:t>TP·FP·FN·TN</a:t>
            </a:r>
            <a:r>
              <a:rPr lang="ko-KR" altLang="en-US" sz="900" dirty="0"/>
              <a:t>을 계산해 민감도</a:t>
            </a:r>
            <a:r>
              <a:rPr lang="en-US" altLang="ko-KR" sz="900" dirty="0"/>
              <a:t>·</a:t>
            </a:r>
            <a:r>
              <a:rPr lang="ko-KR" altLang="en-US" sz="900" dirty="0"/>
              <a:t>특이도</a:t>
            </a:r>
            <a:r>
              <a:rPr lang="en-US" altLang="ko-KR" sz="900" dirty="0"/>
              <a:t>·</a:t>
            </a:r>
            <a:r>
              <a:rPr lang="ko-KR" altLang="en-US" sz="900" dirty="0"/>
              <a:t>정확도를 도출함</a:t>
            </a:r>
            <a:r>
              <a:rPr lang="en-US" altLang="ko-KR" sz="900" dirty="0"/>
              <a:t>. </a:t>
            </a:r>
            <a:r>
              <a:rPr lang="ko-KR" altLang="en-US" sz="900" dirty="0"/>
              <a:t>혼동행렬 기반 평가 구조와 완전히 동일함</a:t>
            </a:r>
            <a:r>
              <a:rPr lang="en-US" altLang="ko-KR" sz="900" dirty="0"/>
              <a:t>.</a:t>
            </a:r>
          </a:p>
          <a:p>
            <a:endParaRPr lang="en-US" altLang="ko-KR" sz="900" dirty="0"/>
          </a:p>
          <a:p>
            <a:r>
              <a:rPr lang="ko-KR" altLang="en-US" sz="900" dirty="0"/>
              <a:t>지표 선택도 목적에 따라 달라짐</a:t>
            </a:r>
            <a:r>
              <a:rPr lang="en-US" altLang="ko-KR" sz="900" dirty="0"/>
              <a:t>. </a:t>
            </a:r>
            <a:r>
              <a:rPr lang="ko-KR" altLang="en-US" sz="900" dirty="0"/>
              <a:t>민감도가 높은 소견은 환자를 놓치지 않는 데</a:t>
            </a:r>
            <a:r>
              <a:rPr lang="en-US" altLang="ko-KR" sz="900" dirty="0"/>
              <a:t>, </a:t>
            </a:r>
            <a:r>
              <a:rPr lang="ko-KR" altLang="en-US" sz="900" dirty="0"/>
              <a:t>특이도가 높은 소견은 오진을 줄이는 데 활용됨</a:t>
            </a:r>
            <a:r>
              <a:rPr lang="en-US" altLang="ko-KR" sz="900" dirty="0"/>
              <a:t>. </a:t>
            </a:r>
          </a:p>
          <a:p>
            <a:endParaRPr lang="en-US" altLang="ko-KR" sz="900" dirty="0"/>
          </a:p>
          <a:p>
            <a:r>
              <a:rPr lang="ko-KR" altLang="en-US" sz="900" dirty="0"/>
              <a:t>*상황에 따라 어떤 지표를 우선할지 판단하는 것이 핵심이다</a:t>
            </a:r>
            <a:r>
              <a:rPr lang="en-US" altLang="ko-KR" sz="900" dirty="0"/>
              <a:t>.</a:t>
            </a:r>
          </a:p>
        </p:txBody>
      </p:sp>
      <p:sp>
        <p:nvSpPr>
          <p:cNvPr id="34" name="Shape 31"/>
          <p:cNvSpPr/>
          <p:nvPr/>
        </p:nvSpPr>
        <p:spPr>
          <a:xfrm>
            <a:off x="428854" y="4700930"/>
            <a:ext cx="8287207" cy="548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428854" y="4736592"/>
            <a:ext cx="25694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</a:p>
        </p:txBody>
      </p:sp>
      <p:sp>
        <p:nvSpPr>
          <p:cNvPr id="36" name="Text 33"/>
          <p:cNvSpPr/>
          <p:nvPr/>
        </p:nvSpPr>
        <p:spPr>
          <a:xfrm>
            <a:off x="728777" y="4750308"/>
            <a:ext cx="2286000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 문헌</a:t>
            </a:r>
            <a:endParaRPr lang="en-US" sz="85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37" name="Picture 4" descr="서강대학교 - 더시드위키">
            <a:extLst>
              <a:ext uri="{FF2B5EF4-FFF2-40B4-BE49-F238E27FC236}">
                <a16:creationId xmlns:a16="http://schemas.microsoft.com/office/drawing/2014/main" id="{B0A19AEB-9B66-5E4D-7A15-C58DDEB0B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79" y="239629"/>
            <a:ext cx="371246" cy="3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 19">
            <a:extLst>
              <a:ext uri="{FF2B5EF4-FFF2-40B4-BE49-F238E27FC236}">
                <a16:creationId xmlns:a16="http://schemas.microsoft.com/office/drawing/2014/main" id="{8FC4CF92-9CD5-F98F-B7CE-431CB01703B7}"/>
              </a:ext>
            </a:extLst>
          </p:cNvPr>
          <p:cNvSpPr/>
          <p:nvPr/>
        </p:nvSpPr>
        <p:spPr>
          <a:xfrm>
            <a:off x="614477" y="1407286"/>
            <a:ext cx="3657600" cy="2831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b="1" dirty="0"/>
              <a:t>얇은 절편 조영증강 </a:t>
            </a:r>
            <a:r>
              <a:rPr lang="en" altLang="ko-KR" sz="900" b="1" dirty="0"/>
              <a:t>CT</a:t>
            </a:r>
            <a:r>
              <a:rPr lang="ko-KR" altLang="en-US" sz="900" b="1" dirty="0"/>
              <a:t>에서 급성 </a:t>
            </a:r>
            <a:r>
              <a:rPr lang="ko-KR" altLang="en-US" sz="900" b="1" dirty="0" err="1"/>
              <a:t>충수돌기염</a:t>
            </a:r>
            <a:r>
              <a:rPr lang="ko-KR" altLang="en-US" sz="900" b="1" dirty="0"/>
              <a:t> 소견들의 민감도</a:t>
            </a:r>
            <a:r>
              <a:rPr lang="en-US" altLang="ko-KR" sz="900" b="1" dirty="0"/>
              <a:t>, </a:t>
            </a:r>
            <a:r>
              <a:rPr lang="ko-KR" altLang="en-US" sz="900" b="1" dirty="0"/>
              <a:t>특이도 및 진단 정확도</a:t>
            </a:r>
          </a:p>
          <a:p>
            <a:r>
              <a:rPr lang="en" altLang="ko-KR" sz="800" i="1" dirty="0">
                <a:solidFill>
                  <a:schemeClr val="bg1">
                    <a:lumMod val="50000"/>
                  </a:schemeClr>
                </a:solidFill>
              </a:rPr>
              <a:t>Lee, J. Y., Choi, D., Park, H., Lee, Y. R., Kook, S. H., Kwag, H. J., … Chung, E. C. (2002). Acute Appendicitis: Sensitivity, Specificity and Diagnostic Accuracy of Thin-Section Contrast-Enhanced CT Findings. Journal of the Korean Radiological Society. The Korean Society of Radiology. https://</a:t>
            </a:r>
            <a:r>
              <a:rPr lang="en" altLang="ko-KR" sz="800" i="1" dirty="0" err="1">
                <a:solidFill>
                  <a:schemeClr val="bg1">
                    <a:lumMod val="50000"/>
                  </a:schemeClr>
                </a:solidFill>
              </a:rPr>
              <a:t>doi.org</a:t>
            </a:r>
            <a:r>
              <a:rPr lang="en" altLang="ko-KR" sz="800" i="1" dirty="0">
                <a:solidFill>
                  <a:schemeClr val="bg1">
                    <a:lumMod val="50000"/>
                  </a:schemeClr>
                </a:solidFill>
              </a:rPr>
              <a:t>/10.3348/jkrs.2002.47.4.379</a:t>
            </a:r>
            <a:endParaRPr lang="en-US" sz="800" i="1" dirty="0">
              <a:solidFill>
                <a:srgbClr val="475569"/>
              </a:solidFill>
              <a:ea typeface="Calibri" pitchFamily="34" charset="-122"/>
              <a:cs typeface="Calibri" pitchFamily="34" charset="-120"/>
            </a:endParaRPr>
          </a:p>
          <a:p>
            <a:r>
              <a:rPr lang="en-US" altLang="ko-KR" sz="800" dirty="0">
                <a:solidFill>
                  <a:srgbClr val="475569"/>
                </a:solidFill>
                <a:ea typeface="Calibri" pitchFamily="34" charset="-122"/>
                <a:cs typeface="Calibri" pitchFamily="34" charset="-120"/>
                <a:hlinkClick r:id="rId4"/>
              </a:rPr>
              <a:t>https://jksronline.org/pdf/10.3348/jkrs.2002.47.4.379</a:t>
            </a:r>
            <a:endParaRPr lang="en-US" altLang="ko-KR" sz="800" dirty="0">
              <a:solidFill>
                <a:srgbClr val="475569"/>
              </a:solidFill>
              <a:ea typeface="Calibri" pitchFamily="34" charset="-122"/>
              <a:cs typeface="Calibri" pitchFamily="34" charset="-120"/>
            </a:endParaRPr>
          </a:p>
          <a:p>
            <a:endParaRPr lang="en-US" altLang="ko-KR" sz="800" dirty="0">
              <a:solidFill>
                <a:srgbClr val="475569"/>
              </a:solidFill>
              <a:ea typeface="Calibri" pitchFamily="34" charset="-122"/>
              <a:cs typeface="Calibri" pitchFamily="34" charset="-120"/>
            </a:endParaRPr>
          </a:p>
          <a:p>
            <a:endParaRPr lang="en-US" altLang="ko-KR" sz="800" dirty="0">
              <a:solidFill>
                <a:srgbClr val="475569"/>
              </a:solidFill>
              <a:ea typeface="Calibri" pitchFamily="34" charset="-122"/>
              <a:cs typeface="Calibri" pitchFamily="34" charset="-120"/>
            </a:endParaRPr>
          </a:p>
          <a:p>
            <a:r>
              <a:rPr lang="ko-KR" altLang="en-US" sz="900" b="1" dirty="0"/>
              <a:t>노인용 인지검사</a:t>
            </a:r>
            <a:r>
              <a:rPr lang="en-US" altLang="ko-KR" sz="900" b="1" dirty="0"/>
              <a:t>(</a:t>
            </a:r>
            <a:r>
              <a:rPr lang="en" altLang="ko-KR" sz="900" b="1" dirty="0"/>
              <a:t>COSA)</a:t>
            </a:r>
            <a:r>
              <a:rPr lang="ko-KR" altLang="en-US" sz="900" b="1" dirty="0" err="1"/>
              <a:t>를</a:t>
            </a:r>
            <a:r>
              <a:rPr lang="ko-KR" altLang="en-US" sz="900" b="1" dirty="0"/>
              <a:t> 사용한 치매 평가의 민감도 및 특이도</a:t>
            </a:r>
          </a:p>
          <a:p>
            <a:r>
              <a:rPr lang="ko-KR" altLang="en-US" sz="800" i="1" dirty="0" err="1">
                <a:solidFill>
                  <a:schemeClr val="bg1">
                    <a:lumMod val="50000"/>
                  </a:schemeClr>
                </a:solidFill>
              </a:rPr>
              <a:t>김홍근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800" i="1" dirty="0" err="1">
                <a:solidFill>
                  <a:schemeClr val="bg1">
                    <a:lumMod val="50000"/>
                  </a:schemeClr>
                </a:solidFill>
              </a:rPr>
              <a:t>김용숙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</a:rPr>
              <a:t>. (2018). 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</a:rPr>
              <a:t>노인용 인지검사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" altLang="ko-KR" sz="800" i="1" dirty="0">
                <a:solidFill>
                  <a:schemeClr val="bg1">
                    <a:lumMod val="50000"/>
                  </a:schemeClr>
                </a:solidFill>
              </a:rPr>
              <a:t>COSA)</a:t>
            </a:r>
            <a:r>
              <a:rPr lang="ko-KR" altLang="en-US" sz="800" i="1" dirty="0" err="1">
                <a:solidFill>
                  <a:schemeClr val="bg1">
                    <a:lumMod val="50000"/>
                  </a:schemeClr>
                </a:solidFill>
              </a:rPr>
              <a:t>를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</a:rPr>
              <a:t> 사용한 치매 평가의 민감도 및 특이도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</a:rPr>
              <a:t>재활심리연구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</a:rPr>
              <a:t>, 25(4), 809-822. 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</a:rPr>
              <a:t>한국재활심리학회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en" altLang="ko-KR" sz="800" dirty="0">
                <a:hlinkClick r:id="rId5"/>
              </a:rPr>
              <a:t>https://www.kci.go.kr/kciportal/ci/sereArticleSearch/ciSereArtiView.kci?sereArticleSearchBean.artiId=ART002417684</a:t>
            </a:r>
            <a:endParaRPr lang="en" altLang="ko-KR" sz="800" dirty="0"/>
          </a:p>
          <a:p>
            <a:endParaRPr lang="en" altLang="ko-KR" sz="800" dirty="0"/>
          </a:p>
          <a:p>
            <a:endParaRPr lang="en-US" altLang="ko-KR" sz="800" dirty="0">
              <a:solidFill>
                <a:srgbClr val="475569"/>
              </a:solidFill>
              <a:ea typeface="Calibri" pitchFamily="34" charset="-122"/>
              <a:cs typeface="Calibri" pitchFamily="34" charset="-120"/>
            </a:endParaRPr>
          </a:p>
          <a:p>
            <a:r>
              <a:rPr lang="ko-KR" altLang="en-US" sz="900" b="1" dirty="0"/>
              <a:t>쓰기 채점 방식에 따른 쓰기 검사의 민감도 및 특이도 연구</a:t>
            </a:r>
          </a:p>
          <a:p>
            <a:r>
              <a:rPr lang="ko-KR" altLang="en-US" sz="800" i="1" dirty="0" err="1">
                <a:solidFill>
                  <a:schemeClr val="bg1">
                    <a:lumMod val="50000"/>
                  </a:schemeClr>
                </a:solidFill>
              </a:rPr>
              <a:t>이미래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</a:rPr>
              <a:t>최은정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</a:rPr>
              <a:t>김영태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</a:rPr>
              <a:t>. (2020). 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</a:rPr>
              <a:t>쓰기 채점 방식에 따른 쓰기 검사의 민감도 및 특이도 연구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</a:rPr>
              <a:t>언어치료연구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</a:rPr>
              <a:t>, 29(2), 47-55. 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</a:rPr>
              <a:t>한국언어치료학회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en" altLang="ko-KR" sz="800" dirty="0">
                <a:hlinkClick r:id="rId6"/>
              </a:rPr>
              <a:t>https://doi.org/10.15724/jslhd.2020.29.2.047</a:t>
            </a:r>
            <a:endParaRPr lang="en" altLang="ko-KR" sz="800" dirty="0"/>
          </a:p>
          <a:p>
            <a:pPr marL="0" indent="0">
              <a:buNone/>
            </a:pPr>
            <a:endParaRPr lang="en-US" sz="800" dirty="0">
              <a:solidFill>
                <a:srgbClr val="475569"/>
              </a:solidFill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6CAA06A9-71A4-3122-0415-5907BE12CE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7131" y="3011348"/>
            <a:ext cx="2163788" cy="1156832"/>
          </a:xfrm>
          <a:prstGeom prst="rect">
            <a:avLst/>
          </a:prstGeom>
        </p:spPr>
      </p:pic>
      <p:sp>
        <p:nvSpPr>
          <p:cNvPr id="41" name="Text 19">
            <a:extLst>
              <a:ext uri="{FF2B5EF4-FFF2-40B4-BE49-F238E27FC236}">
                <a16:creationId xmlns:a16="http://schemas.microsoft.com/office/drawing/2014/main" id="{0F1F4871-B4B9-68A2-BB02-977F891C8234}"/>
              </a:ext>
            </a:extLst>
          </p:cNvPr>
          <p:cNvSpPr/>
          <p:nvPr/>
        </p:nvSpPr>
        <p:spPr>
          <a:xfrm>
            <a:off x="7077335" y="3005345"/>
            <a:ext cx="1662524" cy="1164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b="1" dirty="0"/>
              <a:t>왼쪽 소견</a:t>
            </a:r>
            <a:br>
              <a:rPr lang="en-US" altLang="ko-KR" sz="800" dirty="0"/>
            </a:br>
            <a:r>
              <a:rPr lang="en-US" altLang="ko-KR" sz="800" dirty="0"/>
              <a:t>(</a:t>
            </a:r>
            <a:r>
              <a:rPr lang="ko-KR" altLang="en-US" sz="800" dirty="0"/>
              <a:t>충수돌기 팽대</a:t>
            </a:r>
            <a:r>
              <a:rPr lang="en-US" altLang="ko-KR" sz="800" dirty="0"/>
              <a:t>, </a:t>
            </a:r>
            <a:r>
              <a:rPr lang="ko-KR" altLang="en-US" sz="800" dirty="0"/>
              <a:t>지방층 </a:t>
            </a:r>
            <a:r>
              <a:rPr lang="ko-KR" altLang="en-US" sz="800" dirty="0" err="1"/>
              <a:t>선상음영</a:t>
            </a:r>
            <a:r>
              <a:rPr lang="en-US" altLang="ko-KR" sz="800" dirty="0"/>
              <a:t>)</a:t>
            </a:r>
            <a:r>
              <a:rPr lang="ko-KR" altLang="en-US" sz="800" dirty="0"/>
              <a:t>은 민감도</a:t>
            </a:r>
            <a:r>
              <a:rPr lang="en-US" altLang="ko-KR" sz="800" dirty="0"/>
              <a:t>·</a:t>
            </a:r>
            <a:r>
              <a:rPr lang="ko-KR" altLang="en-US" sz="800" dirty="0"/>
              <a:t>특이도</a:t>
            </a:r>
            <a:r>
              <a:rPr lang="en-US" altLang="ko-KR" sz="800" dirty="0"/>
              <a:t>·</a:t>
            </a:r>
            <a:r>
              <a:rPr lang="ko-KR" altLang="en-US" sz="800" dirty="0"/>
              <a:t>정확도가 모두 높아 균형 잡힌 분류 지표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800" b="1" dirty="0"/>
              <a:t>오른쪽 소견</a:t>
            </a:r>
            <a:br>
              <a:rPr lang="en-US" altLang="ko-KR" sz="800" dirty="0"/>
            </a:br>
            <a:r>
              <a:rPr lang="en-US" altLang="ko-KR" sz="800" dirty="0"/>
              <a:t>(</a:t>
            </a:r>
            <a:r>
              <a:rPr lang="ko-KR" altLang="en-US" sz="800" dirty="0"/>
              <a:t>충수돌기석</a:t>
            </a:r>
            <a:r>
              <a:rPr lang="en-US" altLang="ko-KR" sz="800" dirty="0"/>
              <a:t>, </a:t>
            </a:r>
            <a:r>
              <a:rPr lang="ko-KR" altLang="en-US" sz="800" dirty="0"/>
              <a:t>맹장 </a:t>
            </a:r>
            <a:r>
              <a:rPr lang="ko-KR" altLang="en-US" sz="800" dirty="0" err="1"/>
              <a:t>첨단부</a:t>
            </a:r>
            <a:r>
              <a:rPr lang="ko-KR" altLang="en-US" sz="800" dirty="0"/>
              <a:t> 비후</a:t>
            </a:r>
            <a:r>
              <a:rPr lang="en-US" altLang="ko-KR" sz="800" dirty="0"/>
              <a:t>)</a:t>
            </a:r>
            <a:r>
              <a:rPr lang="ko-KR" altLang="en-US" sz="800" dirty="0"/>
              <a:t>은 민감도는 낮지만 특이도 </a:t>
            </a:r>
            <a:r>
              <a:rPr lang="en-US" altLang="ko-KR" sz="800" dirty="0"/>
              <a:t>100%</a:t>
            </a:r>
            <a:r>
              <a:rPr lang="ko-KR" altLang="en-US" sz="800" dirty="0"/>
              <a:t>로</a:t>
            </a:r>
            <a:r>
              <a:rPr lang="en-US" altLang="ko-KR" sz="800" dirty="0"/>
              <a:t>, </a:t>
            </a:r>
            <a:r>
              <a:rPr lang="ko-KR" altLang="en-US" sz="800" dirty="0"/>
              <a:t>보이면 거의 확진</a:t>
            </a:r>
            <a:endParaRPr lang="en-US" altLang="ko-KR" sz="800" dirty="0"/>
          </a:p>
        </p:txBody>
      </p:sp>
    </p:spTree>
    <p:extLst>
      <p:ext uri="{BB962C8B-B14F-4D97-AF65-F5344CB8AC3E}">
        <p14:creationId xmlns:p14="http://schemas.microsoft.com/office/powerpoint/2010/main" val="2787900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2834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2428646" y="1000354"/>
            <a:ext cx="4286707" cy="26016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032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2428646" y="1000354"/>
            <a:ext cx="4286707" cy="2468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214470" y="1321308"/>
            <a:ext cx="714146" cy="71414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/>
          <p:nvPr/>
        </p:nvSpPr>
        <p:spPr>
          <a:xfrm>
            <a:off x="2428646" y="2271370"/>
            <a:ext cx="4286707" cy="543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</a:p>
        </p:txBody>
      </p:sp>
      <p:sp>
        <p:nvSpPr>
          <p:cNvPr id="9" name="Shape 5"/>
          <p:cNvSpPr/>
          <p:nvPr/>
        </p:nvSpPr>
        <p:spPr>
          <a:xfrm>
            <a:off x="4286707" y="2872130"/>
            <a:ext cx="571500" cy="1828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0" y="4286707"/>
            <a:ext cx="9144000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서강대학교 AI·SW 대학원</a:t>
            </a:r>
          </a:p>
        </p:txBody>
      </p:sp>
      <p:sp>
        <p:nvSpPr>
          <p:cNvPr id="12" name="Text 8"/>
          <p:cNvSpPr/>
          <p:nvPr/>
        </p:nvSpPr>
        <p:spPr>
          <a:xfrm>
            <a:off x="0" y="4472330"/>
            <a:ext cx="914400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 기반 데이터 분석 | Week 3 Report</a:t>
            </a:r>
          </a:p>
        </p:txBody>
      </p:sp>
      <p:pic>
        <p:nvPicPr>
          <p:cNvPr id="13" name="Picture 4" descr="서강대학교 - 더시드위키">
            <a:extLst>
              <a:ext uri="{FF2B5EF4-FFF2-40B4-BE49-F238E27FC236}">
                <a16:creationId xmlns:a16="http://schemas.microsoft.com/office/drawing/2014/main" id="{12787B0B-3A45-0A3B-428B-28D492A2C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469" y="1321307"/>
            <a:ext cx="714146" cy="714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6483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4E0592B-27DD-DA40-8465-9F5D41A6A73D}">
  <we:reference id="WA200010001" version="1.0.0.1" store="Omex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1754</Words>
  <Application>Microsoft Macintosh PowerPoint</Application>
  <PresentationFormat>화면 슬라이드 쇼(16:9)</PresentationFormat>
  <Paragraphs>312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서강대학교 AI.SW 대학원 학술 보고서</dc:title>
  <dc:subject>PptxGenJS Presentation</dc:subject>
  <dc:creator>PptxGenJS</dc:creator>
  <cp:lastModifiedBy>이인범</cp:lastModifiedBy>
  <cp:revision>7</cp:revision>
  <dcterms:created xsi:type="dcterms:W3CDTF">2026-03-26T15:08:37Z</dcterms:created>
  <dcterms:modified xsi:type="dcterms:W3CDTF">2026-03-29T14:48:46Z</dcterms:modified>
</cp:coreProperties>
</file>