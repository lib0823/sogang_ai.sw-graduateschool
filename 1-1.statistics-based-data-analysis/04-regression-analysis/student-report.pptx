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270" r:id="rId4"/>
    <p:sldId id="271" r:id="rId5"/>
    <p:sldId id="272" r:id="rId6"/>
    <p:sldId id="286" r:id="rId7"/>
    <p:sldId id="281" r:id="rId8"/>
    <p:sldId id="276" r:id="rId9"/>
    <p:sldId id="282" r:id="rId10"/>
    <p:sldId id="278" r:id="rId11"/>
    <p:sldId id="279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93"/>
    <p:restoredTop sz="94610"/>
  </p:normalViewPr>
  <p:slideViewPr>
    <p:cSldViewPr snapToGrid="0" snapToObjects="1">
      <p:cViewPr varScale="1">
        <p:scale>
          <a:sx n="200" d="100"/>
          <a:sy n="200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8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464869" y="514807"/>
            <a:ext cx="35716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SOGANG UNIVERSITY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4869" y="685800"/>
            <a:ext cx="3571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GRADUATE SCHOOL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14146" y="1800454"/>
            <a:ext cx="35662" cy="110733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71423" y="1785823"/>
            <a:ext cx="7144207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1423" y="1957730"/>
            <a:ext cx="7500823" cy="50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분석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1423" y="2572207"/>
            <a:ext cx="6429146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통계기반 데이터 분석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4146" y="3300070"/>
            <a:ext cx="7715707" cy="1057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57854" y="3414370"/>
            <a:ext cx="7315" cy="84307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64692" y="3429000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3177" y="3429000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4692" y="3700577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3177" y="3700577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" y="3972154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43177" y="3972154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이인범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36162" y="3507638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교수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507638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정화민</a:t>
            </a:r>
            <a:r>
              <a:rPr lang="ko-KR" alt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교수님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36162" y="3807562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일자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3807562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2026.04.05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4146" y="4643323"/>
            <a:ext cx="7715707" cy="731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28" name="Picture 4" descr="서강대학교 - 더시드위키">
            <a:extLst>
              <a:ext uri="{FF2B5EF4-FFF2-40B4-BE49-F238E27FC236}">
                <a16:creationId xmlns:a16="http://schemas.microsoft.com/office/drawing/2014/main" id="{852CE6D6-1ACF-280A-C43C-998F29FF4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" y="373279"/>
            <a:ext cx="604725" cy="60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00254"/>
            <a:ext cx="371246" cy="3712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78738" y="200254"/>
            <a:ext cx="2143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78738" y="406908"/>
            <a:ext cx="28575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28854" y="714146"/>
            <a:ext cx="8287207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010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0010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4807" y="85770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10" name="Shape 7"/>
          <p:cNvSpPr/>
          <p:nvPr/>
        </p:nvSpPr>
        <p:spPr>
          <a:xfrm>
            <a:off x="914400" y="91440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00354" y="92903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학습</a:t>
            </a: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배경 및 필요성</a:t>
            </a:r>
          </a:p>
        </p:txBody>
      </p:sp>
      <p:sp>
        <p:nvSpPr>
          <p:cNvPr id="12" name="Text 9"/>
          <p:cNvSpPr/>
          <p:nvPr/>
        </p:nvSpPr>
        <p:spPr>
          <a:xfrm>
            <a:off x="1000354" y="111465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회귀분석의 역사, 인과관계의 이해</a:t>
            </a:r>
          </a:p>
        </p:txBody>
      </p:sp>
      <p:sp>
        <p:nvSpPr>
          <p:cNvPr id="13" name="Shape 10"/>
          <p:cNvSpPr/>
          <p:nvPr/>
        </p:nvSpPr>
        <p:spPr>
          <a:xfrm>
            <a:off x="4643323" y="80010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43323" y="80010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729277" y="85770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6" name="Shape 13"/>
          <p:cNvSpPr/>
          <p:nvPr/>
        </p:nvSpPr>
        <p:spPr>
          <a:xfrm>
            <a:off x="5128870" y="91440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214823" y="92903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단순선형회귀분석 이론</a:t>
            </a:r>
          </a:p>
        </p:txBody>
      </p:sp>
      <p:sp>
        <p:nvSpPr>
          <p:cNvPr id="18" name="Text 15"/>
          <p:cNvSpPr/>
          <p:nvPr/>
        </p:nvSpPr>
        <p:spPr>
          <a:xfrm>
            <a:off x="5214823" y="111465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Y절편, 기울기, 결정계수 R²</a:t>
            </a:r>
          </a:p>
        </p:txBody>
      </p:sp>
      <p:sp>
        <p:nvSpPr>
          <p:cNvPr id="19" name="Shape 16"/>
          <p:cNvSpPr/>
          <p:nvPr/>
        </p:nvSpPr>
        <p:spPr>
          <a:xfrm>
            <a:off x="428854" y="155722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28854" y="155722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14807" y="161483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22" name="Shape 19"/>
          <p:cNvSpPr/>
          <p:nvPr/>
        </p:nvSpPr>
        <p:spPr>
          <a:xfrm>
            <a:off x="914400" y="167152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000354" y="168615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다중회귀분석 이론</a:t>
            </a:r>
          </a:p>
        </p:txBody>
      </p:sp>
      <p:sp>
        <p:nvSpPr>
          <p:cNvPr id="24" name="Text 21"/>
          <p:cNvSpPr/>
          <p:nvPr/>
        </p:nvSpPr>
        <p:spPr>
          <a:xfrm>
            <a:off x="1000354" y="187177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다중회귀 모형, F검정, T검정</a:t>
            </a:r>
          </a:p>
        </p:txBody>
      </p:sp>
      <p:sp>
        <p:nvSpPr>
          <p:cNvPr id="25" name="Shape 22"/>
          <p:cNvSpPr/>
          <p:nvPr/>
        </p:nvSpPr>
        <p:spPr>
          <a:xfrm>
            <a:off x="4643323" y="155722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643323" y="155722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729277" y="161483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28" name="Shape 25"/>
          <p:cNvSpPr/>
          <p:nvPr/>
        </p:nvSpPr>
        <p:spPr>
          <a:xfrm>
            <a:off x="5128870" y="167152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214823" y="168615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더미변수 다중회귀 — Excel 구현</a:t>
            </a:r>
          </a:p>
        </p:txBody>
      </p:sp>
      <p:sp>
        <p:nvSpPr>
          <p:cNvPr id="30" name="Text 27"/>
          <p:cNvSpPr/>
          <p:nvPr/>
        </p:nvSpPr>
        <p:spPr>
          <a:xfrm>
            <a:off x="5214823" y="187177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학력 더미변수 코딩 + Excel 결과 해석</a:t>
            </a:r>
          </a:p>
        </p:txBody>
      </p:sp>
      <p:sp>
        <p:nvSpPr>
          <p:cNvPr id="31" name="Shape 28"/>
          <p:cNvSpPr/>
          <p:nvPr/>
        </p:nvSpPr>
        <p:spPr>
          <a:xfrm>
            <a:off x="428854" y="231434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428854" y="231434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14807" y="237195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34" name="Shape 31"/>
          <p:cNvSpPr/>
          <p:nvPr/>
        </p:nvSpPr>
        <p:spPr>
          <a:xfrm>
            <a:off x="914400" y="242864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000354" y="244327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더미변수 다중회귀 — R 코드</a:t>
            </a:r>
          </a:p>
        </p:txBody>
      </p:sp>
      <p:sp>
        <p:nvSpPr>
          <p:cNvPr id="36" name="Text 33"/>
          <p:cNvSpPr/>
          <p:nvPr/>
        </p:nvSpPr>
        <p:spPr>
          <a:xfrm>
            <a:off x="1000354" y="262890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lm(), summary(), 유의확률 해석</a:t>
            </a:r>
          </a:p>
        </p:txBody>
      </p:sp>
      <p:sp>
        <p:nvSpPr>
          <p:cNvPr id="37" name="Shape 34"/>
          <p:cNvSpPr/>
          <p:nvPr/>
        </p:nvSpPr>
        <p:spPr>
          <a:xfrm>
            <a:off x="4643323" y="231434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643323" y="231434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729277" y="237195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40" name="Shape 37"/>
          <p:cNvSpPr/>
          <p:nvPr/>
        </p:nvSpPr>
        <p:spPr>
          <a:xfrm>
            <a:off x="5128870" y="242864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214823" y="244327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mtcars 다중회귀분석 — R</a:t>
            </a:r>
          </a:p>
        </p:txBody>
      </p:sp>
      <p:sp>
        <p:nvSpPr>
          <p:cNvPr id="42" name="Text 39"/>
          <p:cNvSpPr/>
          <p:nvPr/>
        </p:nvSpPr>
        <p:spPr>
          <a:xfrm>
            <a:off x="5214823" y="262890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mpg 예측, 유의확률, 회귀식 완성</a:t>
            </a:r>
          </a:p>
        </p:txBody>
      </p:sp>
      <p:sp>
        <p:nvSpPr>
          <p:cNvPr id="43" name="Shape 40"/>
          <p:cNvSpPr/>
          <p:nvPr/>
        </p:nvSpPr>
        <p:spPr>
          <a:xfrm>
            <a:off x="428854" y="307147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428854" y="307147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514807" y="312907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46" name="Shape 43"/>
          <p:cNvSpPr/>
          <p:nvPr/>
        </p:nvSpPr>
        <p:spPr>
          <a:xfrm>
            <a:off x="914400" y="318577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1000354" y="320040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종합 결론</a:t>
            </a:r>
          </a:p>
        </p:txBody>
      </p:sp>
      <p:sp>
        <p:nvSpPr>
          <p:cNvPr id="48" name="Text 45"/>
          <p:cNvSpPr/>
          <p:nvPr/>
        </p:nvSpPr>
        <p:spPr>
          <a:xfrm>
            <a:off x="1000354" y="3386023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분석 결과 요약 및 향후 학습 과제</a:t>
            </a:r>
          </a:p>
        </p:txBody>
      </p:sp>
      <p:sp>
        <p:nvSpPr>
          <p:cNvPr id="53" name="Text 50"/>
          <p:cNvSpPr/>
          <p:nvPr/>
        </p:nvSpPr>
        <p:spPr>
          <a:xfrm>
            <a:off x="5214823" y="320040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sz="1200" dirty="0"/>
          </a:p>
        </p:txBody>
      </p:sp>
      <p:sp>
        <p:nvSpPr>
          <p:cNvPr id="54" name="Text 51"/>
          <p:cNvSpPr/>
          <p:nvPr/>
        </p:nvSpPr>
        <p:spPr>
          <a:xfrm>
            <a:off x="5214823" y="3386023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endParaRPr lang="ko-KR" sz="1000" dirty="0"/>
          </a:p>
        </p:txBody>
      </p:sp>
      <p:sp>
        <p:nvSpPr>
          <p:cNvPr id="57" name="Text 54"/>
          <p:cNvSpPr/>
          <p:nvPr/>
        </p:nvSpPr>
        <p:spPr>
          <a:xfrm>
            <a:off x="514807" y="388620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endParaRPr lang="ko-KR" sz="1000" dirty="0"/>
          </a:p>
        </p:txBody>
      </p:sp>
      <p:sp>
        <p:nvSpPr>
          <p:cNvPr id="59" name="Text 56"/>
          <p:cNvSpPr/>
          <p:nvPr/>
        </p:nvSpPr>
        <p:spPr>
          <a:xfrm>
            <a:off x="1000354" y="3957523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sz="1000" dirty="0"/>
          </a:p>
        </p:txBody>
      </p:sp>
      <p:sp>
        <p:nvSpPr>
          <p:cNvPr id="60" name="Text 57"/>
          <p:cNvSpPr/>
          <p:nvPr/>
        </p:nvSpPr>
        <p:spPr>
          <a:xfrm>
            <a:off x="1000354" y="4143146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endParaRPr lang="ko-KR" sz="1000" dirty="0"/>
          </a:p>
        </p:txBody>
      </p:sp>
      <p:sp>
        <p:nvSpPr>
          <p:cNvPr id="65" name="Text 62"/>
          <p:cNvSpPr/>
          <p:nvPr/>
        </p:nvSpPr>
        <p:spPr>
          <a:xfrm>
            <a:off x="5214823" y="3957523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ko-KR" sz="1000" dirty="0"/>
          </a:p>
        </p:txBody>
      </p:sp>
      <p:sp>
        <p:nvSpPr>
          <p:cNvPr id="66" name="Text 63"/>
          <p:cNvSpPr/>
          <p:nvPr/>
        </p:nvSpPr>
        <p:spPr>
          <a:xfrm>
            <a:off x="5214823" y="4143146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endParaRPr lang="ko-KR" sz="1000" dirty="0"/>
          </a:p>
        </p:txBody>
      </p:sp>
      <p:sp>
        <p:nvSpPr>
          <p:cNvPr id="67" name="Text 64"/>
          <p:cNvSpPr/>
          <p:nvPr/>
        </p:nvSpPr>
        <p:spPr>
          <a:xfrm>
            <a:off x="7144207" y="4772254"/>
            <a:ext cx="1571854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pic>
        <p:nvPicPr>
          <p:cNvPr id="68" name="Picture 4" descr="서강대학교 - 더시드위키">
            <a:extLst>
              <a:ext uri="{FF2B5EF4-FFF2-40B4-BE49-F238E27FC236}">
                <a16:creationId xmlns:a16="http://schemas.microsoft.com/office/drawing/2014/main" id="{73ED477E-06C0-A4E4-839D-9C4377D3E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4" y="200254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31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연구 배경 및 필요성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 &amp; NECESSITY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920801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92530"/>
            <a:ext cx="257220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6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배경</a:t>
            </a:r>
          </a:p>
        </p:txBody>
      </p:sp>
      <p:sp>
        <p:nvSpPr>
          <p:cNvPr id="11" name="Shape 8"/>
          <p:cNvSpPr/>
          <p:nvPr/>
        </p:nvSpPr>
        <p:spPr>
          <a:xfrm>
            <a:off x="586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6130" y="147807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회귀분석은 Francis Galton(1886)이 부모-자녀 키 연관성 연구에서 처음 고안</a:t>
            </a:r>
          </a:p>
        </p:txBody>
      </p:sp>
      <p:sp>
        <p:nvSpPr>
          <p:cNvPr id="13" name="Text 10"/>
          <p:cNvSpPr/>
          <p:nvPr/>
        </p:nvSpPr>
        <p:spPr>
          <a:xfrm>
            <a:off x="586130" y="188788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Pearson이 수학적으로 정립 후 사회과학·자연과학 전반에 활용 확대</a:t>
            </a:r>
          </a:p>
        </p:txBody>
      </p:sp>
      <p:sp>
        <p:nvSpPr>
          <p:cNvPr id="14" name="Text 11"/>
          <p:cNvSpPr/>
          <p:nvPr/>
        </p:nvSpPr>
        <p:spPr>
          <a:xfrm>
            <a:off x="586130" y="229677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의사결정 시대, 회귀분석은 예측·인과관계 규명의 핵심 도구</a:t>
            </a:r>
          </a:p>
        </p:txBody>
      </p:sp>
      <p:sp>
        <p:nvSpPr>
          <p:cNvPr id="15" name="Shape 12"/>
          <p:cNvSpPr/>
          <p:nvPr/>
        </p:nvSpPr>
        <p:spPr>
          <a:xfrm>
            <a:off x="3286354" y="929030"/>
            <a:ext cx="257220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32863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4436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목적</a:t>
            </a:r>
          </a:p>
        </p:txBody>
      </p:sp>
      <p:sp>
        <p:nvSpPr>
          <p:cNvPr id="18" name="Shape 15"/>
          <p:cNvSpPr/>
          <p:nvPr/>
        </p:nvSpPr>
        <p:spPr>
          <a:xfrm>
            <a:off x="34436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443630" y="147807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기초 이론(단순·다중)을 체계적으로 학습하고 이해</a:t>
            </a:r>
          </a:p>
        </p:txBody>
      </p:sp>
      <p:sp>
        <p:nvSpPr>
          <p:cNvPr id="20" name="Text 17"/>
          <p:cNvSpPr/>
          <p:nvPr/>
        </p:nvSpPr>
        <p:spPr>
          <a:xfrm>
            <a:off x="3443630" y="188788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더미변수를 활용한 다중회귀분석을 Excel로 직접 구현·비교</a:t>
            </a:r>
          </a:p>
        </p:txBody>
      </p:sp>
      <p:sp>
        <p:nvSpPr>
          <p:cNvPr id="21" name="Text 18"/>
          <p:cNvSpPr/>
          <p:nvPr/>
        </p:nvSpPr>
        <p:spPr>
          <a:xfrm>
            <a:off x="3443630" y="229677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프로그래밍으로 mtcars 데이터 다중회귀 모형 구축 및 해석</a:t>
            </a:r>
          </a:p>
        </p:txBody>
      </p:sp>
      <p:sp>
        <p:nvSpPr>
          <p:cNvPr id="22" name="Shape 19"/>
          <p:cNvSpPr/>
          <p:nvPr/>
        </p:nvSpPr>
        <p:spPr>
          <a:xfrm>
            <a:off x="6143854" y="929030"/>
            <a:ext cx="257220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143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301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범위</a:t>
            </a:r>
          </a:p>
        </p:txBody>
      </p:sp>
      <p:sp>
        <p:nvSpPr>
          <p:cNvPr id="25" name="Shape 22"/>
          <p:cNvSpPr/>
          <p:nvPr/>
        </p:nvSpPr>
        <p:spPr>
          <a:xfrm>
            <a:off x="6301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301130" y="147807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 강의자료 기반: 단순회귀 → 다중회귀 → 더미변수 모형</a:t>
            </a:r>
          </a:p>
        </p:txBody>
      </p:sp>
      <p:sp>
        <p:nvSpPr>
          <p:cNvPr id="27" name="Text 24"/>
          <p:cNvSpPr/>
          <p:nvPr/>
        </p:nvSpPr>
        <p:spPr>
          <a:xfrm>
            <a:off x="6301130" y="188788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데이터: 학력·경력·급여 데이터셋 (Excel 더미변수 분석)</a:t>
            </a:r>
          </a:p>
        </p:txBody>
      </p:sp>
      <p:sp>
        <p:nvSpPr>
          <p:cNvPr id="28" name="Text 25"/>
          <p:cNvSpPr/>
          <p:nvPr/>
        </p:nvSpPr>
        <p:spPr>
          <a:xfrm>
            <a:off x="6301130" y="229677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내장 데이터 mtcars (32개 차량, 연비 예측 다중회귀)</a:t>
            </a:r>
          </a:p>
        </p:txBody>
      </p:sp>
      <p:sp>
        <p:nvSpPr>
          <p:cNvPr id="29" name="Shape 26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50" dirty="0"/>
          </a:p>
        </p:txBody>
      </p:sp>
      <p:pic>
        <p:nvPicPr>
          <p:cNvPr id="33" name="Picture 4" descr="서강대학교 - 더시드위키">
            <a:extLst>
              <a:ext uri="{FF2B5EF4-FFF2-40B4-BE49-F238E27FC236}">
                <a16:creationId xmlns:a16="http://schemas.microsoft.com/office/drawing/2014/main" id="{6973CF73-B1D7-CB6D-4A9D-31CB062BA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02" y="239833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70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단순선형회귀분석 이론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Analysis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18416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71823" cy="2572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 정의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9846" y="1399946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회귀식</a:t>
            </a:r>
          </a:p>
        </p:txBody>
      </p:sp>
      <p:sp>
        <p:nvSpPr>
          <p:cNvPr id="13" name="Text 10"/>
          <p:cNvSpPr/>
          <p:nvPr/>
        </p:nvSpPr>
        <p:spPr>
          <a:xfrm>
            <a:off x="714146" y="1557223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   (b₀: Y절편,  b₁: 기울기)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1843430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최소제곱법 (OLS)</a:t>
            </a:r>
          </a:p>
        </p:txBody>
      </p:sp>
      <p:sp>
        <p:nvSpPr>
          <p:cNvPr id="15" name="Text 12"/>
          <p:cNvSpPr/>
          <p:nvPr/>
        </p:nvSpPr>
        <p:spPr>
          <a:xfrm>
            <a:off x="714146" y="2000707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잔차(e = Y - Ŷ)의 제곱합 Σe²를 최소화하여 계수 추정</a:t>
            </a:r>
          </a:p>
        </p:txBody>
      </p:sp>
      <p:sp>
        <p:nvSpPr>
          <p:cNvPr id="16" name="Text 13"/>
          <p:cNvSpPr/>
          <p:nvPr/>
        </p:nvSpPr>
        <p:spPr>
          <a:xfrm>
            <a:off x="599846" y="2286000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결정계수 R²</a:t>
            </a:r>
          </a:p>
        </p:txBody>
      </p:sp>
      <p:sp>
        <p:nvSpPr>
          <p:cNvPr id="17" name="Text 14"/>
          <p:cNvSpPr/>
          <p:nvPr/>
        </p:nvSpPr>
        <p:spPr>
          <a:xfrm>
            <a:off x="714146" y="2443277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SSR/SST = 1 - SSE/SST  (0 ≤ R² ≤ 1)</a:t>
            </a:r>
          </a:p>
        </p:txBody>
      </p:sp>
      <p:sp>
        <p:nvSpPr>
          <p:cNvPr id="18" name="Shape 15"/>
          <p:cNvSpPr/>
          <p:nvPr/>
        </p:nvSpPr>
        <p:spPr>
          <a:xfrm>
            <a:off x="4714646" y="929030"/>
            <a:ext cx="4000500" cy="2572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886554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검정</a:t>
            </a:r>
          </a:p>
        </p:txBody>
      </p:sp>
      <p:sp>
        <p:nvSpPr>
          <p:cNvPr id="21" name="Shape 18"/>
          <p:cNvSpPr/>
          <p:nvPr/>
        </p:nvSpPr>
        <p:spPr>
          <a:xfrm>
            <a:off x="4886554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86554" y="1399946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검정 (회귀식 전체)</a:t>
            </a:r>
          </a:p>
        </p:txBody>
      </p:sp>
      <p:sp>
        <p:nvSpPr>
          <p:cNvPr id="23" name="Text 20"/>
          <p:cNvSpPr/>
          <p:nvPr/>
        </p:nvSpPr>
        <p:spPr>
          <a:xfrm>
            <a:off x="5000854" y="1557223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모든 회귀계수=0 / p&lt;0.05이면 귀무가설 기각</a:t>
            </a:r>
          </a:p>
        </p:txBody>
      </p:sp>
      <p:sp>
        <p:nvSpPr>
          <p:cNvPr id="24" name="Text 21"/>
          <p:cNvSpPr/>
          <p:nvPr/>
        </p:nvSpPr>
        <p:spPr>
          <a:xfrm>
            <a:off x="4886554" y="1843430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검정 (개별 변수)</a:t>
            </a:r>
          </a:p>
        </p:txBody>
      </p:sp>
      <p:sp>
        <p:nvSpPr>
          <p:cNvPr id="25" name="Text 22"/>
          <p:cNvSpPr/>
          <p:nvPr/>
        </p:nvSpPr>
        <p:spPr>
          <a:xfrm>
            <a:off x="5000854" y="2000707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bᵢ=0 / p&lt;0.05이면 해당 변수가 유의미한 영향</a:t>
            </a:r>
          </a:p>
        </p:txBody>
      </p:sp>
      <p:sp>
        <p:nvSpPr>
          <p:cNvPr id="26" name="Text 23"/>
          <p:cNvSpPr/>
          <p:nvPr/>
        </p:nvSpPr>
        <p:spPr>
          <a:xfrm>
            <a:off x="4886554" y="2286000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방향</a:t>
            </a:r>
          </a:p>
        </p:txBody>
      </p:sp>
      <p:sp>
        <p:nvSpPr>
          <p:cNvPr id="27" name="Text 24"/>
          <p:cNvSpPr/>
          <p:nvPr/>
        </p:nvSpPr>
        <p:spPr>
          <a:xfrm>
            <a:off x="5000854" y="2443277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b₁&gt;0 → 양의 영향,  b₁&lt;0 → 음의 영향 (양측검정, 5% 유의수준)</a:t>
            </a:r>
          </a:p>
        </p:txBody>
      </p:sp>
      <p:sp>
        <p:nvSpPr>
          <p:cNvPr id="28" name="Shape 25"/>
          <p:cNvSpPr/>
          <p:nvPr/>
        </p:nvSpPr>
        <p:spPr>
          <a:xfrm>
            <a:off x="428854" y="3629254"/>
            <a:ext cx="8287207" cy="84307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28854" y="3629254"/>
            <a:ext cx="35662" cy="843077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99846" y="3700577"/>
            <a:ext cx="78583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</a:p>
        </p:txBody>
      </p:sp>
      <p:sp>
        <p:nvSpPr>
          <p:cNvPr id="31" name="Text 28"/>
          <p:cNvSpPr/>
          <p:nvPr/>
        </p:nvSpPr>
        <p:spPr>
          <a:xfrm>
            <a:off x="599846" y="3886200"/>
            <a:ext cx="78583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단순회귀는 독립변수 1개, 종속변수 1개로 구성된 가장 기본적인 모형입니다. Excel 산점도 추세선으로 R²와 회귀식을 시각적으로 확인하고, 데이터분석 도구로 F검정·t검정을 수행합니다.</a:t>
            </a:r>
          </a:p>
        </p:txBody>
      </p:sp>
      <p:sp>
        <p:nvSpPr>
          <p:cNvPr id="32" name="Shape 29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50" dirty="0"/>
          </a:p>
        </p:txBody>
      </p:sp>
      <p:pic>
        <p:nvPicPr>
          <p:cNvPr id="36" name="Picture 4" descr="서강대학교 - 더시드위키">
            <a:extLst>
              <a:ext uri="{FF2B5EF4-FFF2-40B4-BE49-F238E27FC236}">
                <a16:creationId xmlns:a16="http://schemas.microsoft.com/office/drawing/2014/main" id="{1BA5656D-972A-9653-B25F-FE139150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27" y="237350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57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다중회귀분석 이론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 Analysis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27624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35803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35803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401513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다중회귀모형 구성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401513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99846" y="1399946"/>
            <a:ext cx="213379" cy="1554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50647" y="1393596"/>
            <a:ext cx="1751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14" name="Text 11"/>
          <p:cNvSpPr/>
          <p:nvPr/>
        </p:nvSpPr>
        <p:spPr>
          <a:xfrm>
            <a:off x="834796" y="1399946"/>
            <a:ext cx="35286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회귀식: Y = b₀ + b₁X₁ + b₂X₂ + ... + bₙXₙ + e</a:t>
            </a:r>
          </a:p>
        </p:txBody>
      </p:sp>
      <p:sp>
        <p:nvSpPr>
          <p:cNvPr id="15" name="Shape 12"/>
          <p:cNvSpPr/>
          <p:nvPr/>
        </p:nvSpPr>
        <p:spPr>
          <a:xfrm>
            <a:off x="657454" y="1585570"/>
            <a:ext cx="10973" cy="37124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28777" y="1585570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독립변수가 2개 이상인 모형으로 동시에 여러 원인을 분석</a:t>
            </a:r>
          </a:p>
        </p:txBody>
      </p:sp>
      <p:sp>
        <p:nvSpPr>
          <p:cNvPr id="17" name="Text 14"/>
          <p:cNvSpPr/>
          <p:nvPr/>
        </p:nvSpPr>
        <p:spPr>
          <a:xfrm>
            <a:off x="728777" y="1772107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단순회귀보다 높은 설명력(R²) 확보 가능</a:t>
            </a:r>
          </a:p>
        </p:txBody>
      </p:sp>
      <p:sp>
        <p:nvSpPr>
          <p:cNvPr id="18" name="Shape 15"/>
          <p:cNvSpPr/>
          <p:nvPr/>
        </p:nvSpPr>
        <p:spPr>
          <a:xfrm>
            <a:off x="599846" y="2057400"/>
            <a:ext cx="213379" cy="141731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6"/>
          <p:cNvSpPr/>
          <p:nvPr/>
        </p:nvSpPr>
        <p:spPr>
          <a:xfrm>
            <a:off x="650647" y="2051050"/>
            <a:ext cx="1751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20" name="Text 17"/>
          <p:cNvSpPr/>
          <p:nvPr/>
        </p:nvSpPr>
        <p:spPr>
          <a:xfrm>
            <a:off x="834796" y="2057400"/>
            <a:ext cx="35286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더미변수(Dummy Variable) 활용</a:t>
            </a:r>
          </a:p>
        </p:txBody>
      </p:sp>
      <p:sp>
        <p:nvSpPr>
          <p:cNvPr id="21" name="Shape 18"/>
          <p:cNvSpPr/>
          <p:nvPr/>
        </p:nvSpPr>
        <p:spPr>
          <a:xfrm>
            <a:off x="657454" y="2243023"/>
            <a:ext cx="10973" cy="18562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28777" y="2243023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범주형 변수(예: 학력)를 0/1로 코딩하여 회귀식에 포함</a:t>
            </a:r>
          </a:p>
        </p:txBody>
      </p:sp>
      <p:sp>
        <p:nvSpPr>
          <p:cNvPr id="23" name="Shape 20"/>
          <p:cNvSpPr/>
          <p:nvPr/>
        </p:nvSpPr>
        <p:spPr>
          <a:xfrm>
            <a:off x="599847" y="2529230"/>
            <a:ext cx="222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50647" y="2522880"/>
            <a:ext cx="1751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25" name="Text 22"/>
          <p:cNvSpPr/>
          <p:nvPr/>
        </p:nvSpPr>
        <p:spPr>
          <a:xfrm>
            <a:off x="834796" y="2529230"/>
            <a:ext cx="35286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결정계수 비교 (단순 vs 다중)</a:t>
            </a:r>
          </a:p>
        </p:txBody>
      </p:sp>
      <p:sp>
        <p:nvSpPr>
          <p:cNvPr id="26" name="Shape 23"/>
          <p:cNvSpPr/>
          <p:nvPr/>
        </p:nvSpPr>
        <p:spPr>
          <a:xfrm>
            <a:off x="657454" y="2714854"/>
            <a:ext cx="10973" cy="37124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28777" y="2714854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교수 수업 실습: 단순 R²=0.81 → 다중(학력 추가) R²=0.97</a:t>
            </a:r>
          </a:p>
        </p:txBody>
      </p:sp>
      <p:sp>
        <p:nvSpPr>
          <p:cNvPr id="28" name="Text 25"/>
          <p:cNvSpPr/>
          <p:nvPr/>
        </p:nvSpPr>
        <p:spPr>
          <a:xfrm>
            <a:off x="728777" y="2900477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독립변수 추가로 설명력이 크게 향상됨을 확인</a:t>
            </a:r>
          </a:p>
        </p:txBody>
      </p:sp>
      <p:sp>
        <p:nvSpPr>
          <p:cNvPr id="29" name="Shape 26"/>
          <p:cNvSpPr/>
          <p:nvPr/>
        </p:nvSpPr>
        <p:spPr>
          <a:xfrm>
            <a:off x="5000854" y="929030"/>
            <a:ext cx="3571646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5000854" y="929030"/>
            <a:ext cx="3571646" cy="24689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171846" y="1086307"/>
            <a:ext cx="3228746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가정</a:t>
            </a:r>
          </a:p>
        </p:txBody>
      </p:sp>
      <p:sp>
        <p:nvSpPr>
          <p:cNvPr id="32" name="Shape 29"/>
          <p:cNvSpPr/>
          <p:nvPr/>
        </p:nvSpPr>
        <p:spPr>
          <a:xfrm>
            <a:off x="5171846" y="1278331"/>
            <a:ext cx="3228746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5171846" y="1399946"/>
            <a:ext cx="3228746" cy="5861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171846" y="1399946"/>
            <a:ext cx="24689" cy="5861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257800" y="1464869"/>
            <a:ext cx="30714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선형성 / 독립성</a:t>
            </a:r>
          </a:p>
        </p:txBody>
      </p:sp>
      <p:sp>
        <p:nvSpPr>
          <p:cNvPr id="36" name="Text 33"/>
          <p:cNvSpPr/>
          <p:nvPr/>
        </p:nvSpPr>
        <p:spPr>
          <a:xfrm>
            <a:off x="5257800" y="1614830"/>
            <a:ext cx="307147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잔차가 독립적이고, X와 Y 사이에 선형 관계 존재해야 함</a:t>
            </a:r>
          </a:p>
        </p:txBody>
      </p:sp>
      <p:sp>
        <p:nvSpPr>
          <p:cNvPr id="37" name="Shape 34"/>
          <p:cNvSpPr/>
          <p:nvPr/>
        </p:nvSpPr>
        <p:spPr>
          <a:xfrm>
            <a:off x="5171846" y="2085746"/>
            <a:ext cx="3228746" cy="5861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5171846" y="2085746"/>
            <a:ext cx="24689" cy="58613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5257800" y="2150669"/>
            <a:ext cx="30714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등분산성 / 정규성</a:t>
            </a:r>
          </a:p>
        </p:txBody>
      </p:sp>
      <p:sp>
        <p:nvSpPr>
          <p:cNvPr id="40" name="Text 37"/>
          <p:cNvSpPr/>
          <p:nvPr/>
        </p:nvSpPr>
        <p:spPr>
          <a:xfrm>
            <a:off x="5257800" y="2300630"/>
            <a:ext cx="307147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잔차의 분산 일정(등분산) + 잔차가 정규분포를 따라야 함</a:t>
            </a:r>
          </a:p>
        </p:txBody>
      </p:sp>
      <p:sp>
        <p:nvSpPr>
          <p:cNvPr id="41" name="Shape 38"/>
          <p:cNvSpPr/>
          <p:nvPr/>
        </p:nvSpPr>
        <p:spPr>
          <a:xfrm>
            <a:off x="5171846" y="2771546"/>
            <a:ext cx="3228746" cy="5861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5171846" y="2771546"/>
            <a:ext cx="24689" cy="58613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5257800" y="2836469"/>
            <a:ext cx="30714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다중공선성 없음</a:t>
            </a:r>
          </a:p>
        </p:txBody>
      </p:sp>
      <p:sp>
        <p:nvSpPr>
          <p:cNvPr id="44" name="Text 41"/>
          <p:cNvSpPr/>
          <p:nvPr/>
        </p:nvSpPr>
        <p:spPr>
          <a:xfrm>
            <a:off x="5257800" y="2986430"/>
            <a:ext cx="307147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독립변수들 간 강한 상관관계(다중공선성) 없어야 분석 신뢰 가능</a:t>
            </a:r>
          </a:p>
        </p:txBody>
      </p:sp>
      <p:sp>
        <p:nvSpPr>
          <p:cNvPr id="45" name="Shape 42"/>
          <p:cNvSpPr/>
          <p:nvPr/>
        </p:nvSpPr>
        <p:spPr>
          <a:xfrm>
            <a:off x="5171846" y="3500323"/>
            <a:ext cx="3228746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171846" y="3543300"/>
            <a:ext cx="32287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가정 위반 시 결과 해석의 신뢰성이 저하됨</a:t>
            </a:r>
          </a:p>
        </p:txBody>
      </p:sp>
      <p:sp>
        <p:nvSpPr>
          <p:cNvPr id="47" name="Shape 44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50" dirty="0"/>
          </a:p>
        </p:txBody>
      </p:sp>
      <p:pic>
        <p:nvPicPr>
          <p:cNvPr id="51" name="Picture 4" descr="서강대학교 - 더시드위키">
            <a:extLst>
              <a:ext uri="{FF2B5EF4-FFF2-40B4-BE49-F238E27FC236}">
                <a16:creationId xmlns:a16="http://schemas.microsoft.com/office/drawing/2014/main" id="{E335A1C9-334C-88CD-DBB8-CBC113AB2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131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25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04. 더미변수 다중회귀분석 — Excel 구현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학력 더미변수 코딩 방법 및 Excel 분석 도구 활용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3683203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86054"/>
            <a:ext cx="8287207" cy="3282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886054"/>
            <a:ext cx="24689" cy="3282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964692"/>
            <a:ext cx="7929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더미변수(Dummy Variable): 범주형 변수를 0/1로 수치화하여 회귀식에 포함시키는 방법  |  학력 대졸=1, 고졸=0</a:t>
            </a:r>
          </a:p>
        </p:txBody>
      </p:sp>
      <p:sp>
        <p:nvSpPr>
          <p:cNvPr id="18" name="Text 15"/>
          <p:cNvSpPr/>
          <p:nvPr/>
        </p:nvSpPr>
        <p:spPr>
          <a:xfrm>
            <a:off x="586130" y="248625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27939" y="1314907"/>
            <a:ext cx="5567420" cy="31437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27939" y="1314907"/>
            <a:ext cx="556742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85800" y="1468526"/>
            <a:ext cx="42443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Excel</a:t>
            </a:r>
          </a:p>
        </p:txBody>
      </p:sp>
      <p:sp>
        <p:nvSpPr>
          <p:cNvPr id="27" name="Shape 24"/>
          <p:cNvSpPr/>
          <p:nvPr/>
        </p:nvSpPr>
        <p:spPr>
          <a:xfrm>
            <a:off x="6143854" y="1314907"/>
            <a:ext cx="2572207" cy="31437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143854" y="1314907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301130" y="217170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4" name="Text 31"/>
          <p:cNvSpPr/>
          <p:nvPr/>
        </p:nvSpPr>
        <p:spPr>
          <a:xfrm>
            <a:off x="6301130" y="248625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5" name="Shape 32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50" dirty="0"/>
          </a:p>
        </p:txBody>
      </p:sp>
      <p:pic>
        <p:nvPicPr>
          <p:cNvPr id="39" name="Picture 4" descr="서강대학교 - 더시드위키">
            <a:extLst>
              <a:ext uri="{FF2B5EF4-FFF2-40B4-BE49-F238E27FC236}">
                <a16:creationId xmlns:a16="http://schemas.microsoft.com/office/drawing/2014/main" id="{7A64F662-3F7E-1E8F-3030-8749DB25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Test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3" y="4336085"/>
            <a:ext cx="8292100" cy="1333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6F112E5-25DD-16C4-095F-E91E04C51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1779112"/>
            <a:ext cx="1656451" cy="22796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DFECA09-B0C2-368C-F6F4-2C4D83048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770" y="1532606"/>
            <a:ext cx="2621603" cy="2772617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D121792B-CB3C-EC64-A362-83B3D0C158E6}"/>
              </a:ext>
            </a:extLst>
          </p:cNvPr>
          <p:cNvSpPr/>
          <p:nvPr/>
        </p:nvSpPr>
        <p:spPr>
          <a:xfrm>
            <a:off x="6260345" y="145252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출력 결과 해석</a:t>
            </a:r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A4C75B13-DDDC-1FA7-63A5-7E906B08B044}"/>
              </a:ext>
            </a:extLst>
          </p:cNvPr>
          <p:cNvSpPr/>
          <p:nvPr/>
        </p:nvSpPr>
        <p:spPr>
          <a:xfrm>
            <a:off x="6260345" y="1644548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0950A45F-C6DF-08DE-7C44-148868FE32CA}"/>
              </a:ext>
            </a:extLst>
          </p:cNvPr>
          <p:cNvSpPr/>
          <p:nvPr/>
        </p:nvSpPr>
        <p:spPr>
          <a:xfrm>
            <a:off x="6260345" y="1766163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① 회귀 통계량</a:t>
            </a:r>
          </a:p>
          <a:p>
            <a:pPr marL="0" indent="0">
              <a:buNone/>
            </a:pPr>
            <a:r>
              <a:rPr lang="ko-KR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R²=0.970 → 경력+학력으로 급여의 97% 설명</a:t>
            </a: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6F84204-517C-A8D2-227F-6F3B5E417733}"/>
              </a:ext>
            </a:extLst>
          </p:cNvPr>
          <p:cNvSpPr/>
          <p:nvPr/>
        </p:nvSpPr>
        <p:spPr>
          <a:xfrm>
            <a:off x="6260345" y="208071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② F검정 (전체 유의성)</a:t>
            </a:r>
          </a:p>
          <a:p>
            <a:pPr marL="0" indent="0">
              <a:buNone/>
            </a:pPr>
            <a:r>
              <a:rPr lang="ko-KR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F=81.58, p=0.0002 &lt; 0.05 → 모형 유의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1ED6DA00-0A15-8449-AE2A-54F54D20C3C2}"/>
              </a:ext>
            </a:extLst>
          </p:cNvPr>
          <p:cNvSpPr/>
          <p:nvPr/>
        </p:nvSpPr>
        <p:spPr>
          <a:xfrm>
            <a:off x="6260345" y="2395271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③ 경력(X₁) t검정</a:t>
            </a:r>
          </a:p>
          <a:p>
            <a:pPr marL="0" indent="0">
              <a:buNone/>
            </a:pPr>
            <a:r>
              <a:rPr lang="ko-KR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계수=17.30, p=0.0005 *** → 경력 1년↑ 급여 17.3만원↑</a:t>
            </a: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FF92A0ED-419B-802C-7FC5-809E0574F5E8}"/>
              </a:ext>
            </a:extLst>
          </p:cNvPr>
          <p:cNvSpPr/>
          <p:nvPr/>
        </p:nvSpPr>
        <p:spPr>
          <a:xfrm>
            <a:off x="6260345" y="270982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④ 학력더미(X₂) t검정</a:t>
            </a:r>
          </a:p>
          <a:p>
            <a:pPr marL="0" indent="0">
              <a:buNone/>
            </a:pPr>
            <a:r>
              <a:rPr lang="ko-KR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계수=48.60, p=0.0078 ** → 대졸이 고졸보다 48.6만원↑</a:t>
            </a: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D8A2A89C-E51D-CE5D-0F2C-68166326312D}"/>
              </a:ext>
            </a:extLst>
          </p:cNvPr>
          <p:cNvSpPr/>
          <p:nvPr/>
        </p:nvSpPr>
        <p:spPr>
          <a:xfrm>
            <a:off x="6260345" y="3116732"/>
            <a:ext cx="2257654" cy="514807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39866AE2-4053-DBE9-B4E1-1D2E18547D23}"/>
              </a:ext>
            </a:extLst>
          </p:cNvPr>
          <p:cNvSpPr/>
          <p:nvPr/>
        </p:nvSpPr>
        <p:spPr>
          <a:xfrm>
            <a:off x="6260345" y="3116732"/>
            <a:ext cx="45719" cy="51480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511F3BBE-4623-B4AD-7568-94CA233F1A6B}"/>
              </a:ext>
            </a:extLst>
          </p:cNvPr>
          <p:cNvSpPr/>
          <p:nvPr/>
        </p:nvSpPr>
        <p:spPr>
          <a:xfrm>
            <a:off x="6346299" y="3167024"/>
            <a:ext cx="216960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완성 회귀식: </a:t>
            </a:r>
            <a:endParaRPr lang="en-US" altLang="ko-KR" sz="800" b="1" dirty="0">
              <a:solidFill>
                <a:srgbClr val="990000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en-US" alt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Y</a:t>
            </a:r>
            <a:r>
              <a:rPr lang="ko-KR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 = 155.18 + 17.30×경력 + 48.60×학력더미</a:t>
            </a:r>
          </a:p>
          <a:p>
            <a:pPr marL="0" indent="0">
              <a:buNone/>
            </a:pPr>
            <a:r>
              <a:rPr lang="ko-KR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예시) 경력 5년 대졸: 155.18+17.30×5+48.60 = 290.3만원</a:t>
            </a:r>
          </a:p>
        </p:txBody>
      </p:sp>
      <p:sp>
        <p:nvSpPr>
          <p:cNvPr id="50" name="오른쪽 화살표[R] 49">
            <a:extLst>
              <a:ext uri="{FF2B5EF4-FFF2-40B4-BE49-F238E27FC236}">
                <a16:creationId xmlns:a16="http://schemas.microsoft.com/office/drawing/2014/main" id="{65704A42-0FD7-EE36-CEAC-CA4D0F230F36}"/>
              </a:ext>
            </a:extLst>
          </p:cNvPr>
          <p:cNvSpPr/>
          <p:nvPr/>
        </p:nvSpPr>
        <p:spPr>
          <a:xfrm>
            <a:off x="2479412" y="2710865"/>
            <a:ext cx="457057" cy="1968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51162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05. 더미변수 다중회귀분석 — R 코드 구현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salary ~ career + edu 모형 구현 및 핵심 함수 설명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5524805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8286292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8286292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7668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R 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코드</a:t>
            </a:r>
            <a:endParaRPr lang="ko-KR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31635" y="1277671"/>
            <a:ext cx="554765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6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1" name="Text 88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50" dirty="0"/>
          </a:p>
        </p:txBody>
      </p:sp>
      <p:pic>
        <p:nvPicPr>
          <p:cNvPr id="93" name="Picture 4" descr="서강대학교 - 더시드위키">
            <a:extLst>
              <a:ext uri="{FF2B5EF4-FFF2-40B4-BE49-F238E27FC236}">
                <a16:creationId xmlns:a16="http://schemas.microsoft.com/office/drawing/2014/main" id="{FB0A9B8D-8095-6984-2874-D87801B3D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7">
            <a:extLst>
              <a:ext uri="{FF2B5EF4-FFF2-40B4-BE49-F238E27FC236}">
                <a16:creationId xmlns:a16="http://schemas.microsoft.com/office/drawing/2014/main" id="{D09878E4-3FFC-5F10-3E4A-FDA2A4BAE6A9}"/>
              </a:ext>
            </a:extLst>
          </p:cNvPr>
          <p:cNvSpPr/>
          <p:nvPr/>
        </p:nvSpPr>
        <p:spPr>
          <a:xfrm>
            <a:off x="5145113" y="1107490"/>
            <a:ext cx="74768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결과</a:t>
            </a:r>
            <a:endParaRPr lang="ko-KR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BA789C31-8992-1076-CA0E-478D95D30D5D}"/>
              </a:ext>
            </a:extLst>
          </p:cNvPr>
          <p:cNvSpPr/>
          <p:nvPr/>
        </p:nvSpPr>
        <p:spPr>
          <a:xfrm>
            <a:off x="5092848" y="1298854"/>
            <a:ext cx="41680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12">
            <a:extLst>
              <a:ext uri="{FF2B5EF4-FFF2-40B4-BE49-F238E27FC236}">
                <a16:creationId xmlns:a16="http://schemas.microsoft.com/office/drawing/2014/main" id="{D379375C-A392-F1F7-9DC7-1B7A69B8D38A}"/>
              </a:ext>
            </a:extLst>
          </p:cNvPr>
          <p:cNvSpPr/>
          <p:nvPr/>
        </p:nvSpPr>
        <p:spPr>
          <a:xfrm>
            <a:off x="599846" y="23436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ko-KR" sz="900" dirty="0">
              <a:solidFill>
                <a:srgbClr val="334155"/>
              </a:solidFill>
              <a:latin typeface="Calibri" pitchFamily="34" charset="0"/>
              <a:ea typeface="Calibri" pitchFamily="34" charset="-122"/>
            </a:endParaRPr>
          </a:p>
        </p:txBody>
      </p:sp>
      <p:sp>
        <p:nvSpPr>
          <p:cNvPr id="98" name="Text 13">
            <a:extLst>
              <a:ext uri="{FF2B5EF4-FFF2-40B4-BE49-F238E27FC236}">
                <a16:creationId xmlns:a16="http://schemas.microsoft.com/office/drawing/2014/main" id="{0A4F00CF-19C9-551A-58FD-17028147D296}"/>
              </a:ext>
            </a:extLst>
          </p:cNvPr>
          <p:cNvSpPr/>
          <p:nvPr/>
        </p:nvSpPr>
        <p:spPr>
          <a:xfrm>
            <a:off x="1131635" y="1648663"/>
            <a:ext cx="2932365" cy="2357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# 1.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데이터 입력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이미지 내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20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개 샘플 데이터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data &lt;-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data.frame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id = 1:20,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salary = c(325, 275, 350, 400, 325, 425, 375, 475, 400, 575, 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           425, 450, 700, 525, 600, 750, 650, 775, 675, 825), #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연봉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Y)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years = c(2, 4, 4, 6, 7, 8, 10, 10, 12, 12, 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          14, 16, 17, 18, 20, 20, 22, 23, 24, 26),         #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연수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X)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education = c(1, 0, 1, 1, 0, 1, 0, 1, 0, 1, 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              0, 0, 1, 0, 0, 1, 0, 1, 0, 1)                #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학력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W)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)</a:t>
            </a:r>
          </a:p>
          <a:p>
            <a:pPr marL="228600" indent="-228600">
              <a:buFont typeface="Arial"/>
              <a:buChar char="•"/>
            </a:pPr>
            <a:endParaRPr lang="en" altLang="ko-KR" sz="600" dirty="0">
              <a:solidFill>
                <a:srgbClr val="334155"/>
              </a:solidFill>
              <a:ea typeface="Calibri" pitchFamily="34" charset="-122"/>
            </a:endParaRP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# 2.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다중 회귀 분석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Multiple Regression)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실행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#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모델 식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: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연봉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Y) ~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연수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X) +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학력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W)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model &lt;-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lm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(salary ~ years + education, data = data)</a:t>
            </a:r>
          </a:p>
          <a:p>
            <a:pPr marL="228600" indent="-228600">
              <a:buFont typeface="Arial"/>
              <a:buChar char="•"/>
            </a:pPr>
            <a:endParaRPr lang="en" altLang="ko-KR" sz="600" dirty="0">
              <a:solidFill>
                <a:srgbClr val="334155"/>
              </a:solidFill>
              <a:ea typeface="Calibri" pitchFamily="34" charset="-122"/>
            </a:endParaRP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# 3.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분석 결과 요약 출력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계수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, 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p-value,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결정계수 등 확인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summary(model)</a:t>
            </a:r>
          </a:p>
          <a:p>
            <a:pPr marL="228600" indent="-228600">
              <a:buFont typeface="Arial"/>
              <a:buChar char="•"/>
            </a:pPr>
            <a:endParaRPr lang="en" altLang="ko-KR" sz="600" dirty="0">
              <a:solidFill>
                <a:srgbClr val="334155"/>
              </a:solidFill>
              <a:ea typeface="Calibri" pitchFamily="34" charset="-122"/>
            </a:endParaRP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# 4.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시각화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그래프 작성을 위해 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ggplot2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라이브러리 사용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if(!require(ggplot2))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install.packages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("ggplot2")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library(ggplot2)</a:t>
            </a:r>
          </a:p>
          <a:p>
            <a:pPr marL="228600" indent="-228600">
              <a:buFont typeface="Arial"/>
              <a:buChar char="•"/>
            </a:pPr>
            <a:endParaRPr lang="en" altLang="ko-KR" sz="600" dirty="0">
              <a:solidFill>
                <a:srgbClr val="334155"/>
              </a:solidFill>
              <a:ea typeface="Calibri" pitchFamily="34" charset="-122"/>
            </a:endParaRPr>
          </a:p>
          <a:p>
            <a:pPr marL="228600" indent="-228600">
              <a:buFont typeface="Arial"/>
              <a:buChar char="•"/>
            </a:pP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ggplot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(data,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aes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(x = years, y = salary, color =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as.factor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(education))) +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geom_point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(size = 3) +                                     #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실제 데이터 포인트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 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geom_smooth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(method = "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lm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", se = FALSE) +                  #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학력별 회귀선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  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labs(title = "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연수 및 학력에 따른 연봉 회귀 분석 결과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",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       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subtitle = "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학력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W): 0 =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고졸 이하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, 1 = 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대졸 이상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가정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)",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       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x = "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연수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X)",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     y = "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연봉 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(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Y)",</a:t>
            </a:r>
          </a:p>
          <a:p>
            <a:pPr marL="228600" indent="-228600">
              <a:buFont typeface="Arial"/>
              <a:buChar char="•"/>
            </a:pP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       color = "</a:t>
            </a:r>
            <a:r>
              <a:rPr lang="ko-KR" altLang="en-US" sz="600" dirty="0">
                <a:solidFill>
                  <a:srgbClr val="334155"/>
                </a:solidFill>
                <a:ea typeface="Calibri" pitchFamily="34" charset="-122"/>
              </a:rPr>
              <a:t>학력 그룹</a:t>
            </a: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") +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600" dirty="0">
                <a:solidFill>
                  <a:srgbClr val="334155"/>
                </a:solidFill>
                <a:ea typeface="Calibri" pitchFamily="34" charset="-122"/>
              </a:rPr>
              <a:t>  </a:t>
            </a:r>
            <a:r>
              <a:rPr lang="en" altLang="ko-KR" sz="600" dirty="0" err="1">
                <a:solidFill>
                  <a:srgbClr val="334155"/>
                </a:solidFill>
                <a:ea typeface="Calibri" pitchFamily="34" charset="-122"/>
              </a:rPr>
              <a:t>theme_minimal</a:t>
            </a:r>
            <a:r>
              <a:rPr lang="en" altLang="ko-KR" sz="600" dirty="0">
                <a:solidFill>
                  <a:srgbClr val="334155"/>
                </a:solidFill>
                <a:ea typeface="Calibri" pitchFamily="34" charset="-122"/>
              </a:rPr>
              <a:t>()</a:t>
            </a:r>
            <a:endParaRPr lang="ko-KR" sz="600" dirty="0">
              <a:solidFill>
                <a:srgbClr val="334155"/>
              </a:solidFill>
              <a:latin typeface="Calibri"/>
              <a:ea typeface="Calibri" pitchFamily="34" charset="-122"/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7BF57911-8CC2-68DB-67C2-A129F727A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390" y="1385166"/>
            <a:ext cx="3721764" cy="29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2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R 출력 결과 해석 — 더미변수 다중회귀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summary(model) 출력 결과 항목별 상세 해석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6445606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결정계수</a:t>
            </a:r>
          </a:p>
        </p:txBody>
      </p:sp>
      <p:sp>
        <p:nvSpPr>
          <p:cNvPr id="12" name="Text 9"/>
          <p:cNvSpPr/>
          <p:nvPr/>
        </p:nvSpPr>
        <p:spPr>
          <a:xfrm>
            <a:off x="571500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 → 모형이 급여 변동의 97%를 설명 (단순회귀 0.81 대비 크게 향상)</a:t>
            </a:r>
          </a:p>
        </p:txBody>
      </p:sp>
      <p:sp>
        <p:nvSpPr>
          <p:cNvPr id="13" name="Shape 10"/>
          <p:cNvSpPr/>
          <p:nvPr/>
        </p:nvSpPr>
        <p:spPr>
          <a:xfrm>
            <a:off x="2535631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535631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679192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</a:p>
        </p:txBody>
      </p:sp>
      <p:sp>
        <p:nvSpPr>
          <p:cNvPr id="16" name="Text 13"/>
          <p:cNvSpPr/>
          <p:nvPr/>
        </p:nvSpPr>
        <p:spPr>
          <a:xfrm>
            <a:off x="2679192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검정</a:t>
            </a:r>
          </a:p>
        </p:txBody>
      </p:sp>
      <p:sp>
        <p:nvSpPr>
          <p:cNvPr id="17" name="Text 14"/>
          <p:cNvSpPr/>
          <p:nvPr/>
        </p:nvSpPr>
        <p:spPr>
          <a:xfrm>
            <a:off x="2679192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F=81.3, p-value=0.000 → 회귀식 전체 통계적 유의 (귀무가설 기각)</a:t>
            </a:r>
          </a:p>
        </p:txBody>
      </p:sp>
      <p:sp>
        <p:nvSpPr>
          <p:cNvPr id="18" name="Shape 15"/>
          <p:cNvSpPr/>
          <p:nvPr/>
        </p:nvSpPr>
        <p:spPr>
          <a:xfrm>
            <a:off x="4643323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643323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785970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</a:p>
        </p:txBody>
      </p:sp>
      <p:sp>
        <p:nvSpPr>
          <p:cNvPr id="21" name="Text 18"/>
          <p:cNvSpPr/>
          <p:nvPr/>
        </p:nvSpPr>
        <p:spPr>
          <a:xfrm>
            <a:off x="4785970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검정 (개별)</a:t>
            </a:r>
          </a:p>
        </p:txBody>
      </p:sp>
      <p:sp>
        <p:nvSpPr>
          <p:cNvPr id="22" name="Text 19"/>
          <p:cNvSpPr/>
          <p:nvPr/>
        </p:nvSpPr>
        <p:spPr>
          <a:xfrm>
            <a:off x="4785970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경력 p=0.001, 학력 p=0.003 → 두 변수 모두 p&lt;0.05로 유의미</a:t>
            </a:r>
          </a:p>
        </p:txBody>
      </p:sp>
      <p:sp>
        <p:nvSpPr>
          <p:cNvPr id="23" name="Shape 20"/>
          <p:cNvSpPr/>
          <p:nvPr/>
        </p:nvSpPr>
        <p:spPr>
          <a:xfrm>
            <a:off x="6751015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751015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893662" y="1086307"/>
            <a:ext cx="200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</a:p>
        </p:txBody>
      </p:sp>
      <p:sp>
        <p:nvSpPr>
          <p:cNvPr id="26" name="Text 23"/>
          <p:cNvSpPr/>
          <p:nvPr/>
        </p:nvSpPr>
        <p:spPr>
          <a:xfrm>
            <a:off x="6893662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회귀계수 해석</a:t>
            </a:r>
          </a:p>
        </p:txBody>
      </p:sp>
      <p:sp>
        <p:nvSpPr>
          <p:cNvPr id="27" name="Text 24"/>
          <p:cNvSpPr/>
          <p:nvPr/>
        </p:nvSpPr>
        <p:spPr>
          <a:xfrm>
            <a:off x="6893662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경력 +17.3만, 대졸 +48.6만 → 급여 결정의 핵심 요인</a:t>
            </a:r>
          </a:p>
        </p:txBody>
      </p:sp>
      <p:sp>
        <p:nvSpPr>
          <p:cNvPr id="28" name="Shape 25"/>
          <p:cNvSpPr/>
          <p:nvPr/>
        </p:nvSpPr>
        <p:spPr>
          <a:xfrm>
            <a:off x="428854" y="2000707"/>
            <a:ext cx="4071823" cy="24579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28854" y="2000707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99846" y="2157070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출력 결과 (summary)</a:t>
            </a:r>
          </a:p>
        </p:txBody>
      </p:sp>
      <p:sp>
        <p:nvSpPr>
          <p:cNvPr id="31" name="Shape 28"/>
          <p:cNvSpPr/>
          <p:nvPr/>
        </p:nvSpPr>
        <p:spPr>
          <a:xfrm>
            <a:off x="599846" y="2350008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99846" y="2464308"/>
            <a:ext cx="3728923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Coefficients: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              Estimate  Std.Error  t value  Pr(&gt;|t|)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(Intercept)   155.18    12.45      12.46    0.0001 ***</a:t>
            </a:r>
          </a:p>
        </p:txBody>
      </p:sp>
      <p:sp>
        <p:nvSpPr>
          <p:cNvPr id="33" name="Text 30"/>
          <p:cNvSpPr/>
          <p:nvPr/>
        </p:nvSpPr>
        <p:spPr>
          <a:xfrm>
            <a:off x="599846" y="2750515"/>
            <a:ext cx="82113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경력(career)</a:t>
            </a:r>
          </a:p>
        </p:txBody>
      </p:sp>
      <p:sp>
        <p:nvSpPr>
          <p:cNvPr id="34" name="Shape 31"/>
          <p:cNvSpPr/>
          <p:nvPr/>
        </p:nvSpPr>
        <p:spPr>
          <a:xfrm>
            <a:off x="1485900" y="2793492"/>
            <a:ext cx="2499970" cy="9967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485900" y="2793492"/>
            <a:ext cx="2286000" cy="9967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058107" y="2750515"/>
            <a:ext cx="40050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17.30  ***</a:t>
            </a:r>
          </a:p>
        </p:txBody>
      </p:sp>
      <p:sp>
        <p:nvSpPr>
          <p:cNvPr id="37" name="Text 34"/>
          <p:cNvSpPr/>
          <p:nvPr/>
        </p:nvSpPr>
        <p:spPr>
          <a:xfrm>
            <a:off x="599846" y="3107131"/>
            <a:ext cx="82113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학력더미(edu)</a:t>
            </a:r>
          </a:p>
        </p:txBody>
      </p:sp>
      <p:sp>
        <p:nvSpPr>
          <p:cNvPr id="38" name="Shape 35"/>
          <p:cNvSpPr/>
          <p:nvPr/>
        </p:nvSpPr>
        <p:spPr>
          <a:xfrm>
            <a:off x="1485900" y="3150108"/>
            <a:ext cx="2499970" cy="9967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485900" y="3150108"/>
            <a:ext cx="1928470" cy="9967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058107" y="3107131"/>
            <a:ext cx="40050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48.60  ***</a:t>
            </a:r>
          </a:p>
        </p:txBody>
      </p:sp>
      <p:sp>
        <p:nvSpPr>
          <p:cNvPr id="41" name="Text 38"/>
          <p:cNvSpPr/>
          <p:nvPr/>
        </p:nvSpPr>
        <p:spPr>
          <a:xfrm>
            <a:off x="599846" y="3464662"/>
            <a:ext cx="82113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/ 수정R²</a:t>
            </a:r>
          </a:p>
        </p:txBody>
      </p:sp>
      <p:sp>
        <p:nvSpPr>
          <p:cNvPr id="42" name="Shape 39"/>
          <p:cNvSpPr/>
          <p:nvPr/>
        </p:nvSpPr>
        <p:spPr>
          <a:xfrm>
            <a:off x="1485900" y="3507638"/>
            <a:ext cx="2499970" cy="9967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1485900" y="3507638"/>
            <a:ext cx="1429207" cy="9967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4058107" y="3464662"/>
            <a:ext cx="40050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 / 0.958</a:t>
            </a:r>
          </a:p>
        </p:txBody>
      </p:sp>
      <p:sp>
        <p:nvSpPr>
          <p:cNvPr id="45" name="Shape 42"/>
          <p:cNvSpPr/>
          <p:nvPr/>
        </p:nvSpPr>
        <p:spPr>
          <a:xfrm>
            <a:off x="4643323" y="2000707"/>
            <a:ext cx="4071823" cy="24579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4643323" y="2000707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815230" y="2157070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회귀식 및 해석</a:t>
            </a:r>
          </a:p>
        </p:txBody>
      </p:sp>
      <p:sp>
        <p:nvSpPr>
          <p:cNvPr id="48" name="Shape 45"/>
          <p:cNvSpPr/>
          <p:nvPr/>
        </p:nvSpPr>
        <p:spPr>
          <a:xfrm>
            <a:off x="4815230" y="2350008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4815230" y="2514600"/>
            <a:ext cx="372892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회귀식:</a:t>
            </a:r>
          </a:p>
          <a:p>
            <a:pPr marL="0" indent="0">
              <a:buNone/>
            </a:pPr>
            <a:r>
              <a:rPr lang="ko-KR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155.18 + 17.30×(경력) + 48.60×(학력)</a:t>
            </a:r>
          </a:p>
        </p:txBody>
      </p:sp>
      <p:sp>
        <p:nvSpPr>
          <p:cNvPr id="50" name="Text 47"/>
          <p:cNvSpPr/>
          <p:nvPr/>
        </p:nvSpPr>
        <p:spPr>
          <a:xfrm>
            <a:off x="4815230" y="3086100"/>
            <a:ext cx="372892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고졸 (학력=0) 예측: 경력 5년 → 155.18+17.30×5 = 241.7만원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대졸 (학력=1) 예측: 경력 5년 → 155.18+17.30×5+48.60 = 290.3만원</a:t>
            </a:r>
          </a:p>
        </p:txBody>
      </p:sp>
      <p:sp>
        <p:nvSpPr>
          <p:cNvPr id="51" name="Text 48"/>
          <p:cNvSpPr/>
          <p:nvPr/>
        </p:nvSpPr>
        <p:spPr>
          <a:xfrm>
            <a:off x="4815230" y="3657600"/>
            <a:ext cx="372892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r>
              <a:rPr lang="ko-KR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동일 경력이라면 대졸자가 고졸자보다 약 48.6만원 더 수령</a:t>
            </a:r>
          </a:p>
        </p:txBody>
      </p:sp>
      <p:sp>
        <p:nvSpPr>
          <p:cNvPr id="52" name="Text 49"/>
          <p:cNvSpPr/>
          <p:nvPr/>
        </p:nvSpPr>
        <p:spPr>
          <a:xfrm>
            <a:off x="428854" y="4543654"/>
            <a:ext cx="828720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8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*** = p&lt;0.001, ** = p&lt;0.01, * = p&lt;0.05 (양측검정, 95% 신뢰수준)</a:t>
            </a:r>
          </a:p>
        </p:txBody>
      </p:sp>
      <p:sp>
        <p:nvSpPr>
          <p:cNvPr id="53" name="Shape 50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50" dirty="0"/>
          </a:p>
        </p:txBody>
      </p:sp>
      <p:pic>
        <p:nvPicPr>
          <p:cNvPr id="57" name="Picture 4" descr="서강대학교 - 더시드위키">
            <a:extLst>
              <a:ext uri="{FF2B5EF4-FFF2-40B4-BE49-F238E27FC236}">
                <a16:creationId xmlns:a16="http://schemas.microsoft.com/office/drawing/2014/main" id="{FCEFAE82-54A8-5EF2-EF09-3F982E7A4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150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06. mtcars 다중회귀분석 — R 코드 구현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종속변수: 연비(mpg)  |  독립변수: 배기량(disp), 마력(hp), 무게(wt)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7366406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86054"/>
            <a:ext cx="8287207" cy="84307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886054"/>
            <a:ext cx="8287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14070"/>
            <a:ext cx="7944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연구문제: 다중회귀분석으로 주행연비(mpg)를 예측하는 회귀식을 만드시오 (mtcars, R 내장 데이터)</a:t>
            </a:r>
          </a:p>
        </p:txBody>
      </p:sp>
      <p:sp>
        <p:nvSpPr>
          <p:cNvPr id="11" name="Text 8"/>
          <p:cNvSpPr/>
          <p:nvPr/>
        </p:nvSpPr>
        <p:spPr>
          <a:xfrm>
            <a:off x="599846" y="1228954"/>
            <a:ext cx="7944307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input &lt;- mtcars[,c("mpg","disp","hp","wt")]     # 분석 변수 선택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model &lt;- lm(mpg ~ disp + hp + wt, data=input)  # 다중회귀 모형 적합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summary(model)                                   # 유의확률 포함 결과 출력</a:t>
            </a:r>
          </a:p>
        </p:txBody>
      </p:sp>
      <p:sp>
        <p:nvSpPr>
          <p:cNvPr id="12" name="Shape 9"/>
          <p:cNvSpPr/>
          <p:nvPr/>
        </p:nvSpPr>
        <p:spPr>
          <a:xfrm>
            <a:off x="428854" y="1828800"/>
            <a:ext cx="4000500" cy="26435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8854" y="182880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99846" y="198607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완전한 R 코드</a:t>
            </a:r>
          </a:p>
        </p:txBody>
      </p:sp>
      <p:sp>
        <p:nvSpPr>
          <p:cNvPr id="15" name="Shape 12"/>
          <p:cNvSpPr/>
          <p:nvPr/>
        </p:nvSpPr>
        <p:spPr>
          <a:xfrm>
            <a:off x="599846" y="2179015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99846" y="2229307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(단계별 코드 및 주석)</a:t>
            </a:r>
          </a:p>
        </p:txBody>
      </p:sp>
      <p:sp>
        <p:nvSpPr>
          <p:cNvPr id="17" name="Text 14"/>
          <p:cNvSpPr/>
          <p:nvPr/>
        </p:nvSpPr>
        <p:spPr>
          <a:xfrm>
            <a:off x="599846" y="2428646"/>
            <a:ext cx="36576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# 1. 데이터 로드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data(mtcars)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input &lt;- mtcars[,c("mpg","disp","hp","wt")]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print(head(input, 4))</a:t>
            </a:r>
          </a:p>
        </p:txBody>
      </p:sp>
      <p:sp>
        <p:nvSpPr>
          <p:cNvPr id="18" name="Text 15"/>
          <p:cNvSpPr/>
          <p:nvPr/>
        </p:nvSpPr>
        <p:spPr>
          <a:xfrm>
            <a:off x="599846" y="3071470"/>
            <a:ext cx="36576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# 2. 다중회귀 모형 구축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model &lt;- lm(mpg ~ disp + hp + wt,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             data = input)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print(model)   # 계수 확인</a:t>
            </a:r>
          </a:p>
        </p:txBody>
      </p:sp>
      <p:sp>
        <p:nvSpPr>
          <p:cNvPr id="19" name="Text 16"/>
          <p:cNvSpPr/>
          <p:nvPr/>
        </p:nvSpPr>
        <p:spPr>
          <a:xfrm>
            <a:off x="599846" y="3715207"/>
            <a:ext cx="36576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# 3. 상세 결과 출력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summary(model)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coef(summary(model))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# 예측: disp=200, hp=120, wt=2.91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predict(model, data.frame(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49" charset="0"/>
              </a:rPr>
              <a:t>  disp=200, hp=120, wt=2.91))</a:t>
            </a:r>
          </a:p>
        </p:txBody>
      </p:sp>
      <p:sp>
        <p:nvSpPr>
          <p:cNvPr id="20" name="Shape 17"/>
          <p:cNvSpPr/>
          <p:nvPr/>
        </p:nvSpPr>
        <p:spPr>
          <a:xfrm>
            <a:off x="4714646" y="1828800"/>
            <a:ext cx="4000500" cy="26435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714646" y="182880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86554" y="198607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변수 설명 (mtcars)</a:t>
            </a:r>
          </a:p>
        </p:txBody>
      </p:sp>
      <p:sp>
        <p:nvSpPr>
          <p:cNvPr id="23" name="Shape 20"/>
          <p:cNvSpPr/>
          <p:nvPr/>
        </p:nvSpPr>
        <p:spPr>
          <a:xfrm>
            <a:off x="4886554" y="2179015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886554" y="2229307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32개 차종 데이터셋 (1974년)</a:t>
            </a:r>
          </a:p>
        </p:txBody>
      </p:sp>
      <p:sp>
        <p:nvSpPr>
          <p:cNvPr id="25" name="Shape 22"/>
          <p:cNvSpPr/>
          <p:nvPr/>
        </p:nvSpPr>
        <p:spPr>
          <a:xfrm>
            <a:off x="4886554" y="2428646"/>
            <a:ext cx="365760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886554" y="2428646"/>
            <a:ext cx="21031" cy="571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965192" y="2529230"/>
            <a:ext cx="213970" cy="157277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965192" y="2529230"/>
            <a:ext cx="21397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Y</a:t>
            </a:r>
          </a:p>
        </p:txBody>
      </p:sp>
      <p:sp>
        <p:nvSpPr>
          <p:cNvPr id="29" name="Text 26"/>
          <p:cNvSpPr/>
          <p:nvPr/>
        </p:nvSpPr>
        <p:spPr>
          <a:xfrm>
            <a:off x="5236769" y="2514600"/>
            <a:ext cx="323606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mpg — 연비 (종속변수)</a:t>
            </a:r>
          </a:p>
        </p:txBody>
      </p:sp>
      <p:sp>
        <p:nvSpPr>
          <p:cNvPr id="30" name="Text 27"/>
          <p:cNvSpPr/>
          <p:nvPr/>
        </p:nvSpPr>
        <p:spPr>
          <a:xfrm>
            <a:off x="5236769" y="2686507"/>
            <a:ext cx="323606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1갤런당 주행 거리(마일). 예측 목표 변수</a:t>
            </a:r>
          </a:p>
        </p:txBody>
      </p:sp>
      <p:sp>
        <p:nvSpPr>
          <p:cNvPr id="31" name="Shape 28"/>
          <p:cNvSpPr/>
          <p:nvPr/>
        </p:nvSpPr>
        <p:spPr>
          <a:xfrm>
            <a:off x="4886554" y="3071470"/>
            <a:ext cx="365760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4886554" y="3071470"/>
            <a:ext cx="21031" cy="571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4965192" y="3172054"/>
            <a:ext cx="213970" cy="157277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965192" y="3172054"/>
            <a:ext cx="21397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X₁</a:t>
            </a:r>
          </a:p>
        </p:txBody>
      </p:sp>
      <p:sp>
        <p:nvSpPr>
          <p:cNvPr id="35" name="Text 32"/>
          <p:cNvSpPr/>
          <p:nvPr/>
        </p:nvSpPr>
        <p:spPr>
          <a:xfrm>
            <a:off x="5236769" y="3157423"/>
            <a:ext cx="323606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disp — 배기량 (독립변수)</a:t>
            </a:r>
          </a:p>
        </p:txBody>
      </p:sp>
      <p:sp>
        <p:nvSpPr>
          <p:cNvPr id="36" name="Text 33"/>
          <p:cNvSpPr/>
          <p:nvPr/>
        </p:nvSpPr>
        <p:spPr>
          <a:xfrm>
            <a:off x="5236769" y="3329330"/>
            <a:ext cx="323606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엔진 배기량(세제곱인치). 값 클수록 연비 감소 예상</a:t>
            </a:r>
          </a:p>
        </p:txBody>
      </p:sp>
      <p:sp>
        <p:nvSpPr>
          <p:cNvPr id="37" name="Shape 34"/>
          <p:cNvSpPr/>
          <p:nvPr/>
        </p:nvSpPr>
        <p:spPr>
          <a:xfrm>
            <a:off x="4886554" y="3715207"/>
            <a:ext cx="365760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886554" y="3715207"/>
            <a:ext cx="21031" cy="571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4965192" y="3814877"/>
            <a:ext cx="213970" cy="157277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965192" y="3814877"/>
            <a:ext cx="21397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X₂</a:t>
            </a:r>
          </a:p>
        </p:txBody>
      </p:sp>
      <p:sp>
        <p:nvSpPr>
          <p:cNvPr id="41" name="Text 38"/>
          <p:cNvSpPr/>
          <p:nvPr/>
        </p:nvSpPr>
        <p:spPr>
          <a:xfrm>
            <a:off x="5236769" y="3800246"/>
            <a:ext cx="323606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hp · wt — 마력 · 무게</a:t>
            </a:r>
          </a:p>
        </p:txBody>
      </p:sp>
      <p:sp>
        <p:nvSpPr>
          <p:cNvPr id="42" name="Text 39"/>
          <p:cNvSpPr/>
          <p:nvPr/>
        </p:nvSpPr>
        <p:spPr>
          <a:xfrm>
            <a:off x="5236769" y="3972154"/>
            <a:ext cx="323606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</a:rPr>
              <a:t>hp: 엔진 출력(마력), wt: 차량무게(천파운드). 두 변수 모두 연비에 음(-)의 영향</a:t>
            </a:r>
          </a:p>
        </p:txBody>
      </p:sp>
      <p:sp>
        <p:nvSpPr>
          <p:cNvPr id="43" name="Shape 40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pic>
        <p:nvPicPr>
          <p:cNvPr id="46" name="Picture 4" descr="서강대학교 - 더시드위키">
            <a:extLst>
              <a:ext uri="{FF2B5EF4-FFF2-40B4-BE49-F238E27FC236}">
                <a16:creationId xmlns:a16="http://schemas.microsoft.com/office/drawing/2014/main" id="{48BC84B9-F7B6-EBCA-900D-07E546035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94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mtcars 출력 결과 해석 — 유의확률 분석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summary(model) 결과 해석 및 회귀식 완성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00500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출력 결과 (summary)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9846" y="1399946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Coefficients: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             Estimate  Std.Err  t val  Pr(&gt;|t|)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(Intercept) 37.10553  2.11081  17.58  &lt; 2e-16 ***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disp        -0.00094  0.01004  -0.09  0.926</a:t>
            </a:r>
          </a:p>
        </p:txBody>
      </p:sp>
      <p:sp>
        <p:nvSpPr>
          <p:cNvPr id="13" name="Text 10"/>
          <p:cNvSpPr/>
          <p:nvPr/>
        </p:nvSpPr>
        <p:spPr>
          <a:xfrm>
            <a:off x="599846" y="2000707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hp          -0.03116  0.01152  -2.70  0.012 *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wt          -3.80089  1.06628  -3.57  0.001 **</a:t>
            </a:r>
          </a:p>
          <a:p>
            <a:pPr marL="0" indent="0">
              <a:buNone/>
            </a:pPr>
            <a:endParaRPr lang="en-US" sz="780" dirty="0">
              <a:solidFill>
                <a:srgbClr val="1E3A5F"/>
              </a:solidFill>
              <a:latin typeface="Courier New" pitchFamily="49" charset="0"/>
              <a:ea typeface="Courier New" pitchFamily="49" charset="-122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R-squared:  0.8268,  Adj R²: 0.8083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2600554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F-statistic: 44.57  (df=3,28)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p-value: 8.65e-11  ***</a:t>
            </a:r>
          </a:p>
          <a:p>
            <a:pPr marL="0" indent="0">
              <a:buNone/>
            </a:pPr>
            <a:endParaRPr lang="en-US" sz="780" dirty="0">
              <a:solidFill>
                <a:srgbClr val="1E3A5F"/>
              </a:solidFill>
              <a:latin typeface="Courier New" pitchFamily="49" charset="0"/>
              <a:ea typeface="Courier New" pitchFamily="49" charset="-122"/>
            </a:endParaRPr>
          </a:p>
          <a:p>
            <a:pPr marL="0" indent="0">
              <a:buNone/>
            </a:pPr>
            <a:r>
              <a:rPr lang="en-US" sz="780" dirty="0">
                <a:solidFill>
                  <a:srgbClr val="1E3A5F"/>
                </a:solidFill>
                <a:latin typeface="Courier New" pitchFamily="49" charset="0"/>
                <a:ea typeface="Courier New" pitchFamily="49" charset="-122"/>
              </a:rPr>
              <a:t>→ F검정: p&lt;0.001 → 모형 전체 유의</a:t>
            </a:r>
          </a:p>
        </p:txBody>
      </p:sp>
      <p:sp>
        <p:nvSpPr>
          <p:cNvPr id="15" name="Text 12"/>
          <p:cNvSpPr/>
          <p:nvPr/>
        </p:nvSpPr>
        <p:spPr>
          <a:xfrm>
            <a:off x="599846" y="3200400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r>
              <a:rPr 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유의한 변수: hp(**), wt(**)</a:t>
            </a:r>
          </a:p>
          <a:p>
            <a:pPr marL="0" indent="0">
              <a:buNone/>
            </a:pPr>
            <a:r>
              <a:rPr lang="en-US" alt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비유의 변수: disp (p=0.926)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disp은 hp·wt와 다중공선성 의심</a:t>
            </a:r>
          </a:p>
        </p:txBody>
      </p:sp>
      <p:sp>
        <p:nvSpPr>
          <p:cNvPr id="16" name="Shape 13"/>
          <p:cNvSpPr/>
          <p:nvPr/>
        </p:nvSpPr>
        <p:spPr>
          <a:xfrm>
            <a:off x="4714646" y="929030"/>
            <a:ext cx="4000500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886554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 및 회귀식</a:t>
            </a:r>
          </a:p>
        </p:txBody>
      </p:sp>
      <p:sp>
        <p:nvSpPr>
          <p:cNvPr id="19" name="Shape 16"/>
          <p:cNvSpPr/>
          <p:nvPr/>
        </p:nvSpPr>
        <p:spPr>
          <a:xfrm>
            <a:off x="4886554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886554" y="1399946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회귀식:</a:t>
            </a:r>
          </a:p>
          <a:p>
            <a:pPr marL="0" indent="0">
              <a:buNone/>
            </a:pPr>
            <a:r>
              <a:rPr lang="ko-KR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= 37.10 − 0.00094×disp − 0.03116×hp − 3.801×wt</a:t>
            </a:r>
          </a:p>
        </p:txBody>
      </p:sp>
      <p:sp>
        <p:nvSpPr>
          <p:cNvPr id="21" name="Text 18"/>
          <p:cNvSpPr/>
          <p:nvPr/>
        </p:nvSpPr>
        <p:spPr>
          <a:xfrm>
            <a:off x="4886554" y="1949907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계산</a:t>
            </a:r>
            <a:r>
              <a:rPr lang="ko-KR" alt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disp=200, hp=120, wt=2.91 →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37.10 + (−0.000937×200) + (−0.031157×120) + (−3.800891×2.91)</a:t>
            </a:r>
          </a:p>
          <a:p>
            <a:pPr marL="0" indent="0">
              <a:buNone/>
            </a:pPr>
            <a:r>
              <a:rPr 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37.10 − 0.19 − 3.74 − 11.06 = 22.11 mpg</a:t>
            </a:r>
          </a:p>
        </p:txBody>
      </p:sp>
      <p:sp>
        <p:nvSpPr>
          <p:cNvPr id="22" name="Text 19"/>
          <p:cNvSpPr/>
          <p:nvPr/>
        </p:nvSpPr>
        <p:spPr>
          <a:xfrm>
            <a:off x="4886554" y="2575154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변수 해석 (ceteris paribus):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1단위 증가 → 연비 0.031 mpg 감소 (p=0.012, 유의)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 1단위 증가 → 연비 3.801 mpg 감소 (p=0.001, 유의)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 p=0.926 → 통계적으로 유의하지 않음</a:t>
            </a:r>
          </a:p>
        </p:txBody>
      </p:sp>
      <p:sp>
        <p:nvSpPr>
          <p:cNvPr id="23" name="Text 20"/>
          <p:cNvSpPr/>
          <p:nvPr/>
        </p:nvSpPr>
        <p:spPr>
          <a:xfrm>
            <a:off x="4886554" y="3200400"/>
            <a:ext cx="36576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0.827 → 모형이 연비 변동의 82.7%를 설명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R² = 0.808 (변수 수 조정 후에도 높은 설명력)</a:t>
            </a:r>
          </a:p>
          <a:p>
            <a:pPr marL="0" indent="0">
              <a:buNone/>
            </a:pPr>
            <a:r>
              <a:rPr lang="en-US" alt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r>
              <a:rPr lang="ko-KR" sz="9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무게(wt)가 연비에 가장 강한 영향을 미침</a:t>
            </a:r>
          </a:p>
        </p:txBody>
      </p:sp>
      <p:sp>
        <p:nvSpPr>
          <p:cNvPr id="24" name="Shape 21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pic>
        <p:nvPicPr>
          <p:cNvPr id="27" name="Picture 4" descr="서강대학교 - 더시드위키">
            <a:extLst>
              <a:ext uri="{FF2B5EF4-FFF2-40B4-BE49-F238E27FC236}">
                <a16:creationId xmlns:a16="http://schemas.microsoft.com/office/drawing/2014/main" id="{DCDCEEAC-8AF3-8559-C424-8D6AA1639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52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종합 결론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기초이론 ~ 다중회귀 실습의 핵심 내용 요약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00500" cy="35716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99846" y="1092708"/>
            <a:ext cx="128930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5470" y="1071677"/>
            <a:ext cx="3486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분석 결과 요약</a:t>
            </a:r>
          </a:p>
        </p:txBody>
      </p:sp>
      <p:sp>
        <p:nvSpPr>
          <p:cNvPr id="12" name="Shape 9"/>
          <p:cNvSpPr/>
          <p:nvPr/>
        </p:nvSpPr>
        <p:spPr>
          <a:xfrm>
            <a:off x="599846" y="1257300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9846" y="1343254"/>
            <a:ext cx="36576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단순 → 다중회귀 설명력 향상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경력만 포함: R²=0.81 → 학력 더미 추가: R²=0.97
더미변수 포함으로 설명력 16%p 향상 확인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1914754"/>
            <a:ext cx="36576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더미변수의 위력 (학력 분석)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 더미(대졸=1) 회귀계수 +48.6만원 (p&lt;0.05)
범주형 변수를 0/1로 처리해 회귀식에 포함 가능</a:t>
            </a:r>
          </a:p>
        </p:txBody>
      </p:sp>
      <p:sp>
        <p:nvSpPr>
          <p:cNvPr id="15" name="Text 12"/>
          <p:cNvSpPr/>
          <p:nvPr/>
        </p:nvSpPr>
        <p:spPr>
          <a:xfrm>
            <a:off x="599846" y="2486254"/>
            <a:ext cx="36576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mtcars 연비 예측 모형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= 37.10 − 0.031hp − 3.801wt
R²=0.827, 무게가 연비에 가장 큰 음의 영향</a:t>
            </a:r>
          </a:p>
        </p:txBody>
      </p:sp>
      <p:sp>
        <p:nvSpPr>
          <p:cNvPr id="16" name="Text 13"/>
          <p:cNvSpPr/>
          <p:nvPr/>
        </p:nvSpPr>
        <p:spPr>
          <a:xfrm>
            <a:off x="599846" y="3057754"/>
            <a:ext cx="36576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비유의 변수 처리 (disp)</a:t>
            </a:r>
          </a:p>
          <a:p>
            <a:pPr marL="0" indent="0">
              <a:buNone/>
            </a:pPr>
            <a:r>
              <a:rPr lang="ko-KR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 p=0.926 → 통계적 비유의. hp·wt와 다중공선성 의심
모형 간결화 시 disp 제거 검토 필요</a:t>
            </a:r>
          </a:p>
        </p:txBody>
      </p:sp>
      <p:sp>
        <p:nvSpPr>
          <p:cNvPr id="17" name="Shape 14"/>
          <p:cNvSpPr/>
          <p:nvPr/>
        </p:nvSpPr>
        <p:spPr>
          <a:xfrm>
            <a:off x="4714646" y="929030"/>
            <a:ext cx="4000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886554" y="1092708"/>
            <a:ext cx="128930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72177" y="1071677"/>
            <a:ext cx="34573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성과</a:t>
            </a:r>
          </a:p>
        </p:txBody>
      </p:sp>
      <p:sp>
        <p:nvSpPr>
          <p:cNvPr id="21" name="Shape 18"/>
          <p:cNvSpPr/>
          <p:nvPr/>
        </p:nvSpPr>
        <p:spPr>
          <a:xfrm>
            <a:off x="4886554" y="1257300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86554" y="1328623"/>
            <a:ext cx="3657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이론(단순·다중) 체계적 학습 완료</a:t>
            </a:r>
          </a:p>
        </p:txBody>
      </p:sp>
      <p:sp>
        <p:nvSpPr>
          <p:cNvPr id="23" name="Text 20"/>
          <p:cNvSpPr/>
          <p:nvPr/>
        </p:nvSpPr>
        <p:spPr>
          <a:xfrm>
            <a:off x="4886554" y="1557223"/>
            <a:ext cx="3657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 데이터분석 도구로 더미변수 모형 직접 구현</a:t>
            </a:r>
          </a:p>
        </p:txBody>
      </p:sp>
      <p:sp>
        <p:nvSpPr>
          <p:cNvPr id="24" name="Text 21"/>
          <p:cNvSpPr/>
          <p:nvPr/>
        </p:nvSpPr>
        <p:spPr>
          <a:xfrm>
            <a:off x="4886554" y="1785823"/>
            <a:ext cx="3657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lm() + summary()로 유의확률까지 출력 구현</a:t>
            </a:r>
          </a:p>
        </p:txBody>
      </p:sp>
      <p:sp>
        <p:nvSpPr>
          <p:cNvPr id="25" name="Text 22"/>
          <p:cNvSpPr/>
          <p:nvPr/>
        </p:nvSpPr>
        <p:spPr>
          <a:xfrm>
            <a:off x="4886554" y="2014423"/>
            <a:ext cx="3657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F검정/t검정을 통한 가설 검정 방법 습득</a:t>
            </a:r>
          </a:p>
        </p:txBody>
      </p:sp>
      <p:sp>
        <p:nvSpPr>
          <p:cNvPr id="26" name="Text 23"/>
          <p:cNvSpPr/>
          <p:nvPr/>
        </p:nvSpPr>
        <p:spPr>
          <a:xfrm>
            <a:off x="4886554" y="2243023"/>
            <a:ext cx="3657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mtcars 데이터로 실제 회귀식 완성 및 예측 적용</a:t>
            </a:r>
          </a:p>
        </p:txBody>
      </p:sp>
      <p:sp>
        <p:nvSpPr>
          <p:cNvPr id="27" name="Shape 24"/>
          <p:cNvSpPr/>
          <p:nvPr/>
        </p:nvSpPr>
        <p:spPr>
          <a:xfrm>
            <a:off x="4714646" y="2872130"/>
            <a:ext cx="4000500" cy="162854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714646" y="2872130"/>
            <a:ext cx="24689" cy="162854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858207" y="2964485"/>
            <a:ext cx="3715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향후 </a:t>
            </a:r>
            <a:r>
              <a:rPr lang="ko-KR" alt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알아볼 내용</a:t>
            </a:r>
            <a:endParaRPr lang="ko-KR" sz="11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58207" y="3200400"/>
            <a:ext cx="371520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다중공선성 진단 (VIF 분석) 및 변수 선택 기법 적용</a:t>
            </a:r>
          </a:p>
        </p:txBody>
      </p:sp>
      <p:sp>
        <p:nvSpPr>
          <p:cNvPr id="31" name="Text 28"/>
          <p:cNvSpPr/>
          <p:nvPr/>
        </p:nvSpPr>
        <p:spPr>
          <a:xfrm>
            <a:off x="4858207" y="3443630"/>
            <a:ext cx="371520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로지스틱 회귀 등 비선형 모형으로 분석 확장</a:t>
            </a:r>
          </a:p>
        </p:txBody>
      </p:sp>
      <p:sp>
        <p:nvSpPr>
          <p:cNvPr id="32" name="Text 29"/>
          <p:cNvSpPr/>
          <p:nvPr/>
        </p:nvSpPr>
        <p:spPr>
          <a:xfrm>
            <a:off x="4858207" y="3685946"/>
            <a:ext cx="371520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잔차 분석(등분산성·정규성 검정)으로 모형 가정 검증</a:t>
            </a:r>
          </a:p>
        </p:txBody>
      </p:sp>
      <p:sp>
        <p:nvSpPr>
          <p:cNvPr id="33" name="Text 30"/>
          <p:cNvSpPr/>
          <p:nvPr/>
        </p:nvSpPr>
        <p:spPr>
          <a:xfrm>
            <a:off x="4858207" y="3929177"/>
            <a:ext cx="371520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교차검증(Cross-Validation)으로 예측 성능 평가</a:t>
            </a:r>
          </a:p>
        </p:txBody>
      </p:sp>
      <p:sp>
        <p:nvSpPr>
          <p:cNvPr id="34" name="Shape 31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pic>
        <p:nvPicPr>
          <p:cNvPr id="37" name="Picture 4" descr="서강대학교 - 더시드위키">
            <a:extLst>
              <a:ext uri="{FF2B5EF4-FFF2-40B4-BE49-F238E27FC236}">
                <a16:creationId xmlns:a16="http://schemas.microsoft.com/office/drawing/2014/main" id="{B0A19AEB-9B66-5E4D-7A15-C58DDEB0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75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34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2428646" y="1000354"/>
            <a:ext cx="4286707" cy="26016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2428646" y="1000354"/>
            <a:ext cx="42867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214470" y="1321308"/>
            <a:ext cx="714146" cy="7141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2428646" y="2271370"/>
            <a:ext cx="4286707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4286707" y="2872130"/>
            <a:ext cx="571500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0" y="4286707"/>
            <a:ext cx="91440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0" y="4472330"/>
            <a:ext cx="914400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050" dirty="0"/>
          </a:p>
        </p:txBody>
      </p:sp>
      <p:pic>
        <p:nvPicPr>
          <p:cNvPr id="13" name="Picture 4" descr="서강대학교 - 더시드위키">
            <a:extLst>
              <a:ext uri="{FF2B5EF4-FFF2-40B4-BE49-F238E27FC236}">
                <a16:creationId xmlns:a16="http://schemas.microsoft.com/office/drawing/2014/main" id="{12787B0B-3A45-0A3B-428B-28D492A2C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469" y="1321307"/>
            <a:ext cx="714146" cy="71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6C6A49-32E0-CA44-A7F6-F01BA9FB082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841f5ce-dd47-4e78-9ed6-9283dfc8a3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2233</Words>
  <Application>Microsoft Macintosh PowerPoint</Application>
  <PresentationFormat>화면 슬라이드 쇼(16:9)</PresentationFormat>
  <Paragraphs>301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서강대학교 AI.SW 대학원 학술 보고서</dc:title>
  <dc:subject>PptxGenJS Presentation</dc:subject>
  <dc:creator>PptxGenJS</dc:creator>
  <cp:lastModifiedBy>이인범</cp:lastModifiedBy>
  <cp:revision>4</cp:revision>
  <dcterms:created xsi:type="dcterms:W3CDTF">2026-03-26T15:08:37Z</dcterms:created>
  <dcterms:modified xsi:type="dcterms:W3CDTF">2026-04-05T15:15:31Z</dcterms:modified>
</cp:coreProperties>
</file>