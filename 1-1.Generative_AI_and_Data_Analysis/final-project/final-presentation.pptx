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66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85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71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BA71-F2A7-E30C-9B2A-5825526D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1BECC-DD1D-0F66-CFA7-4D864898F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D0D84-4D36-2632-431D-2374913E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CD47F-8BD9-FA5F-2C5D-93674F69A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8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6EC7-615C-2131-3AD8-AE4BD52E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111CA-54C2-CB8D-D03C-E05C00C07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D7FB0-74A3-C609-CC55-978D65320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B6167-1AAD-5950-06F3-366B5326D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70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://localhost:517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758952"/>
            <a:ext cx="3383280" cy="52120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_camp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868680"/>
            <a:ext cx="3246120" cy="5074920"/>
          </a:xfrm>
          <a:prstGeom prst="rect">
            <a:avLst/>
          </a:prstGeom>
        </p:spPr>
      </p:pic>
      <p:pic>
        <p:nvPicPr>
          <p:cNvPr id="4" name="Image 1" descr="asset_logo_mar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438912"/>
            <a:ext cx="1298448" cy="3959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66490" y="2088324"/>
            <a:ext cx="6949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통한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</a:t>
            </a:r>
            <a:r>
              <a:rPr lang="en-US" sz="3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자동매매</a:t>
            </a: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4666490" y="4141719"/>
            <a:ext cx="6583680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4666490" y="42251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AI·SW대학원 이인범  /  A74066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357D-1405-E1CC-0E32-EC4ACFB4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E5BB71-0AF0-16EC-8ED3-C8D8ECB4FBBE}"/>
              </a:ext>
            </a:extLst>
          </p:cNvPr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r>
              <a:rPr lang="en-US" altLang="ko-KR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최종 결과물</a:t>
            </a:r>
            <a:endParaRPr lang="en-US" sz="2700" dirty="0"/>
          </a:p>
        </p:txBody>
      </p:sp>
      <p:pic>
        <p:nvPicPr>
          <p:cNvPr id="3" name="Image 0" descr="asset_logo.png">
            <a:extLst>
              <a:ext uri="{FF2B5EF4-FFF2-40B4-BE49-F238E27FC236}">
                <a16:creationId xmlns:a16="http://schemas.microsoft.com/office/drawing/2014/main" id="{152321C5-E688-53FA-EE98-99448F2A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0BE891B3-4788-3A85-11DA-D2B5C8FDC466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ED5D91-1D5E-05AD-E6D8-072A416FF05B}"/>
              </a:ext>
            </a:extLst>
          </p:cNvPr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8A2CA69-AE6A-A06C-33F8-B5991C1CA14A}"/>
              </a:ext>
            </a:extLst>
          </p:cNvPr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01 / 08</a:t>
            </a:r>
            <a:endParaRPr lang="en-US" sz="85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2D26275C-DF17-33FC-A905-87782995D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28" y="977153"/>
            <a:ext cx="2464077" cy="533574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F0EB18-13B3-CEFF-C023-30C3E9BA2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061" y="977153"/>
            <a:ext cx="2391252" cy="533574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A7A3163-431A-57F8-4383-A2A4DD481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869" y="977153"/>
            <a:ext cx="2376888" cy="533574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958F646-C80C-6E8F-A1B1-9384FA931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0313" y="977153"/>
            <a:ext cx="2383666" cy="533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3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문제 정의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매일 반복하는 주식 분석·매매 루틴을, 감정을 배제한 데이터 기반 파이프라인으로 자동화한다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01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517904"/>
            <a:ext cx="5410048" cy="3108960"/>
          </a:xfrm>
          <a:prstGeom prst="roundRect">
            <a:avLst>
              <a:gd name="adj" fmla="val 205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77240" y="1700784"/>
            <a:ext cx="486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 </a:t>
            </a:r>
            <a:r>
              <a:rPr lang="en-US" sz="15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수동 매매 루틴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" y="22128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61288" y="219456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수급·차트·뉴스·재무를 직접 확인
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항목이 많아 시간이 크게 소모된다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61288" y="274320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종목을 사람이 직접 모니터링
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종목 수가 곧 분석의 한계가 된다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" y="3310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1288" y="32918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감정·편향이 개입되는 판단
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상황에도 판단이 흔들린다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528" y="38587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61288" y="384048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분석은 산발적, 종합은 경험에 의존
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근거를 재현하기 어렵다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78728" y="1517904"/>
            <a:ext cx="5410048" cy="3108960"/>
          </a:xfrm>
          <a:prstGeom prst="roundRect">
            <a:avLst>
              <a:gd name="adj" fmla="val 2059"/>
            </a:avLst>
          </a:prstGeom>
          <a:solidFill>
            <a:srgbClr val="F4E7E7"/>
          </a:solidFill>
          <a:ln w="12700">
            <a:solidFill>
              <a:srgbClr val="E6CFCF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553048" y="1700784"/>
            <a:ext cx="486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 </a:t>
            </a:r>
            <a:r>
              <a:rPr lang="en-US" sz="1550" b="1" dirty="0">
                <a:solidFill>
                  <a:srgbClr val="6C12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자동 파이프라인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71336" y="22128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37096" y="219456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거래일 08:50 자동 실행
</a:t>
            </a:r>
            <a:r>
              <a:rPr lang="en-US" sz="930" dirty="0">
                <a:solidFill>
                  <a:srgbClr val="7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개입 없이 동일 루틴을 반복한다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71336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37096" y="274320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100 → 3축 분석 11개 피처
</a:t>
            </a:r>
            <a:r>
              <a:rPr lang="en-US" sz="930" dirty="0">
                <a:solidFill>
                  <a:srgbClr val="7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대상을 좁히고 다축으로 동시에 분석한다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71336" y="3310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37096" y="32918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AI가 11개 피처를 종합 판단
</a:t>
            </a:r>
            <a:r>
              <a:rPr lang="en-US" sz="930" dirty="0">
                <a:solidFill>
                  <a:srgbClr val="7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구조화된 매수/매도 후보를 산출한다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71336" y="38587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37096" y="384048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 안전망 검증 후 자동 매매
</a:t>
            </a:r>
            <a:r>
              <a:rPr lang="en-US" sz="930" dirty="0">
                <a:solidFill>
                  <a:srgbClr val="7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없이 일관된 기준으로 실행한다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4846320"/>
            <a:ext cx="11185855" cy="1517904"/>
          </a:xfrm>
          <a:prstGeom prst="roundRect">
            <a:avLst>
              <a:gd name="adj" fmla="val 4217"/>
            </a:avLst>
          </a:prstGeom>
          <a:solidFill>
            <a:srgbClr val="FBF7EE"/>
          </a:solidFill>
          <a:ln w="12700">
            <a:solidFill>
              <a:srgbClr val="ECE0C8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77240" y="49743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'종합 판단'인가  </a:t>
            </a:r>
            <a:r>
              <a:rPr lang="en-US" sz="100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선행연구 근거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5340096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알고리즘·퀀트 트레이딩과 </a:t>
            </a:r>
            <a:r>
              <a:rPr lang="en-US" sz="10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투자 판단</a:t>
            </a:r>
            <a:r>
              <a:rPr lang="en-US" sz="105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연구는 단일 지표보다 </a:t>
            </a:r>
            <a:r>
              <a:rPr lang="en-US" sz="105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신호를 종합</a:t>
            </a:r>
            <a:r>
              <a:rPr lang="en-US" sz="105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때 효율적임을 시사한다.   </a:t>
            </a:r>
            <a:r>
              <a:rPr lang="en-US" sz="900" i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(Lopez-Lira &amp; Tang, 2023 · JP Morgan LOXM)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77240" y="5779008"/>
            <a:ext cx="5029200" cy="384048"/>
          </a:xfrm>
          <a:prstGeom prst="roundRect">
            <a:avLst>
              <a:gd name="adj" fmla="val 50000"/>
            </a:avLst>
          </a:prstGeom>
          <a:solidFill>
            <a:srgbClr val="E9F0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77240" y="57790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금융권 종사자 — 분석 데이터를 그대로 업무에 활용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5989320" y="5779008"/>
            <a:ext cx="5029200" cy="384048"/>
          </a:xfrm>
          <a:prstGeom prst="roundRect">
            <a:avLst>
              <a:gd name="adj" fmla="val 50000"/>
            </a:avLst>
          </a:prstGeom>
          <a:solidFill>
            <a:srgbClr val="E2F0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5989320" y="57790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투자자 — 모니터링 부담을 덜고 본업에 집중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r>
              <a:rPr lang="en-US" sz="29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시스템 아키텍처</a:t>
            </a:r>
            <a:endParaRPr lang="en-US" sz="29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65760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8755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수집·분석·판단 / 매매 실행 / 표시 / 저장을 분리한 4개 서비스 — Docker Compose 모놀리식 레포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02 / 07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· AI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1627632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ECEEF2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API  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시세·수급·주문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2858" y="1627632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ECEEF2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362858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API  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재무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22797" y="1627632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ECEEF2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22797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  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판단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82735" y="1627632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ECEEF2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082735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RSS·네이버  </a:t>
            </a:r>
            <a:r>
              <a:rPr lang="en-US" sz="93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텍스트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서비스 (컨테이너 4)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274320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E9F0F7"/>
          </a:solidFill>
          <a:ln w="17780">
            <a:solidFill>
              <a:srgbClr val="1F4E79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40080" y="28712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 </a:t>
            </a: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:8000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코어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9336" y="3666744"/>
            <a:ext cx="14195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 err="1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APScheduler</a:t>
            </a: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스케줄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 err="1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수집·3축 분석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판단·안전망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3362858" y="274320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4E7E7"/>
          </a:solidFill>
          <a:ln w="17780">
            <a:solidFill>
              <a:srgbClr val="881A1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500018" y="28712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SpringBoot  </a:t>
            </a:r>
            <a:r>
              <a:rPr lang="en-US" sz="10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:8080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500018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 실행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89275" y="3682802"/>
            <a:ext cx="13939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모의투자 주문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인증·Spring Security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내역 기록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222797" y="274320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E4F2EE"/>
          </a:solidFill>
          <a:ln w="17780">
            <a:solidFill>
              <a:srgbClr val="147A6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359957" y="28712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7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Vue3 · Nginx  </a:t>
            </a:r>
            <a:r>
              <a:rPr lang="en-US" sz="1000" b="1" dirty="0">
                <a:solidFill>
                  <a:srgbClr val="147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:3000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59957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59957" y="3662172"/>
            <a:ext cx="1520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4탭 화면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종합·정량·감성·시계열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분석 시각화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9082735" y="274320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EBE8F5"/>
          </a:solidFill>
          <a:ln w="17780">
            <a:solidFill>
              <a:srgbClr val="4B3B9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219895" y="28712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 </a:t>
            </a: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:5432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219895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저장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219895" y="3653028"/>
            <a:ext cx="1373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filter_score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 · news</a:t>
            </a:r>
            <a:endParaRPr lang="en-US" sz="98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 내역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502920" y="22128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↓        주문 ↓        조회 ↑        저장 ↕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02920" y="4864608"/>
            <a:ext cx="11185855" cy="658368"/>
          </a:xfrm>
          <a:prstGeom prst="roundRect">
            <a:avLst>
              <a:gd name="adj" fmla="val 9722"/>
            </a:avLst>
          </a:prstGeom>
          <a:solidFill>
            <a:srgbClr val="FAFAFB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731520" y="4864608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
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수집·분석·판단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484059" y="48646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2968691" y="4864608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SpringBoot
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실행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21230" y="48646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205862" y="4864608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모의투자
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 체결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58401" y="48646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443033" y="4864608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
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저장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195572" y="48646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680204" y="4864608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47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Vue3 대시보드
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조회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02920" y="5779008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F4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02920" y="5779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 매 거래일(평일) 08:50 — 파이프라인 자동 실행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257800" y="5779008"/>
            <a:ext cx="5577840" cy="384048"/>
          </a:xfrm>
          <a:prstGeom prst="roundRect">
            <a:avLst>
              <a:gd name="adj" fmla="val 50000"/>
            </a:avLst>
          </a:prstGeom>
          <a:solidFill>
            <a:srgbClr val="ECE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5257800" y="57790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🐳  Docker Compose — 4개 컨테이너를 하나의 레포로 운영</a:t>
            </a:r>
            <a:endParaRPr lang="en-US" sz="1050" dirty="0"/>
          </a:p>
        </p:txBody>
      </p:sp>
      <p:pic>
        <p:nvPicPr>
          <p:cNvPr id="51" name="그림 50" descr="Database - Free seo and web icons">
            <a:extLst>
              <a:ext uri="{FF2B5EF4-FFF2-40B4-BE49-F238E27FC236}">
                <a16:creationId xmlns:a16="http://schemas.microsoft.com/office/drawing/2014/main" id="{357F67BB-2701-E429-B140-B10D64F1A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195" y="3573863"/>
            <a:ext cx="1090420" cy="830422"/>
          </a:xfrm>
          <a:prstGeom prst="rect">
            <a:avLst/>
          </a:prstGeom>
        </p:spPr>
      </p:pic>
      <p:pic>
        <p:nvPicPr>
          <p:cNvPr id="53" name="그림 52" descr="Server data - free Icon PNG, SVG">
            <a:extLst>
              <a:ext uri="{FF2B5EF4-FFF2-40B4-BE49-F238E27FC236}">
                <a16:creationId xmlns:a16="http://schemas.microsoft.com/office/drawing/2014/main" id="{08F74A55-A996-BCCE-CA15-F37FA4F9F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111" y="3520440"/>
            <a:ext cx="1352927" cy="944393"/>
          </a:xfrm>
          <a:prstGeom prst="rect">
            <a:avLst/>
          </a:prstGeom>
        </p:spPr>
      </p:pic>
      <p:pic>
        <p:nvPicPr>
          <p:cNvPr id="54" name="그림 53" descr="Dashboard - Free security icons">
            <a:extLst>
              <a:ext uri="{FF2B5EF4-FFF2-40B4-BE49-F238E27FC236}">
                <a16:creationId xmlns:a16="http://schemas.microsoft.com/office/drawing/2014/main" id="{1BDAF94B-FBC7-88DB-A5BD-3E4A201D8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353" y="3550779"/>
            <a:ext cx="851526" cy="851526"/>
          </a:xfrm>
          <a:prstGeom prst="rect">
            <a:avLst/>
          </a:prstGeom>
        </p:spPr>
      </p:pic>
      <p:pic>
        <p:nvPicPr>
          <p:cNvPr id="57" name="그림 56" descr="통계 - 무료 컴퓨터개 아이콘">
            <a:extLst>
              <a:ext uri="{FF2B5EF4-FFF2-40B4-BE49-F238E27FC236}">
                <a16:creationId xmlns:a16="http://schemas.microsoft.com/office/drawing/2014/main" id="{945AAF81-970A-225B-1826-275E155AE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367936" y="3776472"/>
            <a:ext cx="702916" cy="702916"/>
          </a:xfrm>
          <a:prstGeom prst="rect">
            <a:avLst/>
          </a:prstGeom>
        </p:spPr>
      </p:pic>
      <p:pic>
        <p:nvPicPr>
          <p:cNvPr id="56" name="그림 55" descr="Ai icons | Canva">
            <a:extLst>
              <a:ext uri="{FF2B5EF4-FFF2-40B4-BE49-F238E27FC236}">
                <a16:creationId xmlns:a16="http://schemas.microsoft.com/office/drawing/2014/main" id="{97A3527C-EAA2-53C6-B71A-2C23FA524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4487" y="3694232"/>
            <a:ext cx="489425" cy="466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TOP 30 종목 필터링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100 풀의 4개 지표를 StandardScaler로 정규화·가중합산해 상위 30종목을 매일 확정한다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03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26464"/>
            <a:ext cx="5486400" cy="438912"/>
          </a:xfrm>
          <a:prstGeom prst="roundRect">
            <a:avLst>
              <a:gd name="adj" fmla="val 10417"/>
            </a:avLst>
          </a:prstGeom>
          <a:solidFill>
            <a:srgbClr val="3A3D42"/>
          </a:solidFill>
          <a:ln w="13970">
            <a:solidFill>
              <a:srgbClr val="3A3D4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1426464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100 풀 (고정)
</a:t>
            </a:r>
            <a:r>
              <a:rPr lang="en-US" sz="720" dirty="0">
                <a:solidFill>
                  <a:srgbClr val="D8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 하드코딩 · 매일 동일 100개 종목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7315" y="1865376"/>
            <a:ext cx="0" cy="182880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806065" y="1865376"/>
            <a:ext cx="0" cy="182880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34815" y="1865376"/>
            <a:ext cx="0" cy="182880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663565" y="1865376"/>
            <a:ext cx="0" cy="182880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77240" y="2048256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2960" y="2048256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순매수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 금액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05990" y="2048256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251710" y="2048256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순매수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 금액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34740" y="2048256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3680460" y="2048256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배율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전날/20일평균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63490" y="2048256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109210" y="2048256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변동성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(고-저)/저가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82880" y="21762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377315" y="2560320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2806065" y="2560320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234815" y="2560320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663565" y="2560320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777240" y="2724912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822960" y="2724912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절대값 정규화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205990" y="2724912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2251710" y="2724912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절대값 정규화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634740" y="2724912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680460" y="2724912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63490" y="2724912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109210" y="2724912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82880" y="28346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377315" y="3182112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2806065" y="3182112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4234815" y="3182112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5663565" y="3182112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377315" y="3310128"/>
            <a:ext cx="4286250" cy="0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3520440" y="3310128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777240" y="3438144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868680" y="34381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가중합산 스코어 산출   </a:t>
            </a:r>
            <a:r>
              <a:rPr lang="en-US" sz="880" dirty="0">
                <a:solidFill>
                  <a:srgbClr val="4A4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|외국인|×0.3 + |기관|×0.3 + 거래량배율×0.3 + 변동성×0.1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520440" y="3941064"/>
            <a:ext cx="0" cy="128016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2258568" y="4069080"/>
            <a:ext cx="2523744" cy="0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258568" y="4069080"/>
            <a:ext cx="0" cy="128016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4782312" y="4069080"/>
            <a:ext cx="0" cy="128016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777240" y="4197096"/>
            <a:ext cx="2606040" cy="493776"/>
          </a:xfrm>
          <a:prstGeom prst="roundRect">
            <a:avLst>
              <a:gd name="adj" fmla="val 9259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822960" y="419709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 상위 30 선정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내림차순 · 분석 대상 확정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657600" y="4197096"/>
            <a:ext cx="2606040" cy="493776"/>
          </a:xfrm>
          <a:prstGeom prst="roundRect">
            <a:avLst>
              <a:gd name="adj" fmla="val 9259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3703320" y="419709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stock_filter_score 저장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100개 지표값 + is_selected · 매일 누적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82880" y="43159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080260" y="4690872"/>
            <a:ext cx="0" cy="128016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777240" y="481888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822960" y="48188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정량·감성·시계열 분석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종목 파이프라인 실행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77240" y="5440680"/>
            <a:ext cx="118872" cy="118872"/>
          </a:xfrm>
          <a:prstGeom prst="rect">
            <a:avLst/>
          </a:prstGeom>
          <a:solidFill>
            <a:srgbClr val="0B6B5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941832" y="5385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수집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423160" y="5440680"/>
            <a:ext cx="118872" cy="118872"/>
          </a:xfrm>
          <a:prstGeom prst="rect">
            <a:avLst/>
          </a:prstGeom>
          <a:solidFill>
            <a:srgbClr val="B7B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2587752" y="5385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 처리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069080" y="5440680"/>
            <a:ext cx="118872" cy="118872"/>
          </a:xfrm>
          <a:prstGeom prst="rect">
            <a:avLst/>
          </a:prstGeom>
          <a:solidFill>
            <a:srgbClr val="4B3B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4233672" y="5385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선정·분석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6446520" y="1426464"/>
            <a:ext cx="0" cy="5138928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6611112" y="1426464"/>
            <a:ext cx="5123383" cy="5138928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6812280" y="1572768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설명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6812280" y="1883664"/>
            <a:ext cx="4721047" cy="0"/>
          </a:xfrm>
          <a:prstGeom prst="line">
            <a:avLst/>
          </a:prstGeom>
          <a:noFill/>
          <a:ln w="1016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6812280" y="1975104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2F0EB"/>
          </a:solidFill>
          <a:ln w="1143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6922008" y="2029968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코스피 100 풀 고정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922008" y="2249424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종목코드를 하드코딩으로 관리해 매일 동일한 100개를 대상으로 삼는다. 동일 집합에서 정규화하므로 일자 간 스코어 비교가 의미 있어진다.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6812280" y="3122676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2F0EB"/>
          </a:solidFill>
          <a:ln w="1143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6922008" y="3177540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4개 지표 수집 (KIS API)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922008" y="3396996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외국인·기관 순매수는 FHKST01010900 1회 호출로 동시 수집. 거래량 배율(전날/20일 평균)과 가격 변동성((고-저)/저가)은 일봉 조회에서 계산. 종목당 2회 × 100개 = 약 40초.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6812280" y="4270248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EEFF1"/>
          </a:solidFill>
          <a:ln w="1143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6922008" y="4325112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B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StandardScaler 정규화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6922008" y="4544568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외국인·기관은 절대값 변환 후 정규화 — 순매수·순매도 모두 '강한 움직임'으로 해석한다. 매일 새로 fit해 당일 100개 기준 상대 강도를 측정한다.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812280" y="5417820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922008" y="5472684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가중합산 · 상위 30 확정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922008" y="5692140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 0.3 + 수급 0.3 + 거래량 0.3 + 변동성 0.1로 합산. 수급이 없어도 거래량만 터진 종목을 반드시 포착하도록 거래량에 동일 비중을 부여했다.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정량분석  —  KIS 4 + DART 3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수집하는 시세·수급과 분기 재무에서 7개 수치 피처를 산출 — Gemini 입력 11개 중 7개를 구성한다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04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26464"/>
            <a:ext cx="4057650" cy="475488"/>
          </a:xfrm>
          <a:prstGeom prst="roundRect">
            <a:avLst>
              <a:gd name="adj" fmla="val 9615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1426464"/>
            <a:ext cx="39662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API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매일 호출 · asyncio 병렬 · 초당 5건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63490" y="1426464"/>
            <a:ext cx="1200150" cy="475488"/>
          </a:xfrm>
          <a:prstGeom prst="roundRect">
            <a:avLst>
              <a:gd name="adj" fmla="val 9615"/>
            </a:avLst>
          </a:prstGeom>
          <a:solidFill>
            <a:srgbClr val="E6F1EA"/>
          </a:solidFill>
          <a:ln w="1397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109210" y="1426464"/>
            <a:ext cx="11087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DB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1회 갱신 · 매일 DB 조회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2880" y="15453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377315" y="1901952"/>
            <a:ext cx="0" cy="182880"/>
          </a:xfrm>
          <a:prstGeom prst="line">
            <a:avLst/>
          </a:prstGeom>
          <a:noFill/>
          <a:ln w="17780">
            <a:solidFill>
              <a:srgbClr val="7FA8C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806065" y="1901952"/>
            <a:ext cx="0" cy="182880"/>
          </a:xfrm>
          <a:prstGeom prst="line">
            <a:avLst/>
          </a:prstGeom>
          <a:noFill/>
          <a:ln w="17780">
            <a:solidFill>
              <a:srgbClr val="7FA8C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234815" y="1901952"/>
            <a:ext cx="0" cy="182880"/>
          </a:xfrm>
          <a:prstGeom prst="line">
            <a:avLst/>
          </a:prstGeom>
          <a:noFill/>
          <a:ln w="17780">
            <a:solidFill>
              <a:srgbClr val="7FA8C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663565" y="1901952"/>
            <a:ext cx="0" cy="182880"/>
          </a:xfrm>
          <a:prstGeom prst="line">
            <a:avLst/>
          </a:prstGeom>
          <a:noFill/>
          <a:ln w="17780">
            <a:solidFill>
              <a:srgbClr val="83B7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77240" y="2084832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22960" y="2084832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분봉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09–10시 OHLCV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205990" y="2084832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251710" y="2084832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일봉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고·저·종가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34740" y="2084832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680460" y="2084832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 데이터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외국인·기관 순매수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63490" y="2084832"/>
            <a:ext cx="1200150" cy="512064"/>
          </a:xfrm>
          <a:prstGeom prst="roundRect">
            <a:avLst>
              <a:gd name="adj" fmla="val 8929"/>
            </a:avLst>
          </a:prstGeom>
          <a:solidFill>
            <a:srgbClr val="E6F1EA"/>
          </a:solidFill>
          <a:ln w="1397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09210" y="2084832"/>
            <a:ext cx="1108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PER·ROE·영업이익률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82880" y="22311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77315" y="2596896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2806065" y="2596896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234815" y="2596896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663565" y="2596896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777240" y="2761488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822960" y="2761488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집계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09:00~10:00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05990" y="2761488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2251710" y="2761488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계산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(종-저)/(고-저)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34740" y="2761488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3680460" y="2761488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사용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 금액 그대로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063490" y="2761488"/>
            <a:ext cx="1200150" cy="457200"/>
          </a:xfrm>
          <a:prstGeom prst="roundRect">
            <a:avLst>
              <a:gd name="adj" fmla="val 10000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5109210" y="2761488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사용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비율값 그대로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82880" y="2880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377315" y="3218688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06065" y="3218688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4234815" y="3218688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663565" y="3218688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777240" y="3383280"/>
            <a:ext cx="1200150" cy="475488"/>
          </a:xfrm>
          <a:prstGeom prst="roundRect">
            <a:avLst>
              <a:gd name="adj" fmla="val 9615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822960" y="3383280"/>
            <a:ext cx="11087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morning_return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장초반 수익률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205990" y="3383280"/>
            <a:ext cx="1200150" cy="475488"/>
          </a:xfrm>
          <a:prstGeom prst="roundRect">
            <a:avLst>
              <a:gd name="adj" fmla="val 9615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2251710" y="3383280"/>
            <a:ext cx="11087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close_position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고저 위치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634740" y="3383280"/>
            <a:ext cx="1200150" cy="475488"/>
          </a:xfrm>
          <a:prstGeom prst="roundRect">
            <a:avLst>
              <a:gd name="adj" fmla="val 9615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3680460" y="3383280"/>
            <a:ext cx="11087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foreign_net_buy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순매수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063490" y="3383280"/>
            <a:ext cx="1200150" cy="475488"/>
          </a:xfrm>
          <a:prstGeom prst="roundRect">
            <a:avLst>
              <a:gd name="adj" fmla="val 9615"/>
            </a:avLst>
          </a:prstGeom>
          <a:solidFill>
            <a:srgbClr val="E6F1EA"/>
          </a:solidFill>
          <a:ln w="1397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109210" y="3383280"/>
            <a:ext cx="11087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주가수익비율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82880" y="35021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234815" y="3858768"/>
            <a:ext cx="0" cy="146304"/>
          </a:xfrm>
          <a:prstGeom prst="line">
            <a:avLst/>
          </a:prstGeom>
          <a:noFill/>
          <a:ln w="17780">
            <a:solidFill>
              <a:srgbClr val="7FA8C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5663565" y="3858768"/>
            <a:ext cx="0" cy="146304"/>
          </a:xfrm>
          <a:prstGeom prst="line">
            <a:avLst/>
          </a:prstGeom>
          <a:noFill/>
          <a:ln w="17780">
            <a:solidFill>
              <a:srgbClr val="83B7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3634740" y="4005072"/>
            <a:ext cx="1200150" cy="438912"/>
          </a:xfrm>
          <a:prstGeom prst="roundRect">
            <a:avLst>
              <a:gd name="adj" fmla="val 10417"/>
            </a:avLst>
          </a:prstGeom>
          <a:solidFill>
            <a:srgbClr val="E9F0F7"/>
          </a:solidFill>
          <a:ln w="1397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3680460" y="4005072"/>
            <a:ext cx="1108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institutional_net_buy
</a:t>
            </a:r>
            <a:r>
              <a:rPr lang="en-US" sz="68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순매수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063490" y="4005072"/>
            <a:ext cx="1200150" cy="438912"/>
          </a:xfrm>
          <a:prstGeom prst="roundRect">
            <a:avLst>
              <a:gd name="adj" fmla="val 10417"/>
            </a:avLst>
          </a:prstGeom>
          <a:solidFill>
            <a:srgbClr val="E6F1EA"/>
          </a:solidFill>
          <a:ln w="1397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5109210" y="4005072"/>
            <a:ext cx="1108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자기자본이익률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663565" y="4443984"/>
            <a:ext cx="0" cy="128016"/>
          </a:xfrm>
          <a:prstGeom prst="line">
            <a:avLst/>
          </a:prstGeom>
          <a:noFill/>
          <a:ln w="17780">
            <a:solidFill>
              <a:srgbClr val="83B7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5063490" y="4572000"/>
            <a:ext cx="1200150" cy="438912"/>
          </a:xfrm>
          <a:prstGeom prst="roundRect">
            <a:avLst>
              <a:gd name="adj" fmla="val 10417"/>
            </a:avLst>
          </a:prstGeom>
          <a:solidFill>
            <a:srgbClr val="E6F1EA"/>
          </a:solidFill>
          <a:ln w="1397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5109210" y="4572000"/>
            <a:ext cx="1108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operating_margin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77240" y="5193792"/>
            <a:ext cx="118872" cy="1188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941832" y="5138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기반 4개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2606040" y="5193792"/>
            <a:ext cx="118872" cy="118872"/>
          </a:xfrm>
          <a:prstGeom prst="rect">
            <a:avLst/>
          </a:prstGeom>
          <a:solidFill>
            <a:srgbClr val="1E7A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2770632" y="5138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기반 3개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434840" y="5193792"/>
            <a:ext cx="118872" cy="118872"/>
          </a:xfrm>
          <a:prstGeom prst="rect">
            <a:avLst/>
          </a:prstGeom>
          <a:solidFill>
            <a:srgbClr val="B7B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4599432" y="5138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7개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6446520" y="1426464"/>
            <a:ext cx="0" cy="5138928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5"/>
          <p:cNvSpPr/>
          <p:nvPr/>
        </p:nvSpPr>
        <p:spPr>
          <a:xfrm>
            <a:off x="6611112" y="1426464"/>
            <a:ext cx="5123383" cy="5138928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6812280" y="1572768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설명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6812280" y="1883664"/>
            <a:ext cx="4721047" cy="0"/>
          </a:xfrm>
          <a:prstGeom prst="line">
            <a:avLst/>
          </a:prstGeom>
          <a:noFill/>
          <a:ln w="1016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6812280" y="1975104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6922008" y="2029968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KIS API — 시세·수급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6922008" y="2249424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분봉(09–10시)으로 morning_return, 일봉 고·저·종가로 close_position을 산출. 외국인·기관 순매수는 1회 API 호출로 동시 수집해 그대로 피처로 사용한다.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6812280" y="3122676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6F1EA"/>
          </a:solidFill>
          <a:ln w="11430">
            <a:solidFill>
              <a:srgbClr val="1E7A4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/>
          <p:nvPr/>
        </p:nvSpPr>
        <p:spPr>
          <a:xfrm>
            <a:off x="6922008" y="3177540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DART DB — 분기 재무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6922008" y="3396996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PER·ROE·영업이익률은 분기 1회만 갱신. 매일 파이프라인에서는 DB 조회만 수행해 API 호출 비용을 줄인다. 재무 지표는 중장기 펀더멘탈 판단에 충분히 유효하다.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6812280" y="4270248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EEFF1"/>
          </a:solidFill>
          <a:ln w="1143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/>
          <p:nvPr/>
        </p:nvSpPr>
        <p:spPr>
          <a:xfrm>
            <a:off x="6922008" y="4325112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B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가공 vs 직접 사용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6922008" y="4544568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분봉은 시간대별 집계, 일봉은 비율 계산으로 가공한다. 반면 수급과 재무는 API에서 받은 값을 그대로 피처로 넘긴다. 수급·재무는 그 자체로 방향성을 담고 있기 때문이다.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6812280" y="5417820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/>
          <p:nvPr/>
        </p:nvSpPr>
        <p:spPr>
          <a:xfrm>
            <a:off x="6922008" y="5472684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11개 피처로 통합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6922008" y="5692140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7개 + 감성 1개(sentiment_score) + 시계열 3개(Prophet) = Gemini 입력 총 11개. 각 피처는 '돈이 들어오나?', '가격이 어떻게 움직였나?', '앞으로 어떻게 될 것 같나?' 라는 질문에 답한다.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감성분석  —  KR-FinBERT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목적에 따라 두 트랙 분리 — 시장 전반(대시보드)과 종목별(Gemini 입력 피처)을 독립 운영한다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05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264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14264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1 · 시장 전반
</a:t>
            </a:r>
            <a:r>
              <a:rPr lang="en-US" sz="75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 피드 3개 언론사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0" y="14264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703320" y="14264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2 · 종목별
</a:t>
            </a:r>
            <a:r>
              <a:rPr lang="en-US" sz="75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금융 크롤링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2139696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21396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 피드 수집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한경·매경·연합 · 전날18시~당일08:50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0" y="2139696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703320" y="21396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크롤링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 URL · 최신5건 · 전날18시~08:50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2852928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2960" y="2852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필터 · 중복 제거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 기준 · 제목 앞 20자 dedup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0" y="2852928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703320" y="2852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필터 · 상위 5건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시각 기준 범위 · 종목당 5건 제한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7240" y="3566160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2296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전처리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제목+본문 200자 · 512토큰 자르기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0" y="3566160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70332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전처리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제목+본문 200자 · 512토큰 자르기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77240" y="4279392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22960" y="4279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KR-FinBERT 추론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P(긍)-P(부) → 점수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0" y="4279392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703320" y="4279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KR-FinBERT 추론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5건 각각 추론 → 점수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7240" y="499262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2F0EB"/>
          </a:solidFill>
          <a:ln w="1397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822960" y="49926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감성점수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기사 평균 → Vue3 화면 표시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0" y="499262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3703320" y="49926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sentiment_score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가중 평균 → Gemini 피처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080260" y="1975104"/>
            <a:ext cx="0" cy="164592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960620" y="1975104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2080260" y="2688336"/>
            <a:ext cx="0" cy="164592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960620" y="2688336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2080260" y="3401568"/>
            <a:ext cx="0" cy="164592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4960620" y="3401568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2080260" y="4114800"/>
            <a:ext cx="0" cy="164592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4960620" y="4114800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080260" y="4828032"/>
            <a:ext cx="0" cy="164592"/>
          </a:xfrm>
          <a:prstGeom prst="line">
            <a:avLst/>
          </a:prstGeom>
          <a:noFill/>
          <a:ln w="17780">
            <a:solidFill>
              <a:srgbClr val="7CB6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4960620" y="4828032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182880" y="22677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82880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82880" y="3694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82880" y="44074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82880" y="51206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446520" y="1426464"/>
            <a:ext cx="0" cy="5138928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611112" y="1426464"/>
            <a:ext cx="5123383" cy="5138928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812280" y="1572768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설명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812280" y="1883664"/>
            <a:ext cx="4721047" cy="0"/>
          </a:xfrm>
          <a:prstGeom prst="line">
            <a:avLst/>
          </a:prstGeom>
          <a:noFill/>
          <a:ln w="1016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6812280" y="1975104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2F0EB"/>
          </a:solidFill>
          <a:ln w="1143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6922008" y="2029968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트랙 분리 설계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22008" y="2249424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전반(트랙 1)은 RSS로 안정적으로 수집하고 Vue3 대시보드에 표시한다. 종목별(트랙 2)은 네이버 금융을 크롤링해 Gemini 입력 피처로 사용한다. 역할을 분리해 혼용 오염을 방지한다.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812280" y="3122676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EEFF1"/>
          </a:solidFill>
          <a:ln w="1143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6922008" y="3177540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B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텍스트 전처리 기준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22008" y="3396996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제목만 쓰면 '삼성전자 실적 발표' 같은 중립 제목에서 핵심 정보를 놓친다. 본문 전체는 512토큰 제약으로 뒷부분이 잘린다. 그래서 제목+본문 앞 200자가 정보 밀도를 최대화하는 실용적 선택이다.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812280" y="4270248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922008" y="4325112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KR-FinBERT 점수화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922008" y="4544568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금융 텍스트에 특화된 BERT 모델. 긍정·부정·중립 확률을 반환하고 P(긍정)−P(부정)으로 -1.0~1.0 연속 점수를 만든다. 일반 BERT보다 금융 도메인 용어와 맥락 이해가 정확하다.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812280" y="5417820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922008" y="5472684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시간 가중 평균 (트랙 2)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6922008" y="5692140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종목당 5건을 최신 순서대로 5, 4, 3, 2, 1 가중치를 적용해 평균한다. 가장 최근 기사가 현재 시장 심리를 더 잘 반영하기 때문이다. 산출된 sentiment_score는 Gemini 11개 피처 중 1개가 된다.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시계열 예측  —  Prophet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120거래일을 종목별 독립 학습 → D+1~D+5 예측 → 선형 기울기로 추세 방향·강도를 수치화한다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06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26464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142646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API 직접 조회
</a:t>
            </a:r>
            <a:r>
              <a:rPr lang="en-US" sz="72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종목별 120거래일 일봉 · 매일 실행 시 조회 · DB 저장 없음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15453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80260" y="1901952"/>
            <a:ext cx="0" cy="182880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60620" y="1901952"/>
            <a:ext cx="0" cy="182880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68680" y="1901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계열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49040" y="1901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계열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2084832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2960" y="20848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종가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close_price · 120거래일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0" y="2084832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703320" y="20848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순매수 비율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체결량 / 총 거래량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82880" y="2212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080260" y="2596896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960620" y="2596896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77240" y="2761488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22960" y="27614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이상값 제거 · 정렬 · ds/y 변환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0" y="2761488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703320" y="27614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이상값 제거 · 정렬 · ds/y 변환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2880" y="28895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080260" y="3273552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960620" y="3273552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777240" y="3438144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22960" y="343814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 학습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독립 · 매일 새로 fit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0" y="3438144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703320" y="343814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 학습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독립 · 매일 새로 fit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82880" y="35661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080260" y="3950208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960620" y="3950208"/>
            <a:ext cx="0" cy="164592"/>
          </a:xfrm>
          <a:prstGeom prst="line">
            <a:avLst/>
          </a:prstGeom>
          <a:noFill/>
          <a:ln w="17780">
            <a:solidFill>
              <a:srgbClr val="9B8FC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777240" y="4114800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822960" y="411480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 ~ D+5 예측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yhat · yhat_lower · yhat_upper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57600" y="4114800"/>
            <a:ext cx="2606040" cy="512064"/>
          </a:xfrm>
          <a:prstGeom prst="roundRect">
            <a:avLst>
              <a:gd name="adj" fmla="val 8929"/>
            </a:avLst>
          </a:prstGeom>
          <a:solidFill>
            <a:srgbClr val="EEEFF1"/>
          </a:solidFill>
          <a:ln w="1397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3703320" y="411480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 ~ D+5 예측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yhat · 선형회귀 기울기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82880" y="42428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080260" y="4626864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960620" y="4626864"/>
            <a:ext cx="0" cy="164592"/>
          </a:xfrm>
          <a:prstGeom prst="line">
            <a:avLst/>
          </a:prstGeom>
          <a:noFill/>
          <a:ln w="17780">
            <a:solidFill>
              <a:srgbClr val="AEB3B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182880" y="4919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77240" y="4791456"/>
            <a:ext cx="1211580" cy="530352"/>
          </a:xfrm>
          <a:prstGeom prst="roundRect">
            <a:avLst>
              <a:gd name="adj" fmla="val 8621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822960" y="4791456"/>
            <a:ext cx="1120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4B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price_trend
</a:t>
            </a:r>
            <a:r>
              <a:rPr lang="en-US" sz="68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추세 기울기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2171700" y="4791456"/>
            <a:ext cx="1211580" cy="530352"/>
          </a:xfrm>
          <a:prstGeom prst="roundRect">
            <a:avLst>
              <a:gd name="adj" fmla="val 8621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2217420" y="4791456"/>
            <a:ext cx="1120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4B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price_uncertainty
</a:t>
            </a:r>
            <a:r>
              <a:rPr lang="en-US" sz="68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불확실성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657600" y="4791456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ECE9F6"/>
          </a:solidFill>
          <a:ln w="1397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3703320" y="479145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4B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volume_trend
</a:t>
            </a:r>
            <a:r>
              <a:rPr lang="en-US" sz="7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순매수 비율 추세 기울기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777240" y="5504688"/>
            <a:ext cx="118872" cy="118872"/>
          </a:xfrm>
          <a:prstGeom prst="rect">
            <a:avLst/>
          </a:prstGeom>
          <a:solidFill>
            <a:srgbClr val="4B3B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941832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 단계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2697480" y="5504688"/>
            <a:ext cx="118872" cy="118872"/>
          </a:xfrm>
          <a:prstGeom prst="rect">
            <a:avLst/>
          </a:prstGeom>
          <a:solidFill>
            <a:srgbClr val="B7B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2862072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전처리·계산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46520" y="1426464"/>
            <a:ext cx="0" cy="5138928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6611112" y="1426464"/>
            <a:ext cx="5123383" cy="5138928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6812280" y="1572768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설명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812280" y="1883664"/>
            <a:ext cx="4721047" cy="0"/>
          </a:xfrm>
          <a:prstGeom prst="line">
            <a:avLst/>
          </a:prstGeom>
          <a:noFill/>
          <a:ln w="1016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812280" y="1975104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6922008" y="2029968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KIS 직접 조회 · DB 저장 없음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22008" y="2249424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종목이 매일 바뀌어 누적 저장 실익이 낮다. 파이프라인 실행 시 그 즉시 120거래일 일봉을 API에서 조회하고, 예측이 끝나면 원천 데이터를 버린다. 30종목 × 2회 = 약 12초 소요.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812280" y="3122676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6922008" y="3177540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종목별 독립 학습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6922008" y="3396996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Prophet은 단변량 시계열 모델로 여러 종목을 합산 학습할 수 없다. 삼성전자 패턴과 다른 종목을 섞으면 노이즈만 늘어난다. 종목당 학습 시간이 수 초 이내라 30개 전체를 매일 새로 fit해도 실용적이다.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812280" y="4270248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EEFF1"/>
          </a:solidFill>
          <a:ln w="1143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6922008" y="4325112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B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5거래일 예측 · 기울기 추출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6922008" y="4544568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하루 예측값 하나보다 D+1~D+5 추세 방향이 Gemini 판단에 더 유의미하다. 5개 yhat에 선형회귀를 적용해 기울기를 산출한다. 양수면 상승 기조, 음수면 하락 기조, 절대값이 클수록 추세 강도가 강하다.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812280" y="5417820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CE9F6"/>
          </a:solidFill>
          <a:ln w="1143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6922008" y="5472684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신뢰구간 → 불확실성 피처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922008" y="5692140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yhat_upper - yhat_lower의 D+1~D+5 평균을 price_uncertainty로 사용한다. 값이 클수록 예측 불확실성이 높다는 신호다. Gemini 프롬프트에서 '이 종목은 가격 예측 불확실성이 높습니다'와 같이 맥락을 보조한다.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4B4F-2AD4-AB3D-88CD-09E249E9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2">
            <a:extLst>
              <a:ext uri="{FF2B5EF4-FFF2-40B4-BE49-F238E27FC236}">
                <a16:creationId xmlns:a16="http://schemas.microsoft.com/office/drawing/2014/main" id="{7B60F19B-9E3D-36C2-86B9-25BC593F1656}"/>
              </a:ext>
            </a:extLst>
          </p:cNvPr>
          <p:cNvSpPr/>
          <p:nvPr/>
        </p:nvSpPr>
        <p:spPr>
          <a:xfrm>
            <a:off x="6611112" y="1426464"/>
            <a:ext cx="5123383" cy="5138928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8">
            <a:extLst>
              <a:ext uri="{FF2B5EF4-FFF2-40B4-BE49-F238E27FC236}">
                <a16:creationId xmlns:a16="http://schemas.microsoft.com/office/drawing/2014/main" id="{1CEFFDF4-43D3-835D-064A-02DAFFA5A6E4}"/>
              </a:ext>
            </a:extLst>
          </p:cNvPr>
          <p:cNvSpPr/>
          <p:nvPr/>
        </p:nvSpPr>
        <p:spPr>
          <a:xfrm>
            <a:off x="6804988" y="3113532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68">
            <a:extLst>
              <a:ext uri="{FF2B5EF4-FFF2-40B4-BE49-F238E27FC236}">
                <a16:creationId xmlns:a16="http://schemas.microsoft.com/office/drawing/2014/main" id="{56CE4C63-1120-2756-81BD-E37368BB9FF3}"/>
              </a:ext>
            </a:extLst>
          </p:cNvPr>
          <p:cNvSpPr/>
          <p:nvPr/>
        </p:nvSpPr>
        <p:spPr>
          <a:xfrm>
            <a:off x="6812279" y="4291721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68">
            <a:extLst>
              <a:ext uri="{FF2B5EF4-FFF2-40B4-BE49-F238E27FC236}">
                <a16:creationId xmlns:a16="http://schemas.microsoft.com/office/drawing/2014/main" id="{23FCCC2E-981A-7EA2-4740-C6FE203A29A2}"/>
              </a:ext>
            </a:extLst>
          </p:cNvPr>
          <p:cNvSpPr/>
          <p:nvPr/>
        </p:nvSpPr>
        <p:spPr>
          <a:xfrm>
            <a:off x="6812279" y="5454396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5957E68F-C075-5DE2-2166-87B9A333E2F0}"/>
              </a:ext>
            </a:extLst>
          </p:cNvPr>
          <p:cNvSpPr/>
          <p:nvPr/>
        </p:nvSpPr>
        <p:spPr>
          <a:xfrm>
            <a:off x="6812280" y="1965959"/>
            <a:ext cx="4721047" cy="1056132"/>
          </a:xfrm>
          <a:prstGeom prst="roundRect">
            <a:avLst>
              <a:gd name="adj" fmla="val 4329"/>
            </a:avLst>
          </a:prstGeom>
          <a:solidFill>
            <a:srgbClr val="E9F0F7"/>
          </a:solidFill>
          <a:ln w="1143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FE0DDD2-274B-E9BD-B65A-5CAB7D423F3E}"/>
              </a:ext>
            </a:extLst>
          </p:cNvPr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07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 </a:t>
            </a:r>
            <a:r>
              <a:rPr lang="ko-KR" alt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G</a:t>
            </a:r>
            <a:r>
              <a:rPr lang="en-US" altLang="ko-KR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 API</a:t>
            </a:r>
            <a:endParaRPr lang="en-US" sz="2700" dirty="0"/>
          </a:p>
        </p:txBody>
      </p:sp>
      <p:pic>
        <p:nvPicPr>
          <p:cNvPr id="3" name="Image 0" descr="asset_logo.png">
            <a:extLst>
              <a:ext uri="{FF2B5EF4-FFF2-40B4-BE49-F238E27FC236}">
                <a16:creationId xmlns:a16="http://schemas.microsoft.com/office/drawing/2014/main" id="{A11F8F72-8E31-2122-DE5C-03A1E8BA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A00C27D-CB8D-BC6A-2481-64AC2FF71D92}"/>
              </a:ext>
            </a:extLst>
          </p:cNvPr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</a:rPr>
              <a:t>프롬프트로 응답을 구조화</a:t>
            </a:r>
            <a:r>
              <a:rPr lang="en-US" altLang="ko-KR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</a:rPr>
              <a:t>(JSON) </a:t>
            </a:r>
            <a:r>
              <a:rPr lang="ko-KR" alt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</a:rPr>
              <a:t>기반의 시스템 안정성 확보 및 매매 연동</a:t>
            </a:r>
            <a:endParaRPr lang="en-US" sz="12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0DF7F90-6DAD-89D3-FA17-6EA9349FD140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F6D9B6-12C8-B39A-80FC-9AABDE378C6F}"/>
              </a:ext>
            </a:extLst>
          </p:cNvPr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00F1BB-3726-71D5-7F88-16BA21361865}"/>
              </a:ext>
            </a:extLst>
          </p:cNvPr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06 / 08</a:t>
            </a:r>
            <a:endParaRPr lang="en-US" sz="850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2FD3A32F-13E0-C198-62D0-542220C9EE7A}"/>
              </a:ext>
            </a:extLst>
          </p:cNvPr>
          <p:cNvSpPr/>
          <p:nvPr/>
        </p:nvSpPr>
        <p:spPr>
          <a:xfrm>
            <a:off x="6446520" y="1426464"/>
            <a:ext cx="0" cy="5138928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D0146CF8-1A6F-3F01-3384-5EAC7625007B}"/>
              </a:ext>
            </a:extLst>
          </p:cNvPr>
          <p:cNvSpPr/>
          <p:nvPr/>
        </p:nvSpPr>
        <p:spPr>
          <a:xfrm>
            <a:off x="6812280" y="1572768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설명</a:t>
            </a:r>
            <a:endParaRPr lang="en-US" sz="1200" dirty="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56500444-783E-B728-1269-EFE1093F0389}"/>
              </a:ext>
            </a:extLst>
          </p:cNvPr>
          <p:cNvSpPr/>
          <p:nvPr/>
        </p:nvSpPr>
        <p:spPr>
          <a:xfrm>
            <a:off x="6812280" y="1883664"/>
            <a:ext cx="4721047" cy="0"/>
          </a:xfrm>
          <a:prstGeom prst="line">
            <a:avLst/>
          </a:prstGeom>
          <a:noFill/>
          <a:ln w="1016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8CF49E07-5A40-C827-C5EA-A4A9E24FEB62}"/>
              </a:ext>
            </a:extLst>
          </p:cNvPr>
          <p:cNvSpPr/>
          <p:nvPr/>
        </p:nvSpPr>
        <p:spPr>
          <a:xfrm>
            <a:off x="6922008" y="2029968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alt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및 요구사항 부여</a:t>
            </a:r>
            <a:endParaRPr lang="en-US" sz="1000" b="1" dirty="0">
              <a:solidFill>
                <a:srgbClr val="7030A0"/>
              </a:solidFill>
            </a:endParaRPr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35D168CB-9B7B-3B4B-A309-BBB66ACFFCCC}"/>
              </a:ext>
            </a:extLst>
          </p:cNvPr>
          <p:cNvSpPr/>
          <p:nvPr/>
        </p:nvSpPr>
        <p:spPr>
          <a:xfrm>
            <a:off x="6922008" y="2249424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ko-KR" altLang="ko-KR" sz="1000" dirty="0" err="1"/>
              <a:t>LLM에게</a:t>
            </a:r>
            <a:r>
              <a:rPr lang="ko-KR" altLang="ko-KR" sz="1000" dirty="0"/>
              <a:t> 'AI 트레이딩 </a:t>
            </a:r>
            <a:r>
              <a:rPr lang="ko-KR" altLang="ko-KR" sz="1000" dirty="0" err="1"/>
              <a:t>어드바이저'라는</a:t>
            </a:r>
            <a:r>
              <a:rPr lang="ko-KR" altLang="ko-KR" sz="1000" dirty="0"/>
              <a:t> 페르소나를 명확히 지정한다. 도메인을 한국 주식 시장으로 제한하고 최종 아웃풋의 개수(매수/매도 각 3개)</a:t>
            </a:r>
            <a:r>
              <a:rPr lang="ko-KR" altLang="ko-KR" sz="1000" dirty="0" err="1"/>
              <a:t>를</a:t>
            </a:r>
            <a:r>
              <a:rPr lang="ko-KR" altLang="ko-KR" sz="1000" dirty="0"/>
              <a:t> 강제하여, 모델이 분석 목적에서 벗어나지 않고 일관된 규칙하에 행동하도록 제어한다.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19B763F7-0010-17EC-129A-721A99D4194B}"/>
              </a:ext>
            </a:extLst>
          </p:cNvPr>
          <p:cNvSpPr/>
          <p:nvPr/>
        </p:nvSpPr>
        <p:spPr>
          <a:xfrm>
            <a:off x="6922008" y="3177540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ko-KR" altLang="ko-KR" sz="1000" b="1" dirty="0">
                <a:solidFill>
                  <a:schemeClr val="accent1"/>
                </a:solidFill>
              </a:rPr>
              <a:t>분석 대상 지정 (종목 및 피처)</a:t>
            </a:r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EBA36AB4-4650-D3B4-55D2-9D82BC491C76}"/>
              </a:ext>
            </a:extLst>
          </p:cNvPr>
          <p:cNvSpPr/>
          <p:nvPr/>
        </p:nvSpPr>
        <p:spPr>
          <a:xfrm>
            <a:off x="6922008" y="3396996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ko-KR" altLang="ko-KR" sz="1000" dirty="0"/>
              <a:t>입력 데이터의 범위를 30개 종목과 11개의 </a:t>
            </a:r>
            <a:r>
              <a:rPr lang="ko-KR" altLang="ko-KR" sz="1000" dirty="0" err="1"/>
              <a:t>기술적·기본적</a:t>
            </a:r>
            <a:r>
              <a:rPr lang="ko-KR" altLang="ko-KR" sz="1000" dirty="0"/>
              <a:t> 지표(피처)로 명시한다. 데이터 파이프라인({</a:t>
            </a:r>
            <a:r>
              <a:rPr lang="ko-KR" altLang="ko-KR" sz="1000" dirty="0" err="1"/>
              <a:t>contexts_text</a:t>
            </a:r>
            <a:r>
              <a:rPr lang="ko-KR" altLang="ko-KR" sz="1000" dirty="0"/>
              <a:t>})을 통해 가공된 정형 데이터를 프롬프트에 동적으로 주입하여, </a:t>
            </a:r>
            <a:r>
              <a:rPr lang="ko-KR" altLang="ko-KR" sz="1000" dirty="0" err="1"/>
              <a:t>LLM이</a:t>
            </a:r>
            <a:r>
              <a:rPr lang="ko-KR" altLang="ko-KR" sz="1000" dirty="0"/>
              <a:t> 실시간 시장 상황을 정확히 인지하고 분석할 수 있는 기반을 제공한다.</a:t>
            </a:r>
            <a:endParaRPr lang="en-US" sz="1000" dirty="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787C64E5-F617-4D69-4F07-D0E2844C6448}"/>
              </a:ext>
            </a:extLst>
          </p:cNvPr>
          <p:cNvSpPr/>
          <p:nvPr/>
        </p:nvSpPr>
        <p:spPr>
          <a:xfrm>
            <a:off x="6922008" y="4325112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altLang="ko-KR" sz="1000" b="1" dirty="0">
                <a:solidFill>
                  <a:schemeClr val="accent6"/>
                </a:solidFill>
              </a:rPr>
              <a:t>다각적 판단 기준 제시</a:t>
            </a:r>
            <a:endParaRPr lang="en-US" sz="1000" b="1" dirty="0">
              <a:solidFill>
                <a:schemeClr val="accent6"/>
              </a:solidFill>
            </a:endParaRP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B4D611B8-C1C4-B85B-B743-F6CB460B9928}"/>
              </a:ext>
            </a:extLst>
          </p:cNvPr>
          <p:cNvSpPr/>
          <p:nvPr/>
        </p:nvSpPr>
        <p:spPr>
          <a:xfrm>
            <a:off x="6922008" y="4544568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ko-KR" altLang="ko-KR" sz="1000" dirty="0"/>
              <a:t>수급, 모멘텀, </a:t>
            </a:r>
            <a:r>
              <a:rPr lang="ko-KR" altLang="ko-KR" sz="1000" dirty="0" err="1"/>
              <a:t>펀더멘탈</a:t>
            </a:r>
            <a:r>
              <a:rPr lang="ko-KR" altLang="ko-KR" sz="1000" dirty="0"/>
              <a:t>, 뉴스 심리, 시계열 추세(</a:t>
            </a:r>
            <a:r>
              <a:rPr lang="ko-KR" altLang="ko-KR" sz="1000" dirty="0" err="1"/>
              <a:t>Prophet</a:t>
            </a:r>
            <a:r>
              <a:rPr lang="ko-KR" altLang="ko-KR" sz="1000" dirty="0"/>
              <a:t>), 불확실성 등 총 6가지의 다각적 분석 기준을 제공한다. 정량적 지표와 정성적 지표를 융합한 정교한 </a:t>
            </a:r>
            <a:r>
              <a:rPr lang="ko-KR" altLang="ko-KR" sz="1000" dirty="0" err="1"/>
              <a:t>프롬프팅을</a:t>
            </a:r>
            <a:r>
              <a:rPr lang="ko-KR" altLang="ko-KR" sz="1000" dirty="0"/>
              <a:t> 통해 </a:t>
            </a:r>
            <a:r>
              <a:rPr lang="ko-KR" altLang="ko-KR" sz="1000" dirty="0" err="1"/>
              <a:t>LLM이</a:t>
            </a:r>
            <a:r>
              <a:rPr lang="ko-KR" altLang="ko-KR" sz="1000" dirty="0"/>
              <a:t> 단순 맹신이 아닌, 균형 잡힌 최종 매매 결정을 내리도록 유도한다.</a:t>
            </a:r>
            <a:endParaRPr lang="en-US" sz="1000" dirty="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E11AE159-D682-A2B1-AEE0-5FDFE862C9AF}"/>
              </a:ext>
            </a:extLst>
          </p:cNvPr>
          <p:cNvSpPr/>
          <p:nvPr/>
        </p:nvSpPr>
        <p:spPr>
          <a:xfrm>
            <a:off x="6922008" y="5472684"/>
            <a:ext cx="4501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altLang="ko-KR" sz="1000" b="1" dirty="0">
                <a:solidFill>
                  <a:schemeClr val="accent2"/>
                </a:solidFill>
              </a:rPr>
              <a:t>구조화된 출력 형식 (JSON) 강제</a:t>
            </a:r>
            <a:endParaRPr lang="en-US" sz="1000" b="1" dirty="0">
              <a:solidFill>
                <a:schemeClr val="accent2"/>
              </a:solidFill>
            </a:endParaRPr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9BD1EA64-FAE4-7012-AFFC-522BDE36E712}"/>
              </a:ext>
            </a:extLst>
          </p:cNvPr>
          <p:cNvSpPr/>
          <p:nvPr/>
        </p:nvSpPr>
        <p:spPr>
          <a:xfrm>
            <a:off x="6922008" y="5692140"/>
            <a:ext cx="450159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ko-KR" altLang="ko-KR" sz="1000" dirty="0"/>
              <a:t>결과물을 정형화된 JSON 포맷으로 출력하도록 강제하고, 판단 근거(</a:t>
            </a:r>
            <a:r>
              <a:rPr lang="ko-KR" altLang="ko-KR" sz="1000" dirty="0" err="1"/>
              <a:t>reason</a:t>
            </a:r>
            <a:r>
              <a:rPr lang="ko-KR" altLang="ko-KR" sz="1000" dirty="0"/>
              <a:t>)의 누락을 방지한다. 이를 통해 텍스트 파싱 에러를 원천 차단하여 </a:t>
            </a:r>
            <a:r>
              <a:rPr lang="ko-KR" altLang="ko-KR" sz="1000" dirty="0" err="1"/>
              <a:t>백엔드</a:t>
            </a:r>
            <a:r>
              <a:rPr lang="ko-KR" altLang="ko-KR" sz="1000" dirty="0"/>
              <a:t> 매매 시스템과의 연동 안정성을 극대화하고, 추후 디버깅과 모니터링을 위한 로그 기록을 용이하게 한다.</a:t>
            </a:r>
            <a:endParaRPr 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E9C720-13A4-0572-B5D4-944F934A14A5}"/>
              </a:ext>
            </a:extLst>
          </p:cNvPr>
          <p:cNvSpPr txBox="1"/>
          <p:nvPr/>
        </p:nvSpPr>
        <p:spPr>
          <a:xfrm>
            <a:off x="521208" y="1467356"/>
            <a:ext cx="5596404" cy="49398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ko-KR" altLang="en-US" sz="1050" dirty="0">
                <a:solidFill>
                  <a:srgbClr val="7030A0"/>
                </a:solidFill>
              </a:rPr>
              <a:t>당신은 한국 주식 시장의 </a:t>
            </a:r>
            <a:r>
              <a:rPr kumimoji="1" lang="en" altLang="ko-KR" sz="1050" dirty="0">
                <a:solidFill>
                  <a:srgbClr val="7030A0"/>
                </a:solidFill>
              </a:rPr>
              <a:t>AI </a:t>
            </a:r>
            <a:r>
              <a:rPr kumimoji="1" lang="ko-KR" altLang="en-US" sz="1050" dirty="0">
                <a:solidFill>
                  <a:srgbClr val="7030A0"/>
                </a:solidFill>
              </a:rPr>
              <a:t>트레이딩 </a:t>
            </a:r>
            <a:r>
              <a:rPr kumimoji="1" lang="ko-KR" altLang="en-US" sz="1050" dirty="0" err="1">
                <a:solidFill>
                  <a:srgbClr val="7030A0"/>
                </a:solidFill>
              </a:rPr>
              <a:t>어드바이저입니다</a:t>
            </a:r>
            <a:r>
              <a:rPr kumimoji="1" lang="en-US" altLang="ko-KR" sz="1050" dirty="0">
                <a:solidFill>
                  <a:srgbClr val="7030A0"/>
                </a:solidFill>
              </a:rPr>
              <a:t>.</a:t>
            </a:r>
          </a:p>
          <a:p>
            <a:r>
              <a:rPr kumimoji="1" lang="ko-KR" altLang="en-US" sz="1050" dirty="0">
                <a:solidFill>
                  <a:srgbClr val="7030A0"/>
                </a:solidFill>
              </a:rPr>
              <a:t>아래 </a:t>
            </a:r>
            <a:r>
              <a:rPr kumimoji="1" lang="en-US" altLang="ko-KR" sz="1050" dirty="0">
                <a:solidFill>
                  <a:srgbClr val="7030A0"/>
                </a:solidFill>
              </a:rPr>
              <a:t>30</a:t>
            </a:r>
            <a:r>
              <a:rPr kumimoji="1" lang="ko-KR" altLang="en-US" sz="1050" dirty="0">
                <a:solidFill>
                  <a:srgbClr val="7030A0"/>
                </a:solidFill>
              </a:rPr>
              <a:t>개 종목의 </a:t>
            </a:r>
            <a:r>
              <a:rPr kumimoji="1" lang="en-US" altLang="ko-KR" sz="1050" dirty="0">
                <a:solidFill>
                  <a:srgbClr val="7030A0"/>
                </a:solidFill>
              </a:rPr>
              <a:t>11</a:t>
            </a:r>
            <a:r>
              <a:rPr kumimoji="1" lang="ko-KR" altLang="en-US" sz="1050" dirty="0">
                <a:solidFill>
                  <a:srgbClr val="7030A0"/>
                </a:solidFill>
              </a:rPr>
              <a:t>개 피처를 분석하여 매수</a:t>
            </a:r>
            <a:r>
              <a:rPr kumimoji="1" lang="en-US" altLang="ko-KR" sz="1050" dirty="0">
                <a:solidFill>
                  <a:srgbClr val="7030A0"/>
                </a:solidFill>
              </a:rPr>
              <a:t>/</a:t>
            </a:r>
            <a:r>
              <a:rPr kumimoji="1" lang="ko-KR" altLang="en-US" sz="1050" dirty="0">
                <a:solidFill>
                  <a:srgbClr val="7030A0"/>
                </a:solidFill>
              </a:rPr>
              <a:t>매도 결정을 내려주세요</a:t>
            </a:r>
            <a:r>
              <a:rPr kumimoji="1" lang="en-US" altLang="ko-KR" sz="1050" dirty="0">
                <a:solidFill>
                  <a:srgbClr val="7030A0"/>
                </a:solidFill>
              </a:rPr>
              <a:t>.</a:t>
            </a:r>
          </a:p>
          <a:p>
            <a:endParaRPr kumimoji="1" lang="en-US" altLang="ko-KR" sz="1050" dirty="0"/>
          </a:p>
          <a:p>
            <a:r>
              <a:rPr kumimoji="1" lang="en-US" altLang="ko-KR" sz="1050" dirty="0">
                <a:solidFill>
                  <a:schemeClr val="accent1"/>
                </a:solidFill>
              </a:rPr>
              <a:t>## </a:t>
            </a:r>
            <a:r>
              <a:rPr kumimoji="1" lang="ko-KR" altLang="en-US" sz="1050" dirty="0">
                <a:solidFill>
                  <a:schemeClr val="accent1"/>
                </a:solidFill>
              </a:rPr>
              <a:t>분석 종목 </a:t>
            </a:r>
            <a:r>
              <a:rPr kumimoji="1" lang="en-US" altLang="ko-KR" sz="1050" dirty="0">
                <a:solidFill>
                  <a:schemeClr val="accent1"/>
                </a:solidFill>
              </a:rPr>
              <a:t>(30</a:t>
            </a:r>
            <a:r>
              <a:rPr kumimoji="1" lang="ko-KR" altLang="en-US" sz="1050" dirty="0">
                <a:solidFill>
                  <a:schemeClr val="accent1"/>
                </a:solidFill>
              </a:rPr>
              <a:t>개</a:t>
            </a:r>
            <a:r>
              <a:rPr kumimoji="1" lang="en-US" altLang="ko-KR" sz="1050" dirty="0">
                <a:solidFill>
                  <a:schemeClr val="accent1"/>
                </a:solidFill>
              </a:rPr>
              <a:t>)</a:t>
            </a:r>
          </a:p>
          <a:p>
            <a:r>
              <a:rPr kumimoji="1" lang="en-US" altLang="ko-KR" sz="1050" dirty="0">
                <a:solidFill>
                  <a:schemeClr val="accent1"/>
                </a:solidFill>
              </a:rPr>
              <a:t>{</a:t>
            </a:r>
            <a:r>
              <a:rPr kumimoji="1" lang="en" altLang="ko-KR" sz="1050" dirty="0" err="1">
                <a:solidFill>
                  <a:schemeClr val="accent1"/>
                </a:solidFill>
              </a:rPr>
              <a:t>contexts_text</a:t>
            </a:r>
            <a:r>
              <a:rPr kumimoji="1" lang="en" altLang="ko-KR" sz="1050" dirty="0">
                <a:solidFill>
                  <a:schemeClr val="accent1"/>
                </a:solidFill>
              </a:rPr>
              <a:t>}</a:t>
            </a:r>
          </a:p>
          <a:p>
            <a:endParaRPr kumimoji="1" lang="en" altLang="ko-KR" sz="1050" dirty="0"/>
          </a:p>
          <a:p>
            <a:r>
              <a:rPr kumimoji="1" lang="en" altLang="ko-KR" sz="1050" dirty="0">
                <a:solidFill>
                  <a:schemeClr val="accent6"/>
                </a:solidFill>
              </a:rPr>
              <a:t>## </a:t>
            </a:r>
            <a:r>
              <a:rPr kumimoji="1" lang="ko-KR" altLang="en-US" sz="1050" dirty="0">
                <a:solidFill>
                  <a:schemeClr val="accent6"/>
                </a:solidFill>
              </a:rPr>
              <a:t>판단 기준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1. </a:t>
            </a:r>
            <a:r>
              <a:rPr kumimoji="1" lang="ko-KR" altLang="en-US" sz="1050" dirty="0">
                <a:solidFill>
                  <a:schemeClr val="accent6"/>
                </a:solidFill>
              </a:rPr>
              <a:t>수급 흐름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ko-KR" altLang="en-US" sz="1050" dirty="0">
                <a:solidFill>
                  <a:schemeClr val="accent6"/>
                </a:solidFill>
              </a:rPr>
              <a:t>외국인</a:t>
            </a:r>
            <a:r>
              <a:rPr kumimoji="1" lang="en-US" altLang="ko-KR" sz="1050" dirty="0">
                <a:solidFill>
                  <a:schemeClr val="accent6"/>
                </a:solidFill>
              </a:rPr>
              <a:t>·</a:t>
            </a:r>
            <a:r>
              <a:rPr kumimoji="1" lang="ko-KR" altLang="en-US" sz="1050" dirty="0">
                <a:solidFill>
                  <a:schemeClr val="accent6"/>
                </a:solidFill>
              </a:rPr>
              <a:t>기관 순매수가 동시에 양수면 강한 매수 신호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2. </a:t>
            </a:r>
            <a:r>
              <a:rPr kumimoji="1" lang="ko-KR" altLang="en-US" sz="1050" dirty="0">
                <a:solidFill>
                  <a:schemeClr val="accent6"/>
                </a:solidFill>
              </a:rPr>
              <a:t>가격 모멘텀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morning_return</a:t>
            </a:r>
            <a:r>
              <a:rPr kumimoji="1" lang="en" altLang="ko-KR" sz="1050" dirty="0">
                <a:solidFill>
                  <a:schemeClr val="accent6"/>
                </a:solidFill>
              </a:rPr>
              <a:t>,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close_position</a:t>
            </a:r>
            <a:r>
              <a:rPr kumimoji="1" lang="ko-KR" altLang="en-US" sz="1050" dirty="0">
                <a:solidFill>
                  <a:schemeClr val="accent6"/>
                </a:solidFill>
              </a:rPr>
              <a:t>이 높으면 단기 강세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3. </a:t>
            </a:r>
            <a:r>
              <a:rPr kumimoji="1" lang="ko-KR" altLang="en-US" sz="1050" dirty="0" err="1">
                <a:solidFill>
                  <a:schemeClr val="accent6"/>
                </a:solidFill>
              </a:rPr>
              <a:t>펀더멘탈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en" altLang="ko-KR" sz="1050" dirty="0">
                <a:solidFill>
                  <a:schemeClr val="accent6"/>
                </a:solidFill>
              </a:rPr>
              <a:t>PER </a:t>
            </a:r>
            <a:r>
              <a:rPr kumimoji="1" lang="ko-KR" altLang="en-US" sz="1050" dirty="0">
                <a:solidFill>
                  <a:schemeClr val="accent6"/>
                </a:solidFill>
              </a:rPr>
              <a:t>낮고 </a:t>
            </a:r>
            <a:r>
              <a:rPr kumimoji="1" lang="en" altLang="ko-KR" sz="1050" dirty="0">
                <a:solidFill>
                  <a:schemeClr val="accent6"/>
                </a:solidFill>
              </a:rPr>
              <a:t>ROE·</a:t>
            </a:r>
            <a:r>
              <a:rPr kumimoji="1" lang="ko-KR" altLang="en-US" sz="1050" dirty="0">
                <a:solidFill>
                  <a:schemeClr val="accent6"/>
                </a:solidFill>
              </a:rPr>
              <a:t>영업이익률 높으면 중장기 매력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4. </a:t>
            </a:r>
            <a:r>
              <a:rPr kumimoji="1" lang="ko-KR" altLang="en-US" sz="1050" dirty="0">
                <a:solidFill>
                  <a:schemeClr val="accent6"/>
                </a:solidFill>
              </a:rPr>
              <a:t>뉴스 심리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sentiment_score</a:t>
            </a:r>
            <a:r>
              <a:rPr kumimoji="1" lang="ko-KR" altLang="en-US" sz="1050" dirty="0">
                <a:solidFill>
                  <a:schemeClr val="accent6"/>
                </a:solidFill>
              </a:rPr>
              <a:t>가 </a:t>
            </a:r>
            <a:r>
              <a:rPr kumimoji="1" lang="en-US" altLang="ko-KR" sz="1050" dirty="0">
                <a:solidFill>
                  <a:schemeClr val="accent6"/>
                </a:solidFill>
              </a:rPr>
              <a:t>0.5 </a:t>
            </a:r>
            <a:r>
              <a:rPr kumimoji="1" lang="ko-KR" altLang="en-US" sz="1050" dirty="0">
                <a:solidFill>
                  <a:schemeClr val="accent6"/>
                </a:solidFill>
              </a:rPr>
              <a:t>이상이면 호재 집중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5. </a:t>
            </a:r>
            <a:r>
              <a:rPr kumimoji="1" lang="ko-KR" altLang="en-US" sz="1050" dirty="0">
                <a:solidFill>
                  <a:schemeClr val="accent6"/>
                </a:solidFill>
              </a:rPr>
              <a:t>추세 방향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prophet_price_trend</a:t>
            </a:r>
            <a:r>
              <a:rPr kumimoji="1" lang="en" altLang="ko-KR" sz="1050" dirty="0">
                <a:solidFill>
                  <a:schemeClr val="accent6"/>
                </a:solidFill>
              </a:rPr>
              <a:t> </a:t>
            </a:r>
            <a:r>
              <a:rPr kumimoji="1" lang="ko-KR" altLang="en-US" sz="1050" dirty="0">
                <a:solidFill>
                  <a:schemeClr val="accent6"/>
                </a:solidFill>
              </a:rPr>
              <a:t>양수이고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prophet_volume_trend</a:t>
            </a:r>
            <a:r>
              <a:rPr kumimoji="1" lang="ko-KR" altLang="en-US" sz="1050" dirty="0">
                <a:solidFill>
                  <a:schemeClr val="accent6"/>
                </a:solidFill>
              </a:rPr>
              <a:t>도 양수면 상승 기조</a:t>
            </a:r>
          </a:p>
          <a:p>
            <a:r>
              <a:rPr kumimoji="1" lang="en-US" altLang="ko-KR" sz="1050" dirty="0">
                <a:solidFill>
                  <a:schemeClr val="accent6"/>
                </a:solidFill>
              </a:rPr>
              <a:t>6. </a:t>
            </a:r>
            <a:r>
              <a:rPr kumimoji="1" lang="ko-KR" altLang="en-US" sz="1050" dirty="0">
                <a:solidFill>
                  <a:schemeClr val="accent6"/>
                </a:solidFill>
              </a:rPr>
              <a:t>불확실성</a:t>
            </a:r>
            <a:r>
              <a:rPr kumimoji="1" lang="en-US" altLang="ko-KR" sz="1050" dirty="0">
                <a:solidFill>
                  <a:schemeClr val="accent6"/>
                </a:solidFill>
              </a:rPr>
              <a:t>: </a:t>
            </a:r>
            <a:r>
              <a:rPr kumimoji="1" lang="en" altLang="ko-KR" sz="1050" dirty="0" err="1">
                <a:solidFill>
                  <a:schemeClr val="accent6"/>
                </a:solidFill>
              </a:rPr>
              <a:t>prophet_price_uncertainty</a:t>
            </a:r>
            <a:r>
              <a:rPr kumimoji="1" lang="ko-KR" altLang="en-US" sz="1050" dirty="0">
                <a:solidFill>
                  <a:schemeClr val="accent6"/>
                </a:solidFill>
              </a:rPr>
              <a:t>가 크면 판단 보류 고려</a:t>
            </a:r>
          </a:p>
          <a:p>
            <a:endParaRPr kumimoji="1" lang="ko-KR" altLang="en-US" sz="1050" dirty="0"/>
          </a:p>
          <a:p>
            <a:r>
              <a:rPr kumimoji="1" lang="en-US" altLang="ko-KR" sz="1050" dirty="0">
                <a:solidFill>
                  <a:schemeClr val="accent2"/>
                </a:solidFill>
              </a:rPr>
              <a:t>## </a:t>
            </a:r>
            <a:r>
              <a:rPr kumimoji="1" lang="ko-KR" altLang="en-US" sz="1050" dirty="0">
                <a:solidFill>
                  <a:schemeClr val="accent2"/>
                </a:solidFill>
              </a:rPr>
              <a:t>출력 형식 </a:t>
            </a:r>
            <a:r>
              <a:rPr kumimoji="1" lang="en-US" altLang="ko-KR" sz="1050" dirty="0">
                <a:solidFill>
                  <a:schemeClr val="accent2"/>
                </a:solidFill>
              </a:rPr>
              <a:t>(</a:t>
            </a:r>
            <a:r>
              <a:rPr kumimoji="1" lang="en" altLang="ko-KR" sz="1050" dirty="0">
                <a:solidFill>
                  <a:schemeClr val="accent2"/>
                </a:solidFill>
              </a:rPr>
              <a:t>JSON)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{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"buy_top3": [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"005930", "reason": "</a:t>
            </a:r>
            <a:r>
              <a:rPr kumimoji="1" lang="ko-KR" altLang="en-US" sz="1050" dirty="0">
                <a:solidFill>
                  <a:schemeClr val="accent2"/>
                </a:solidFill>
              </a:rPr>
              <a:t>외국인</a:t>
            </a:r>
            <a:r>
              <a:rPr kumimoji="1" lang="en-US" altLang="ko-KR" sz="1050" dirty="0">
                <a:solidFill>
                  <a:schemeClr val="accent2"/>
                </a:solidFill>
              </a:rPr>
              <a:t>·</a:t>
            </a:r>
            <a:r>
              <a:rPr kumimoji="1" lang="ko-KR" altLang="en-US" sz="1050" dirty="0">
                <a:solidFill>
                  <a:schemeClr val="accent2"/>
                </a:solidFill>
              </a:rPr>
              <a:t>기관 동시 순매수 </a:t>
            </a:r>
            <a:r>
              <a:rPr kumimoji="1" lang="en-US" altLang="ko-KR" sz="1050" dirty="0">
                <a:solidFill>
                  <a:schemeClr val="accent2"/>
                </a:solidFill>
              </a:rPr>
              <a:t>+ </a:t>
            </a:r>
            <a:r>
              <a:rPr kumimoji="1" lang="ko-KR" altLang="en-US" sz="1050" dirty="0">
                <a:solidFill>
                  <a:schemeClr val="accent2"/>
                </a:solidFill>
              </a:rPr>
              <a:t>가격 상승 추세 </a:t>
            </a:r>
            <a:r>
              <a:rPr kumimoji="1" lang="en-US" altLang="ko-KR" sz="1050" dirty="0">
                <a:solidFill>
                  <a:schemeClr val="accent2"/>
                </a:solidFill>
              </a:rPr>
              <a:t>+ </a:t>
            </a:r>
            <a:r>
              <a:rPr kumimoji="1" lang="ko-KR" altLang="en-US" sz="1050" dirty="0">
                <a:solidFill>
                  <a:schemeClr val="accent2"/>
                </a:solidFill>
              </a:rPr>
              <a:t>긍정 뉴스</a:t>
            </a:r>
            <a:r>
              <a:rPr kumimoji="1" lang="en-US" altLang="ko-KR" sz="1050" dirty="0">
                <a:solidFill>
                  <a:schemeClr val="accent2"/>
                </a:solidFill>
              </a:rPr>
              <a:t>"},</a:t>
            </a:r>
          </a:p>
          <a:p>
            <a:r>
              <a:rPr kumimoji="1" lang="en-US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"000660", "reason": "..."},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"051910", "reason": "..."}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],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"sell_top3": [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"005380", "reason": "</a:t>
            </a:r>
            <a:r>
              <a:rPr kumimoji="1" lang="ko-KR" altLang="en-US" sz="1050" dirty="0">
                <a:solidFill>
                  <a:schemeClr val="accent2"/>
                </a:solidFill>
              </a:rPr>
              <a:t>외국인</a:t>
            </a:r>
            <a:r>
              <a:rPr kumimoji="1" lang="en-US" altLang="ko-KR" sz="1050" dirty="0">
                <a:solidFill>
                  <a:schemeClr val="accent2"/>
                </a:solidFill>
              </a:rPr>
              <a:t>·</a:t>
            </a:r>
            <a:r>
              <a:rPr kumimoji="1" lang="ko-KR" altLang="en-US" sz="1050" dirty="0">
                <a:solidFill>
                  <a:schemeClr val="accent2"/>
                </a:solidFill>
              </a:rPr>
              <a:t>기관 동시 순매도 </a:t>
            </a:r>
            <a:r>
              <a:rPr kumimoji="1" lang="en-US" altLang="ko-KR" sz="1050" dirty="0">
                <a:solidFill>
                  <a:schemeClr val="accent2"/>
                </a:solidFill>
              </a:rPr>
              <a:t>+ </a:t>
            </a:r>
            <a:r>
              <a:rPr kumimoji="1" lang="ko-KR" altLang="en-US" sz="1050" dirty="0">
                <a:solidFill>
                  <a:schemeClr val="accent2"/>
                </a:solidFill>
              </a:rPr>
              <a:t>가격 하락 추세 </a:t>
            </a:r>
            <a:r>
              <a:rPr kumimoji="1" lang="en-US" altLang="ko-KR" sz="1050" dirty="0">
                <a:solidFill>
                  <a:schemeClr val="accent2"/>
                </a:solidFill>
              </a:rPr>
              <a:t>+ </a:t>
            </a:r>
            <a:r>
              <a:rPr kumimoji="1" lang="ko-KR" altLang="en-US" sz="1050" dirty="0">
                <a:solidFill>
                  <a:schemeClr val="accent2"/>
                </a:solidFill>
              </a:rPr>
              <a:t>부정 뉴스</a:t>
            </a:r>
            <a:r>
              <a:rPr kumimoji="1" lang="en-US" altLang="ko-KR" sz="1050" dirty="0">
                <a:solidFill>
                  <a:schemeClr val="accent2"/>
                </a:solidFill>
              </a:rPr>
              <a:t>"},</a:t>
            </a:r>
          </a:p>
          <a:p>
            <a:r>
              <a:rPr kumimoji="1" lang="en-US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"035420", "reason": "..."},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  {"</a:t>
            </a:r>
            <a:r>
              <a:rPr kumimoji="1" lang="en" altLang="ko-KR" sz="1050" dirty="0" err="1">
                <a:solidFill>
                  <a:schemeClr val="accent2"/>
                </a:solidFill>
              </a:rPr>
              <a:t>stock_code</a:t>
            </a:r>
            <a:r>
              <a:rPr kumimoji="1" lang="en" altLang="ko-KR" sz="1050" dirty="0">
                <a:solidFill>
                  <a:schemeClr val="accent2"/>
                </a:solidFill>
              </a:rPr>
              <a:t>": "068270", "reason": "..."}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  ]</a:t>
            </a:r>
          </a:p>
          <a:p>
            <a:r>
              <a:rPr kumimoji="1" lang="en" altLang="ko-KR" sz="1050" dirty="0">
                <a:solidFill>
                  <a:schemeClr val="accent2"/>
                </a:solidFill>
              </a:rPr>
              <a:t>}</a:t>
            </a:r>
          </a:p>
          <a:p>
            <a:endParaRPr kumimoji="1" lang="en" altLang="ko-KR" sz="1050" dirty="0"/>
          </a:p>
          <a:p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중요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반드시 </a:t>
            </a:r>
            <a:r>
              <a:rPr kumimoji="1" lang="en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JSON 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형식으로만 답변하고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설명은 </a:t>
            </a:r>
            <a:r>
              <a:rPr kumimoji="1" lang="en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reason 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필드에 포함하세요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각 매수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매도 결정은 정확히 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kumimoji="1" lang="ko-KR" alt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개씩이어야</a:t>
            </a:r>
            <a:r>
              <a: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합니다</a:t>
            </a:r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kumimoji="1" lang="ko-KR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8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r>
              <a:rPr lang="en-US" altLang="ko-KR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전체 분석 프로세스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3축 분석 → 11개 피처 → Gemini 판단 → 룰 기반 안전망 — 두 단계 이중 검증 후 KIS 자동 주문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07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EEFF1"/>
          </a:solidFill>
          <a:ln w="15240">
            <a:solidFill>
              <a:srgbClr val="B7BBC1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100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565A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01368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915407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9F0F7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961127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30종목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13855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327893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9F0F7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373613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7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KIS·DART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26341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40380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2F0EB"/>
          </a:solidFill>
          <a:ln w="15240">
            <a:solidFill>
              <a:srgbClr val="0B6B52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786100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1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KR-FinBERT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8828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152867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CE9F6"/>
          </a:solidFill>
          <a:ln w="15240">
            <a:solidFill>
              <a:srgbClr val="4B3B96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98587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3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51315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7565354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E9F0F7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611074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피처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863802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977840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F6E8E7"/>
          </a:solidFill>
          <a:ln w="15240">
            <a:solidFill>
              <a:srgbClr val="A5322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023560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A5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A5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매수·매도 TOP3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276288" y="2108562"/>
            <a:ext cx="114039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0390327" y="1616202"/>
            <a:ext cx="1298448" cy="903840"/>
          </a:xfrm>
          <a:prstGeom prst="roundRect">
            <a:avLst>
              <a:gd name="adj" fmla="val 6667"/>
            </a:avLst>
          </a:prstGeom>
          <a:solidFill>
            <a:srgbClr val="F6EFDC"/>
          </a:solidFill>
          <a:ln w="15240">
            <a:solidFill>
              <a:srgbClr val="97680F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10436047" y="1616202"/>
            <a:ext cx="1207008" cy="90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안전망 필터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33127" y="2554361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충족?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66668" y="3014129"/>
            <a:ext cx="3646300" cy="45720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2123858" y="301905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  →  KIS 모의투자 자동 주문 실행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278728" y="299923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EE2D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278728" y="299923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A3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 →  주문 보류 (당일 스킵)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02920" y="371923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이중 검증 구조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02920" y="4005072"/>
            <a:ext cx="5410048" cy="1737360"/>
          </a:xfrm>
          <a:prstGeom prst="roundRect">
            <a:avLst>
              <a:gd name="adj" fmla="val 2800"/>
            </a:avLst>
          </a:prstGeom>
          <a:solidFill>
            <a:srgbClr val="F6E8E7"/>
          </a:solidFill>
          <a:ln w="12700">
            <a:solidFill>
              <a:srgbClr val="E6CBC9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47286" y="4194730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생성형 AI (Gemini)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11878" y="4597066"/>
            <a:ext cx="4806544" cy="85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피처 + 보유 여부를 한 번에 받아 종합 판단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매수·매도 TOP3 후보를 구조화 JSON으로 산출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수치로 표현하기 어려운 맥락을 유연하게 해석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278728" y="4014214"/>
            <a:ext cx="5410048" cy="1728217"/>
          </a:xfrm>
          <a:prstGeom prst="roundRect">
            <a:avLst>
              <a:gd name="adj" fmla="val 2800"/>
            </a:avLst>
          </a:prstGeom>
          <a:solidFill>
            <a:srgbClr val="F6EFDC"/>
          </a:solidFill>
          <a:ln w="12700">
            <a:solidFill>
              <a:srgbClr val="E3D6B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523094" y="4194730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· 룰 기반 안전망 필터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705974" y="4597066"/>
            <a:ext cx="4806544" cy="85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수급·감성·추세 조건을 다시 검증 — Gemini 자유도 제어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미충족 시 주문 자동 보류 (리스크 차단)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리뷰어 LLM 대비 비용↓ · 신뢰성↑ · 엄격함이 강점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r>
              <a:rPr lang="en-US" altLang="ko-KR" sz="27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en-US" sz="27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최종 정리 및 인사이트</a:t>
            </a:r>
            <a:endParaRPr lang="en-US" sz="2700" dirty="0"/>
          </a:p>
        </p:txBody>
      </p:sp>
      <p:pic>
        <p:nvPicPr>
          <p:cNvPr id="3" name="Image 0" descr="ass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9184"/>
            <a:ext cx="868680" cy="30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" y="9601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분석을 종합 판단하는 구조 — 생성형 AI의 유연성과 룰 기반 검증의 안정성을 결합했다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81A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" y="6656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주식 데이터 분석 및 자동매매 시스템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51215" y="6656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이인범 · A74066   |   08 / 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572768"/>
            <a:ext cx="4114800" cy="3310128"/>
          </a:xfrm>
          <a:prstGeom prst="roundRect">
            <a:avLst>
              <a:gd name="adj" fmla="val 1934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2376" y="171907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요약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" y="2121408"/>
            <a:ext cx="36758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0B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30 필터링  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4지표·StandardScaler·가중합산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" y="2578608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22376" y="2651760"/>
            <a:ext cx="36758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4B3B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3B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3축 분석 → 11개 피처  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정량7·감성1·시계열3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" y="3108960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22376" y="3182112"/>
            <a:ext cx="36758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A532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68680" y="3182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판단  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Gemini 매수·매도 TOP3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2376" y="3639312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2376" y="3712464"/>
            <a:ext cx="36758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9768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68680" y="3712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 안전망  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수급·감성·추세 조건 검증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" y="4169664"/>
            <a:ext cx="3675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22376" y="4242816"/>
            <a:ext cx="36758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881A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68680" y="42428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1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자동 매매  </a:t>
            </a:r>
            <a:r>
              <a:rPr lang="en-US" sz="900" dirty="0">
                <a:solidFill>
                  <a:srgbClr val="7C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모의투자 API 자동 주문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83480" y="1572768"/>
            <a:ext cx="6705295" cy="960120"/>
          </a:xfrm>
          <a:prstGeom prst="roundRect">
            <a:avLst>
              <a:gd name="adj" fmla="val 6667"/>
            </a:avLst>
          </a:prstGeom>
          <a:solidFill>
            <a:srgbClr val="E9F0F7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148072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788152" y="1664208"/>
            <a:ext cx="5717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다축 종합이 단일 지표보다 효율적
</a:t>
            </a: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수급·가격·재무·뉴스·추세를 교차 검증 — 선행연구가 뒷받침한다.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983480" y="2624328"/>
            <a:ext cx="6705295" cy="960120"/>
          </a:xfrm>
          <a:prstGeom prst="roundRect">
            <a:avLst>
              <a:gd name="adj" fmla="val 6667"/>
            </a:avLst>
          </a:prstGeom>
          <a:solidFill>
            <a:srgbClr val="F6E8E7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148072" y="2788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53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788152" y="2715768"/>
            <a:ext cx="5717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 + 안정성의 이중 검증
</a:t>
            </a: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AI의 정성 판단을 룰 기반으로 다시 검증해 과도한 판단을 차단한다.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983480" y="3675888"/>
            <a:ext cx="6705295" cy="960120"/>
          </a:xfrm>
          <a:prstGeom prst="roundRect">
            <a:avLst>
              <a:gd name="adj" fmla="val 6667"/>
            </a:avLst>
          </a:prstGeom>
          <a:solidFill>
            <a:srgbClr val="F6EFDC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148072" y="3840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788152" y="3767328"/>
            <a:ext cx="5717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02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지식 기반 설계
</a:t>
            </a:r>
            <a:r>
              <a:rPr lang="en-US" sz="98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StandardScaler·가중합산·피처 선택을 근거와 함께 설계해 재현 가능하다.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02920" y="4992624"/>
            <a:ext cx="11185855" cy="1408176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ECE0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58952" y="5102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가치 · 향후 확장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58952" y="5449824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9F0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758952" y="5449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금융권 — 분석 데이터를 업무에 즉시 활용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971032" y="5449824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2F0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971032" y="5449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투자자 — 모니터링 부담 없이 본업 집중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58952" y="5925312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6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 </a:t>
            </a:r>
            <a:r>
              <a:rPr lang="en-US" sz="1000" dirty="0">
                <a:solidFill>
                  <a:srgbClr val="3C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공시 데이터 확장 · 다변량 시계열(LSTM) · 멀티유저(per-user KIS) 구조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logo_mar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57200"/>
            <a:ext cx="1298448" cy="395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468880"/>
            <a:ext cx="69443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애플리케이션</a:t>
            </a:r>
            <a:r>
              <a:rPr lang="en-US" altLang="ko-KR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시연</a:t>
            </a:r>
          </a:p>
        </p:txBody>
      </p:sp>
      <p:sp>
        <p:nvSpPr>
          <p:cNvPr id="4" name="Shape 1"/>
          <p:cNvSpPr/>
          <p:nvPr/>
        </p:nvSpPr>
        <p:spPr>
          <a:xfrm>
            <a:off x="914400" y="3913632"/>
            <a:ext cx="6675120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hlinkClick r:id="rId4"/>
            <a:extLst>
              <a:ext uri="{FF2B5EF4-FFF2-40B4-BE49-F238E27FC236}">
                <a16:creationId xmlns:a16="http://schemas.microsoft.com/office/drawing/2014/main" id="{C1339543-FDBE-AFDA-0CC6-B08421FCDF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687" t="18314" r="18878" b="19653"/>
          <a:stretch>
            <a:fillRect/>
          </a:stretch>
        </p:blipFill>
        <p:spPr>
          <a:xfrm>
            <a:off x="8332341" y="2397921"/>
            <a:ext cx="1859622" cy="1890615"/>
          </a:xfrm>
          <a:prstGeom prst="roundRect">
            <a:avLst>
              <a:gd name="adj" fmla="val 17968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2736</Words>
  <Application>Microsoft Macintosh PowerPoint</Application>
  <PresentationFormat>와이드스크린</PresentationFormat>
  <Paragraphs>321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주식 데이터 분석 및 자동매매 시스템 — 최종 발표</dc:title>
  <dc:subject>PptxGenJS Presentation</dc:subject>
  <dc:creator>이인범</dc:creator>
  <cp:lastModifiedBy>이인범</cp:lastModifiedBy>
  <cp:revision>4</cp:revision>
  <dcterms:created xsi:type="dcterms:W3CDTF">2026-06-17T05:31:18Z</dcterms:created>
  <dcterms:modified xsi:type="dcterms:W3CDTF">2026-06-17T13:03:08Z</dcterms:modified>
</cp:coreProperties>
</file>