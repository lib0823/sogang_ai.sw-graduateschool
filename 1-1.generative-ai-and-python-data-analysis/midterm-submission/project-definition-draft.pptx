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8" r:id="rId4"/>
    <p:sldId id="259" r:id="rId5"/>
    <p:sldId id="269" r:id="rId6"/>
    <p:sldId id="260" r:id="rId7"/>
    <p:sldId id="273" r:id="rId8"/>
    <p:sldId id="270" r:id="rId9"/>
    <p:sldId id="261" r:id="rId10"/>
    <p:sldId id="262" r:id="rId11"/>
    <p:sldId id="266" r:id="rId12"/>
    <p:sldId id="274" r:id="rId13"/>
    <p:sldId id="267" r:id="rId14"/>
    <p:sldId id="263" r:id="rId15"/>
    <p:sldId id="271" r:id="rId16"/>
    <p:sldId id="264" r:id="rId17"/>
    <p:sldId id="272" r:id="rId18"/>
    <p:sldId id="265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28" autoAdjust="0"/>
    <p:restoredTop sz="94660"/>
  </p:normalViewPr>
  <p:slideViewPr>
    <p:cSldViewPr snapToGrid="0">
      <p:cViewPr>
        <p:scale>
          <a:sx n="128" d="100"/>
          <a:sy n="128" d="100"/>
        </p:scale>
        <p:origin x="8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D201-CF38-4575-BE95-0B3387D118A7}" type="datetimeFigureOut">
              <a:rPr lang="ko-KR" altLang="en-US" smtClean="0"/>
              <a:t>2026. 4. 26.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DC0B-A182-43E4-8545-1309C8D63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652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D201-CF38-4575-BE95-0B3387D118A7}" type="datetimeFigureOut">
              <a:rPr lang="ko-KR" altLang="en-US" smtClean="0"/>
              <a:t>2026. 4. 26.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DC0B-A182-43E4-8545-1309C8D63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35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D201-CF38-4575-BE95-0B3387D118A7}" type="datetimeFigureOut">
              <a:rPr lang="ko-KR" altLang="en-US" smtClean="0"/>
              <a:t>2026. 4. 26.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DC0B-A182-43E4-8545-1309C8D63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345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D201-CF38-4575-BE95-0B3387D118A7}" type="datetimeFigureOut">
              <a:rPr lang="ko-KR" altLang="en-US" smtClean="0"/>
              <a:t>2026. 4. 26.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DC0B-A182-43E4-8545-1309C8D63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853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D201-CF38-4575-BE95-0B3387D118A7}" type="datetimeFigureOut">
              <a:rPr lang="ko-KR" altLang="en-US" smtClean="0"/>
              <a:t>2026. 4. 26.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DC0B-A182-43E4-8545-1309C8D63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118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D201-CF38-4575-BE95-0B3387D118A7}" type="datetimeFigureOut">
              <a:rPr lang="ko-KR" altLang="en-US" smtClean="0"/>
              <a:t>2026. 4. 26.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DC0B-A182-43E4-8545-1309C8D63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512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D201-CF38-4575-BE95-0B3387D118A7}" type="datetimeFigureOut">
              <a:rPr lang="ko-KR" altLang="en-US" smtClean="0"/>
              <a:t>2026. 4. 26.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DC0B-A182-43E4-8545-1309C8D63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486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D201-CF38-4575-BE95-0B3387D118A7}" type="datetimeFigureOut">
              <a:rPr lang="ko-KR" altLang="en-US" smtClean="0"/>
              <a:t>2026. 4. 26.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DC0B-A182-43E4-8545-1309C8D63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43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D201-CF38-4575-BE95-0B3387D118A7}" type="datetimeFigureOut">
              <a:rPr lang="ko-KR" altLang="en-US" smtClean="0"/>
              <a:t>2026. 4. 26.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DC0B-A182-43E4-8545-1309C8D63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368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D201-CF38-4575-BE95-0B3387D118A7}" type="datetimeFigureOut">
              <a:rPr lang="ko-KR" altLang="en-US" smtClean="0"/>
              <a:t>2026. 4. 26.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DC0B-A182-43E4-8545-1309C8D63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807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D201-CF38-4575-BE95-0B3387D118A7}" type="datetimeFigureOut">
              <a:rPr lang="ko-KR" altLang="en-US" smtClean="0"/>
              <a:t>2026. 4. 26.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DC0B-A182-43E4-8545-1309C8D63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790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>
            <a:extLst>
              <a:ext uri="{FF2B5EF4-FFF2-40B4-BE49-F238E27FC236}">
                <a16:creationId xmlns:a16="http://schemas.microsoft.com/office/drawing/2014/main" id="{3CDE1124-A6EE-4959-8244-B107D58E21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428343"/>
            <a:ext cx="12192000" cy="642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079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래픽 9">
            <a:extLst>
              <a:ext uri="{FF2B5EF4-FFF2-40B4-BE49-F238E27FC236}">
                <a16:creationId xmlns:a16="http://schemas.microsoft.com/office/drawing/2014/main" id="{3BDF4EAB-1CB0-4A07-A933-10B1971872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58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DD201-CF38-4575-BE95-0B3387D118A7}" type="datetimeFigureOut">
              <a:rPr lang="ko-KR" altLang="en-US" smtClean="0"/>
              <a:t>2026. 4. 26.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CDC0B-A182-43E4-8545-1309C8D63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9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FB93334-2907-47FB-9C48-C08AEF9D475E}"/>
              </a:ext>
            </a:extLst>
          </p:cNvPr>
          <p:cNvSpPr txBox="1"/>
          <p:nvPr/>
        </p:nvSpPr>
        <p:spPr>
          <a:xfrm>
            <a:off x="4700791" y="2075944"/>
            <a:ext cx="6773424" cy="20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36425" defTabSz="1102548">
              <a:lnSpc>
                <a:spcPct val="114000"/>
              </a:lnSpc>
              <a:defRPr/>
            </a:pPr>
            <a:r>
              <a:rPr lang="en" altLang="ko-KR" sz="4000" b="1" dirty="0">
                <a:solidFill>
                  <a:schemeClr val="bg1"/>
                </a:solidFill>
              </a:rPr>
              <a:t>AI </a:t>
            </a:r>
            <a:r>
              <a:rPr lang="ko-KR" altLang="en-US" sz="4000" b="1" dirty="0">
                <a:solidFill>
                  <a:schemeClr val="bg1"/>
                </a:solidFill>
              </a:rPr>
              <a:t>기반 주식 데이터 분석 및 자동매매 시스템</a:t>
            </a:r>
            <a:endParaRPr lang="en-US" altLang="ko-KR" sz="4000" b="1" dirty="0">
              <a:solidFill>
                <a:schemeClr val="bg1"/>
              </a:solidFill>
              <a:latin typeface="+mj-ea"/>
              <a:cs typeface="Pretendard SemiBold" panose="02000703000000020004" pitchFamily="50" charset="-127"/>
            </a:endParaRPr>
          </a:p>
          <a:p>
            <a:pPr indent="-436425" defTabSz="1102548">
              <a:lnSpc>
                <a:spcPct val="114000"/>
              </a:lnSpc>
              <a:defRPr/>
            </a:pP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 주식 시장 데이터 분석부터 자동 매매 실행까지 </a:t>
            </a:r>
            <a:endParaRPr lang="en-US" altLang="ko-KR" sz="1600" dirty="0">
              <a:solidFill>
                <a:schemeClr val="bg1">
                  <a:lumMod val="65000"/>
                </a:schemeClr>
              </a:solidFill>
            </a:endParaRPr>
          </a:p>
          <a:p>
            <a:pPr indent="-436425" defTabSz="1102548">
              <a:lnSpc>
                <a:spcPct val="114000"/>
              </a:lnSpc>
              <a:defRPr/>
            </a:pP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" altLang="ko-KR" sz="1600" dirty="0">
                <a:solidFill>
                  <a:schemeClr val="bg1">
                    <a:lumMod val="65000"/>
                  </a:schemeClr>
                </a:solidFill>
              </a:rPr>
              <a:t>Python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과 생성형 </a:t>
            </a:r>
            <a:r>
              <a:rPr lang="en" altLang="ko-KR" sz="1600" dirty="0">
                <a:solidFill>
                  <a:schemeClr val="bg1">
                    <a:lumMod val="65000"/>
                  </a:schemeClr>
                </a:solidFill>
              </a:rPr>
              <a:t>AI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로 구현한 데이터 분석 프로젝트</a:t>
            </a:r>
            <a:endParaRPr lang="en-US" altLang="ko-KR" sz="1600" b="1" i="1" dirty="0">
              <a:solidFill>
                <a:schemeClr val="bg1">
                  <a:lumMod val="65000"/>
                </a:schemeClr>
              </a:solidFill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D29AD-B726-4C7F-BBCD-4E8B68CE7D0C}"/>
              </a:ext>
            </a:extLst>
          </p:cNvPr>
          <p:cNvSpPr txBox="1"/>
          <p:nvPr/>
        </p:nvSpPr>
        <p:spPr>
          <a:xfrm>
            <a:off x="7827818" y="4440257"/>
            <a:ext cx="3359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bg1"/>
                </a:solidFill>
                <a:latin typeface="+mn-ea"/>
                <a:cs typeface="맑은 고딕 Semilight" panose="020B0502040204020203" pitchFamily="50" charset="-127"/>
              </a:rPr>
              <a:t>AI·SW</a:t>
            </a:r>
            <a:r>
              <a:rPr lang="ko-KR" altLang="en-US" dirty="0">
                <a:solidFill>
                  <a:schemeClr val="bg1"/>
                </a:solidFill>
                <a:latin typeface="+mn-ea"/>
                <a:cs typeface="맑은 고딕 Semilight" panose="020B0502040204020203" pitchFamily="50" charset="-127"/>
              </a:rPr>
              <a:t>대학원 이인범 </a:t>
            </a:r>
            <a:r>
              <a:rPr lang="en-US" altLang="ko-KR" dirty="0">
                <a:solidFill>
                  <a:schemeClr val="bg1"/>
                </a:solidFill>
                <a:latin typeface="+mn-ea"/>
                <a:cs typeface="맑은 고딕 Semilight" panose="020B0502040204020203" pitchFamily="50" charset="-127"/>
              </a:rPr>
              <a:t>/ A74066</a:t>
            </a:r>
            <a:endParaRPr lang="ko-KR" altLang="en-US" dirty="0">
              <a:solidFill>
                <a:schemeClr val="bg1"/>
              </a:solidFill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3D1F7BA-DDDD-41C6-BA22-70AAE1E91DBE}"/>
              </a:ext>
            </a:extLst>
          </p:cNvPr>
          <p:cNvSpPr/>
          <p:nvPr/>
        </p:nvSpPr>
        <p:spPr>
          <a:xfrm>
            <a:off x="4807527" y="4284631"/>
            <a:ext cx="637970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33" y="648392"/>
            <a:ext cx="3213754" cy="553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107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C52B7-B65B-9822-9B7C-AD69A7F4F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B65569A8-F9B3-F0ED-1170-96A02BC77FA3}"/>
              </a:ext>
            </a:extLst>
          </p:cNvPr>
          <p:cNvSpPr/>
          <p:nvPr/>
        </p:nvSpPr>
        <p:spPr bwMode="auto">
          <a:xfrm>
            <a:off x="638778" y="349842"/>
            <a:ext cx="9259343" cy="476726"/>
          </a:xfrm>
          <a:prstGeom prst="round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-436425" defTabSz="1102548" latinLnBrk="1">
              <a:defRPr/>
            </a:pPr>
            <a:r>
              <a:rPr lang="en-US" altLang="ko-KR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STEP 01 </a:t>
            </a:r>
            <a:r>
              <a:rPr lang="ko-KR" altLang="en-US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문제 정의</a:t>
            </a:r>
            <a:endParaRPr lang="en-US" altLang="ko-KR" sz="2800" b="1" dirty="0">
              <a:solidFill>
                <a:srgbClr val="891A1C"/>
              </a:solidFill>
              <a:latin typeface="+mj-ea"/>
              <a:ea typeface="+mj-ea"/>
              <a:cs typeface="Pretendard SemiBold" panose="02000703000000020004" pitchFamily="50" charset="-127"/>
            </a:endParaRPr>
          </a:p>
        </p:txBody>
      </p:sp>
      <p:sp>
        <p:nvSpPr>
          <p:cNvPr id="4" name="Google Shape;70;p4">
            <a:extLst>
              <a:ext uri="{FF2B5EF4-FFF2-40B4-BE49-F238E27FC236}">
                <a16:creationId xmlns:a16="http://schemas.microsoft.com/office/drawing/2014/main" id="{530B5170-243C-2EE4-59BE-9912FC4083A3}"/>
              </a:ext>
            </a:extLst>
          </p:cNvPr>
          <p:cNvSpPr txBox="1">
            <a:spLocks/>
          </p:cNvSpPr>
          <p:nvPr/>
        </p:nvSpPr>
        <p:spPr>
          <a:xfrm>
            <a:off x="638778" y="1239125"/>
            <a:ext cx="10914444" cy="517378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252000" tIns="108000" rIns="252000" bIns="108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1.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주제 선정 기준</a:t>
            </a: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b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755F2-F85C-ED89-6DDE-A40B8A9AC101}"/>
              </a:ext>
            </a:extLst>
          </p:cNvPr>
          <p:cNvSpPr txBox="1"/>
          <p:nvPr/>
        </p:nvSpPr>
        <p:spPr>
          <a:xfrm>
            <a:off x="638779" y="893243"/>
            <a:ext cx="10981060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SzPts val="1400"/>
            </a:pPr>
            <a:r>
              <a:rPr lang="ko-KR" altLang="en-US" sz="1200" b="1" dirty="0" err="1">
                <a:latin typeface="+mj-ea"/>
                <a:ea typeface="+mj-ea"/>
                <a:cs typeface="Pretendard Medium" panose="02000603000000020004" pitchFamily="50" charset="-127"/>
                <a:sym typeface="Calibri"/>
              </a:rPr>
              <a:t>생성형</a:t>
            </a:r>
            <a:r>
              <a:rPr lang="ko-KR" altLang="en-US" sz="1200" b="1" dirty="0">
                <a:latin typeface="+mj-ea"/>
                <a:ea typeface="+mj-ea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altLang="ko-KR" sz="1200" b="1" dirty="0">
                <a:latin typeface="+mj-ea"/>
                <a:ea typeface="+mj-ea"/>
                <a:cs typeface="Pretendard Medium" panose="02000603000000020004" pitchFamily="50" charset="-127"/>
                <a:sym typeface="Calibri"/>
              </a:rPr>
              <a:t>AI</a:t>
            </a:r>
            <a:r>
              <a:rPr lang="ko-KR" altLang="en-US" sz="1200" b="1" dirty="0">
                <a:latin typeface="+mj-ea"/>
                <a:ea typeface="+mj-ea"/>
                <a:cs typeface="Pretendard Medium" panose="02000603000000020004" pitchFamily="50" charset="-127"/>
                <a:sym typeface="Calibri"/>
              </a:rPr>
              <a:t>를 활용한 업무 개선 프로세스를 기획하려면 먼저 해결하고자 하는 문제를 명확히 정의해야 합니다</a:t>
            </a:r>
            <a:r>
              <a:rPr lang="en-US" altLang="ko-KR" sz="1200" b="1" dirty="0">
                <a:latin typeface="+mj-ea"/>
                <a:ea typeface="+mj-ea"/>
                <a:cs typeface="Pretendard Medium" panose="02000603000000020004" pitchFamily="50" charset="-127"/>
                <a:sym typeface="Calibri"/>
              </a:rPr>
              <a:t>.</a:t>
            </a:r>
            <a:endParaRPr lang="ko-KR" altLang="en-US" b="1" dirty="0">
              <a:latin typeface="+mj-ea"/>
              <a:ea typeface="+mj-ea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86B3C-5D14-13E6-B4AB-6B0435DD11DC}"/>
              </a:ext>
            </a:extLst>
          </p:cNvPr>
          <p:cNvSpPr txBox="1"/>
          <p:nvPr/>
        </p:nvSpPr>
        <p:spPr>
          <a:xfrm>
            <a:off x="914400" y="1785056"/>
            <a:ext cx="6662058" cy="395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300" dirty="0"/>
              <a:t>종목 </a:t>
            </a:r>
            <a:r>
              <a:rPr lang="ko-KR" altLang="en-US" sz="1300" dirty="0" err="1"/>
              <a:t>스크리닝과</a:t>
            </a:r>
            <a:r>
              <a:rPr lang="ko-KR" altLang="en-US" sz="1300" dirty="0"/>
              <a:t> 시황 분석은 자산운용사</a:t>
            </a:r>
            <a:r>
              <a:rPr lang="en-US" altLang="ko-KR" sz="1300" dirty="0"/>
              <a:t>, </a:t>
            </a:r>
            <a:r>
              <a:rPr lang="ko-KR" altLang="en-US" sz="1300" dirty="0"/>
              <a:t>증권사</a:t>
            </a:r>
            <a:r>
              <a:rPr lang="en-US" altLang="ko-KR" sz="1300" dirty="0"/>
              <a:t>, </a:t>
            </a:r>
            <a:r>
              <a:rPr lang="ko-KR" altLang="en-US" sz="1300" dirty="0"/>
              <a:t>그리고 개인 투자자에 이르기까지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매일 반복적으로 수행되는 공통 업무이다</a:t>
            </a:r>
            <a:r>
              <a:rPr lang="en-US" altLang="ko-KR" sz="1300" dirty="0"/>
              <a:t>. </a:t>
            </a:r>
            <a:r>
              <a:rPr lang="ko-KR" altLang="en-US" sz="1300" dirty="0"/>
              <a:t>데이터 수집과 분석</a:t>
            </a:r>
            <a:r>
              <a:rPr lang="en-US" altLang="ko-KR" sz="1300" dirty="0"/>
              <a:t>, </a:t>
            </a:r>
            <a:r>
              <a:rPr lang="ko-KR" altLang="en-US" sz="1300" dirty="0"/>
              <a:t>주문 실행이 수반되는 이 업무는 전형적인 반복적</a:t>
            </a:r>
            <a:r>
              <a:rPr lang="en-US" altLang="ko-KR" sz="1300" dirty="0"/>
              <a:t>·</a:t>
            </a:r>
            <a:r>
              <a:rPr lang="ko-KR" altLang="en-US" sz="1300" dirty="0"/>
              <a:t>시간 소모적 구조를 가지며</a:t>
            </a:r>
            <a:r>
              <a:rPr lang="en-US" altLang="ko-KR" sz="1300" dirty="0"/>
              <a:t>, </a:t>
            </a:r>
            <a:r>
              <a:rPr lang="ko-KR" altLang="en-US" sz="1300" dirty="0"/>
              <a:t>감정과 인지 편향에 의한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비일관적 판단이 발생하기 쉬운 영역이다</a:t>
            </a:r>
            <a:r>
              <a:rPr lang="en-US" altLang="ko-KR" sz="13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본 프로젝트는 이 공통 문제를 개인 투자자 단위에서 자동화하는 것을 첫 번째 적용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사례로 삼았다</a:t>
            </a:r>
            <a:r>
              <a:rPr lang="en-US" altLang="ko-KR" sz="1300" dirty="0"/>
              <a:t>. </a:t>
            </a:r>
            <a:r>
              <a:rPr lang="ko-KR" altLang="en-US" sz="1300" dirty="0"/>
              <a:t>개인의 반복적인 일상 업무 역시 자동화의 대상이 될 수 있으며</a:t>
            </a:r>
            <a:r>
              <a:rPr lang="en-US" altLang="ko-KR" sz="1300" dirty="0"/>
              <a:t>, </a:t>
            </a:r>
            <a:r>
              <a:rPr lang="ko-KR" altLang="en-US" sz="1300" dirty="0"/>
              <a:t>이를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줄이는 것이 본업에 대한 집중도 향상으로 이어질 수 있다</a:t>
            </a:r>
            <a:r>
              <a:rPr lang="en-US" altLang="ko-KR" sz="1300" dirty="0"/>
              <a:t>. </a:t>
            </a:r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뉴스 감성</a:t>
            </a:r>
            <a:r>
              <a:rPr lang="en-US" altLang="ko-KR" sz="1300" dirty="0"/>
              <a:t>, </a:t>
            </a:r>
            <a:r>
              <a:rPr lang="ko-KR" altLang="en-US" sz="1300" dirty="0"/>
              <a:t>거래량 패턴</a:t>
            </a:r>
            <a:r>
              <a:rPr lang="en-US" altLang="ko-KR" sz="1300" dirty="0"/>
              <a:t>, </a:t>
            </a:r>
            <a:r>
              <a:rPr lang="ko-KR" altLang="en-US" sz="1300" dirty="0"/>
              <a:t>가격 변동성</a:t>
            </a:r>
            <a:r>
              <a:rPr lang="en-US" altLang="ko-KR" sz="1300" dirty="0"/>
              <a:t>, </a:t>
            </a:r>
            <a:r>
              <a:rPr lang="ko-KR" altLang="en-US" sz="1300" dirty="0"/>
              <a:t>외국인 순매수 동향 등 다양한 변수를 종합적으로 고려해야 하는 데이터 기반 의사결정 업무이며</a:t>
            </a:r>
            <a:r>
              <a:rPr lang="en-US" altLang="ko-KR" sz="1300" dirty="0"/>
              <a:t>, </a:t>
            </a:r>
            <a:r>
              <a:rPr lang="ko-KR" altLang="en-US" sz="1300" dirty="0"/>
              <a:t>시장에는 투자자 심리와 수급 흐름에서 비롯된 반복적 패턴이 존재하여 생성형 </a:t>
            </a:r>
            <a:r>
              <a:rPr lang="en" altLang="ko-KR" sz="1300" dirty="0"/>
              <a:t>AI</a:t>
            </a:r>
            <a:r>
              <a:rPr lang="ko-KR" altLang="en-US" sz="1300" dirty="0"/>
              <a:t>의 패턴 인식과 예측이 유효하게 활용될 수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있는 도메인이라 판단하였다</a:t>
            </a:r>
            <a:r>
              <a:rPr lang="en-US" altLang="ko-KR" sz="130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447461-E8B1-618B-5997-A97843954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103" y="2042119"/>
            <a:ext cx="4210736" cy="344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837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20493-994E-91BC-3716-95354FCF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2064ABD1-18C3-FB1F-7DFF-A78EF0D091BA}"/>
              </a:ext>
            </a:extLst>
          </p:cNvPr>
          <p:cNvSpPr/>
          <p:nvPr/>
        </p:nvSpPr>
        <p:spPr bwMode="auto">
          <a:xfrm>
            <a:off x="638778" y="349842"/>
            <a:ext cx="9259343" cy="476726"/>
          </a:xfrm>
          <a:prstGeom prst="round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-436425" defTabSz="1102548" latinLnBrk="1">
              <a:defRPr/>
            </a:pPr>
            <a:r>
              <a:rPr lang="en-US" altLang="ko-KR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STEP 01 </a:t>
            </a:r>
            <a:r>
              <a:rPr lang="ko-KR" altLang="en-US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문제 정의</a:t>
            </a:r>
            <a:endParaRPr lang="en-US" altLang="ko-KR" sz="2800" b="1" dirty="0">
              <a:solidFill>
                <a:srgbClr val="891A1C"/>
              </a:solidFill>
              <a:latin typeface="+mj-ea"/>
              <a:ea typeface="+mj-ea"/>
              <a:cs typeface="Pretendard SemiBold" panose="02000703000000020004" pitchFamily="50" charset="-127"/>
            </a:endParaRPr>
          </a:p>
        </p:txBody>
      </p:sp>
      <p:sp>
        <p:nvSpPr>
          <p:cNvPr id="4" name="Google Shape;70;p4">
            <a:extLst>
              <a:ext uri="{FF2B5EF4-FFF2-40B4-BE49-F238E27FC236}">
                <a16:creationId xmlns:a16="http://schemas.microsoft.com/office/drawing/2014/main" id="{48BCFE9A-2B3B-C5B4-442A-5F412C5C18B8}"/>
              </a:ext>
            </a:extLst>
          </p:cNvPr>
          <p:cNvSpPr txBox="1">
            <a:spLocks/>
          </p:cNvSpPr>
          <p:nvPr/>
        </p:nvSpPr>
        <p:spPr>
          <a:xfrm>
            <a:off x="638778" y="1239125"/>
            <a:ext cx="10914444" cy="517378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252000" tIns="108000" rIns="252000" bIns="108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2.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문제 정의 </a:t>
            </a:r>
            <a:b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BA3A1-9ECD-0B5A-131E-E83EE334554F}"/>
              </a:ext>
            </a:extLst>
          </p:cNvPr>
          <p:cNvSpPr txBox="1"/>
          <p:nvPr/>
        </p:nvSpPr>
        <p:spPr>
          <a:xfrm>
            <a:off x="638779" y="893243"/>
            <a:ext cx="10981060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SzPts val="1400"/>
            </a:pPr>
            <a:r>
              <a:rPr lang="ko-KR" altLang="en-US" sz="1200" b="1" dirty="0" err="1">
                <a:latin typeface="+mj-ea"/>
                <a:ea typeface="+mj-ea"/>
                <a:cs typeface="Pretendard Medium" panose="02000603000000020004" pitchFamily="50" charset="-127"/>
                <a:sym typeface="Calibri"/>
              </a:rPr>
              <a:t>생성형</a:t>
            </a:r>
            <a:r>
              <a:rPr lang="ko-KR" altLang="en-US" sz="1200" b="1" dirty="0">
                <a:latin typeface="+mj-ea"/>
                <a:ea typeface="+mj-ea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altLang="ko-KR" sz="1200" b="1" dirty="0">
                <a:latin typeface="+mj-ea"/>
                <a:ea typeface="+mj-ea"/>
                <a:cs typeface="Pretendard Medium" panose="02000603000000020004" pitchFamily="50" charset="-127"/>
                <a:sym typeface="Calibri"/>
              </a:rPr>
              <a:t>AI</a:t>
            </a:r>
            <a:r>
              <a:rPr lang="ko-KR" altLang="en-US" sz="1200" b="1" dirty="0">
                <a:latin typeface="+mj-ea"/>
                <a:ea typeface="+mj-ea"/>
                <a:cs typeface="Pretendard Medium" panose="02000603000000020004" pitchFamily="50" charset="-127"/>
                <a:sym typeface="Calibri"/>
              </a:rPr>
              <a:t>를 활용한 업무 개선 프로세스를 기획하려면 먼저 해결하고자 하는 문제를 명확히 정의해야 합니다</a:t>
            </a:r>
            <a:r>
              <a:rPr lang="en-US" altLang="ko-KR" sz="1200" b="1" dirty="0">
                <a:latin typeface="+mj-ea"/>
                <a:ea typeface="+mj-ea"/>
                <a:cs typeface="Pretendard Medium" panose="02000603000000020004" pitchFamily="50" charset="-127"/>
                <a:sym typeface="Calibri"/>
              </a:rPr>
              <a:t>.</a:t>
            </a:r>
            <a:endParaRPr lang="ko-KR" altLang="en-US" b="1" dirty="0">
              <a:latin typeface="+mj-ea"/>
              <a:ea typeface="+mj-ea"/>
              <a:cs typeface="Pretendard Medium" panose="020006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8A2148-EBD7-6AE0-7E9A-0DDAD98F9EDA}"/>
              </a:ext>
            </a:extLst>
          </p:cNvPr>
          <p:cNvSpPr txBox="1"/>
          <p:nvPr/>
        </p:nvSpPr>
        <p:spPr>
          <a:xfrm>
            <a:off x="914399" y="1785056"/>
            <a:ext cx="10345784" cy="395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300" dirty="0"/>
              <a:t>매일 아침 경제 뉴스를 확인하는 것부터 시작하여 시세 파악</a:t>
            </a:r>
            <a:r>
              <a:rPr lang="en-US" altLang="ko-KR" sz="1300" dirty="0"/>
              <a:t>, </a:t>
            </a:r>
            <a:r>
              <a:rPr lang="ko-KR" altLang="en-US" sz="1300" dirty="0"/>
              <a:t>종목 분석</a:t>
            </a:r>
            <a:r>
              <a:rPr lang="en-US" altLang="ko-KR" sz="1300" dirty="0"/>
              <a:t>, </a:t>
            </a:r>
            <a:r>
              <a:rPr lang="ko-KR" altLang="en-US" sz="1300" dirty="0"/>
              <a:t>주문 실행까지의 전 과정이 수동으로 반복되고 있었다</a:t>
            </a:r>
            <a:r>
              <a:rPr lang="en-US" altLang="ko-KR" sz="1300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300" dirty="0"/>
              <a:t>처음에는 </a:t>
            </a:r>
            <a:r>
              <a:rPr lang="en" altLang="ko-KR" sz="1300" dirty="0"/>
              <a:t>n8n</a:t>
            </a:r>
            <a:r>
              <a:rPr lang="ko-KR" altLang="en-US" sz="1300" dirty="0"/>
              <a:t>을 활용해 뉴스 요약본을 자동으로 수신하는 방식으로 일부 자동화를 시도하였으나</a:t>
            </a:r>
            <a:r>
              <a:rPr lang="en-US" altLang="ko-KR" sz="1300" dirty="0"/>
              <a:t>, </a:t>
            </a:r>
            <a:r>
              <a:rPr lang="ko-KR" altLang="en-US" sz="1300" dirty="0"/>
              <a:t>뉴스 확인 이후 실제 매매 판단과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주문까지는 여전히 수동으로 처리해야 하는 한계가 있었다</a:t>
            </a:r>
            <a:r>
              <a:rPr lang="en-US" altLang="ko-KR" sz="13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이는 개인 투자자만의 문제가 아니다</a:t>
            </a:r>
            <a:r>
              <a:rPr lang="en-US" altLang="ko-KR" sz="1300" dirty="0"/>
              <a:t>. </a:t>
            </a:r>
            <a:r>
              <a:rPr lang="ko-KR" altLang="en-US" sz="1300" dirty="0"/>
              <a:t>자산운용사</a:t>
            </a:r>
            <a:r>
              <a:rPr lang="en-US" altLang="ko-KR" sz="1300" dirty="0"/>
              <a:t>, </a:t>
            </a:r>
            <a:r>
              <a:rPr lang="ko-KR" altLang="en-US" sz="1300" dirty="0"/>
              <a:t>증권사 등 금융권에서도 동일한 구조의 반복 업무가 매일 발생하며</a:t>
            </a:r>
            <a:r>
              <a:rPr lang="en-US" altLang="ko-KR" sz="1300" dirty="0"/>
              <a:t>, </a:t>
            </a:r>
            <a:r>
              <a:rPr lang="ko-KR" altLang="en-US" sz="1300" dirty="0"/>
              <a:t>수동 처리에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따른 시간 소모와 판단 </a:t>
            </a:r>
            <a:r>
              <a:rPr lang="ko-KR" altLang="en-US" sz="1300" dirty="0" err="1"/>
              <a:t>비일관성은</a:t>
            </a:r>
            <a:r>
              <a:rPr lang="ko-KR" altLang="en-US" sz="1300" dirty="0"/>
              <a:t> 공통된 과제이다</a:t>
            </a:r>
            <a:r>
              <a:rPr lang="en-US" altLang="ko-KR" sz="13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매매가 필요한 경우 업무 시간 중 직접 시세를 확인하고 주문을 실행해야 하는 상황이 반복되며</a:t>
            </a:r>
            <a:r>
              <a:rPr lang="en-US" altLang="ko-KR" sz="1300" dirty="0"/>
              <a:t>, </a:t>
            </a:r>
            <a:r>
              <a:rPr lang="ko-KR" altLang="en-US" sz="1300" dirty="0"/>
              <a:t>종목별 데이터 수집부터 분석</a:t>
            </a:r>
            <a:r>
              <a:rPr lang="en-US" altLang="ko-KR" sz="1300" dirty="0"/>
              <a:t>·</a:t>
            </a:r>
            <a:r>
              <a:rPr lang="ko-KR" altLang="en-US" sz="1300" dirty="0"/>
              <a:t>판단</a:t>
            </a:r>
            <a:r>
              <a:rPr lang="en-US" altLang="ko-KR" sz="1300" dirty="0"/>
              <a:t>·</a:t>
            </a:r>
            <a:r>
              <a:rPr lang="ko-KR" altLang="en-US" sz="1300" dirty="0"/>
              <a:t>주문까지 전 과정이 수동으로 이루어져 상당한 시간이 소요된다</a:t>
            </a:r>
            <a:r>
              <a:rPr lang="en-US" altLang="ko-KR" sz="1300" dirty="0"/>
              <a:t>. </a:t>
            </a:r>
            <a:r>
              <a:rPr lang="ko-KR" altLang="en-US" sz="1300" dirty="0"/>
              <a:t>피로</a:t>
            </a:r>
            <a:r>
              <a:rPr lang="en-US" altLang="ko-KR" sz="1300" dirty="0"/>
              <a:t>·</a:t>
            </a:r>
            <a:r>
              <a:rPr lang="ko-KR" altLang="en-US" sz="1300" dirty="0"/>
              <a:t>감정</a:t>
            </a:r>
            <a:r>
              <a:rPr lang="en-US" altLang="ko-KR" sz="1300" dirty="0"/>
              <a:t>·</a:t>
            </a:r>
            <a:r>
              <a:rPr lang="ko-KR" altLang="en-US" sz="1300" dirty="0"/>
              <a:t>인지 편향에 의한 비일관적 판단이 반복될 뿐 아니라</a:t>
            </a:r>
            <a:r>
              <a:rPr lang="en-US" altLang="ko-KR" sz="1300" dirty="0"/>
              <a:t>, </a:t>
            </a:r>
            <a:r>
              <a:rPr lang="ko-KR" altLang="en-US" sz="1300" dirty="0"/>
              <a:t>장 중 주의가 분산되어 본업 집중도까지 저하되는 악영향이 발생한다</a:t>
            </a:r>
            <a:r>
              <a:rPr lang="en-US" altLang="ko-KR" sz="13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이를 해결하기 위해 </a:t>
            </a:r>
            <a:r>
              <a:rPr lang="en" altLang="ko-KR" sz="1300" dirty="0"/>
              <a:t>Python</a:t>
            </a:r>
            <a:r>
              <a:rPr lang="ko-KR" altLang="en-US" sz="1300" dirty="0"/>
              <a:t>과 생성형 </a:t>
            </a:r>
            <a:r>
              <a:rPr lang="en" altLang="ko-KR" sz="1300" dirty="0"/>
              <a:t>AI</a:t>
            </a:r>
            <a:r>
              <a:rPr lang="ko-KR" altLang="en-US" sz="1300" dirty="0"/>
              <a:t>로 데이터 수집</a:t>
            </a:r>
            <a:r>
              <a:rPr lang="en-US" altLang="ko-KR" sz="1300" dirty="0"/>
              <a:t>·</a:t>
            </a:r>
            <a:r>
              <a:rPr lang="ko-KR" altLang="en-US" sz="1300" dirty="0"/>
              <a:t>분석</a:t>
            </a:r>
            <a:r>
              <a:rPr lang="en-US" altLang="ko-KR" sz="1300" dirty="0"/>
              <a:t>·</a:t>
            </a:r>
            <a:r>
              <a:rPr lang="ko-KR" altLang="en-US" sz="1300" dirty="0"/>
              <a:t>주문 실행을 자동화하여 업무 중 시장을 직접 모니터링할 필요를 없애고</a:t>
            </a:r>
            <a:r>
              <a:rPr lang="en-US" altLang="ko-KR" sz="1300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300" dirty="0"/>
              <a:t>감정을 배제한 데이터 기반의 일관된 매매를 실현하는 것이 본 프로젝트의 핵심 목표이다</a:t>
            </a:r>
            <a:r>
              <a:rPr lang="en-US" altLang="ko-KR"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555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4689E-CF06-6F46-A3AF-05C3E5A70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5D66A26A-AF8E-7E5D-27AB-801394014547}"/>
              </a:ext>
            </a:extLst>
          </p:cNvPr>
          <p:cNvSpPr/>
          <p:nvPr/>
        </p:nvSpPr>
        <p:spPr bwMode="auto">
          <a:xfrm>
            <a:off x="638778" y="349842"/>
            <a:ext cx="9259343" cy="476726"/>
          </a:xfrm>
          <a:prstGeom prst="round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-436425" defTabSz="1102548" latinLnBrk="1">
              <a:defRPr/>
            </a:pPr>
            <a:r>
              <a:rPr lang="en-US" altLang="ko-KR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STEP 02 </a:t>
            </a:r>
            <a:r>
              <a:rPr lang="ko-KR" altLang="en-US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데이터 개요</a:t>
            </a:r>
            <a:endParaRPr lang="en-US" altLang="ko-KR" sz="2800" b="1" dirty="0">
              <a:solidFill>
                <a:srgbClr val="891A1C"/>
              </a:solidFill>
              <a:latin typeface="+mj-ea"/>
              <a:ea typeface="+mj-ea"/>
              <a:cs typeface="Pretendard SemiBold" panose="02000703000000020004" pitchFamily="50" charset="-127"/>
            </a:endParaRPr>
          </a:p>
        </p:txBody>
      </p:sp>
      <p:sp>
        <p:nvSpPr>
          <p:cNvPr id="4" name="Google Shape;70;p4">
            <a:extLst>
              <a:ext uri="{FF2B5EF4-FFF2-40B4-BE49-F238E27FC236}">
                <a16:creationId xmlns:a16="http://schemas.microsoft.com/office/drawing/2014/main" id="{7A9620A0-8F4C-2A50-852E-9BE75229FD69}"/>
              </a:ext>
            </a:extLst>
          </p:cNvPr>
          <p:cNvSpPr txBox="1">
            <a:spLocks/>
          </p:cNvSpPr>
          <p:nvPr/>
        </p:nvSpPr>
        <p:spPr>
          <a:xfrm>
            <a:off x="638778" y="1239125"/>
            <a:ext cx="10914444" cy="517378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252000" tIns="108000" rIns="252000" bIns="108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1.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데이터 출처 및 구조 </a:t>
            </a: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24612-3058-EB3B-CD29-BBC2061628D7}"/>
              </a:ext>
            </a:extLst>
          </p:cNvPr>
          <p:cNvSpPr txBox="1"/>
          <p:nvPr/>
        </p:nvSpPr>
        <p:spPr>
          <a:xfrm>
            <a:off x="638779" y="893243"/>
            <a:ext cx="10981060" cy="2585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500"/>
            </a:pP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데이터 기반 분석을 수행하려면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먼저 데이터의 출처와 구조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양을 명확히 파악하는 데 있습니다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 b="1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C0A74-0915-04A4-E639-0DB969268721}"/>
              </a:ext>
            </a:extLst>
          </p:cNvPr>
          <p:cNvSpPr txBox="1"/>
          <p:nvPr/>
        </p:nvSpPr>
        <p:spPr>
          <a:xfrm>
            <a:off x="914400" y="1757660"/>
            <a:ext cx="10401300" cy="2154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300" dirty="0"/>
              <a:t>데이터는 한국투자증권</a:t>
            </a:r>
            <a:r>
              <a:rPr lang="en-US" altLang="ko-KR" sz="1300" dirty="0"/>
              <a:t>(</a:t>
            </a:r>
            <a:r>
              <a:rPr lang="en" altLang="ko-KR" sz="1300" dirty="0"/>
              <a:t>KIS) API, </a:t>
            </a:r>
            <a:r>
              <a:rPr lang="ko-KR" altLang="en-US" sz="1300" dirty="0"/>
              <a:t>뉴스 </a:t>
            </a:r>
            <a:r>
              <a:rPr lang="ko-KR" altLang="en-US" sz="1300" dirty="0" err="1"/>
              <a:t>크롤링</a:t>
            </a:r>
            <a:r>
              <a:rPr lang="en-US" altLang="ko-KR" sz="1300" dirty="0"/>
              <a:t>, </a:t>
            </a:r>
            <a:r>
              <a:rPr lang="en" altLang="ko-KR" sz="1300" dirty="0"/>
              <a:t>RSS </a:t>
            </a:r>
            <a:r>
              <a:rPr lang="ko-KR" altLang="en-US" sz="1300" dirty="0" err="1"/>
              <a:t>피드</a:t>
            </a:r>
            <a:r>
              <a:rPr lang="en-US" altLang="ko-KR" sz="1300" dirty="0"/>
              <a:t>, </a:t>
            </a:r>
            <a:r>
              <a:rPr lang="en" altLang="ko-KR" sz="1300" dirty="0"/>
              <a:t>DART API </a:t>
            </a:r>
            <a:r>
              <a:rPr lang="ko-KR" altLang="en-US" sz="1300" dirty="0"/>
              <a:t>네 가지 경로로 수집된다</a:t>
            </a:r>
            <a:r>
              <a:rPr lang="en-US" altLang="ko-KR" sz="13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en" altLang="ko-KR" sz="1300" dirty="0"/>
              <a:t>KIS API</a:t>
            </a:r>
            <a:r>
              <a:rPr lang="ko-KR" altLang="en-US" sz="1300" dirty="0" err="1"/>
              <a:t>를</a:t>
            </a:r>
            <a:r>
              <a:rPr lang="ko-KR" altLang="en-US" sz="1300" dirty="0"/>
              <a:t> 통해 전일 분봉</a:t>
            </a:r>
            <a:r>
              <a:rPr lang="en-US" altLang="ko-KR" sz="1300" dirty="0"/>
              <a:t>/</a:t>
            </a:r>
            <a:r>
              <a:rPr lang="ko-KR" altLang="en-US" sz="1300" dirty="0" err="1"/>
              <a:t>일봉</a:t>
            </a:r>
            <a:r>
              <a:rPr lang="ko-KR" altLang="en-US" sz="1300" dirty="0"/>
              <a:t> 시세</a:t>
            </a:r>
            <a:r>
              <a:rPr lang="en-US" altLang="ko-KR" sz="1300" dirty="0"/>
              <a:t>(</a:t>
            </a:r>
            <a:r>
              <a:rPr lang="ko-KR" altLang="en-US" sz="1300" dirty="0"/>
              <a:t>시가</a:t>
            </a:r>
            <a:r>
              <a:rPr lang="en-US" altLang="ko-KR" sz="1300" dirty="0"/>
              <a:t>·</a:t>
            </a:r>
            <a:r>
              <a:rPr lang="ko-KR" altLang="en-US" sz="1300" dirty="0"/>
              <a:t>고가</a:t>
            </a:r>
            <a:r>
              <a:rPr lang="en-US" altLang="ko-KR" sz="1300" dirty="0"/>
              <a:t>·</a:t>
            </a:r>
            <a:r>
              <a:rPr lang="ko-KR" altLang="en-US" sz="1300" dirty="0"/>
              <a:t>저가</a:t>
            </a:r>
            <a:r>
              <a:rPr lang="en-US" altLang="ko-KR" sz="1300" dirty="0"/>
              <a:t>·</a:t>
            </a:r>
            <a:r>
              <a:rPr lang="ko-KR" altLang="en-US" sz="1300" dirty="0"/>
              <a:t>종가</a:t>
            </a:r>
            <a:r>
              <a:rPr lang="en-US" altLang="ko-KR" sz="1300" dirty="0"/>
              <a:t>·</a:t>
            </a:r>
            <a:r>
              <a:rPr lang="ko-KR" altLang="en-US" sz="1300" dirty="0"/>
              <a:t>거래량</a:t>
            </a:r>
            <a:r>
              <a:rPr lang="en-US" altLang="ko-KR" sz="1300" dirty="0"/>
              <a:t>)</a:t>
            </a:r>
            <a:r>
              <a:rPr lang="ko-KR" altLang="en-US" sz="1300" dirty="0"/>
              <a:t>와 외국인</a:t>
            </a:r>
            <a:r>
              <a:rPr lang="en-US" altLang="ko-KR" sz="1300" dirty="0"/>
              <a:t>·</a:t>
            </a:r>
            <a:r>
              <a:rPr lang="ko-KR" altLang="en-US" sz="1300" dirty="0"/>
              <a:t>기관 순매수 데이터를 수집하며</a:t>
            </a:r>
            <a:r>
              <a:rPr lang="en-US" altLang="ko-KR" sz="1300" dirty="0"/>
              <a:t>, </a:t>
            </a:r>
            <a:r>
              <a:rPr lang="ko-KR" altLang="en-US" sz="1300" dirty="0"/>
              <a:t>시계열 예측을 위한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en-US" altLang="ko-KR" sz="1300" dirty="0"/>
              <a:t>120</a:t>
            </a:r>
            <a:r>
              <a:rPr lang="ko-KR" altLang="en-US" sz="1300" dirty="0"/>
              <a:t>거래일 </a:t>
            </a:r>
            <a:r>
              <a:rPr lang="ko-KR" altLang="en-US" sz="1300" dirty="0" err="1"/>
              <a:t>일봉</a:t>
            </a:r>
            <a:r>
              <a:rPr lang="ko-KR" altLang="en-US" sz="1300" dirty="0"/>
              <a:t> 데이터는 매일 파이프라인 실행 시 </a:t>
            </a:r>
            <a:r>
              <a:rPr lang="en" altLang="ko-KR" sz="1300" dirty="0"/>
              <a:t>KIS API</a:t>
            </a:r>
            <a:r>
              <a:rPr lang="ko-KR" altLang="en-US" sz="1300" dirty="0"/>
              <a:t>에서 조회한다</a:t>
            </a:r>
            <a:r>
              <a:rPr lang="en-US" altLang="ko-KR" sz="13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뉴스는 전날 </a:t>
            </a:r>
            <a:r>
              <a:rPr lang="en-US" altLang="ko-KR" sz="1300" dirty="0"/>
              <a:t>18:00~</a:t>
            </a:r>
            <a:r>
              <a:rPr lang="ko-KR" altLang="en-US" sz="1300" dirty="0"/>
              <a:t>당일 </a:t>
            </a:r>
            <a:r>
              <a:rPr lang="en-US" altLang="ko-KR" sz="1300" dirty="0"/>
              <a:t>08:50</a:t>
            </a:r>
            <a:r>
              <a:rPr lang="ko-KR" altLang="en-US" sz="1300" dirty="0"/>
              <a:t>을 기준으로 </a:t>
            </a:r>
            <a:r>
              <a:rPr lang="en" altLang="ko-KR" sz="1300" dirty="0"/>
              <a:t>RSS </a:t>
            </a:r>
            <a:r>
              <a:rPr lang="ko-KR" altLang="en-US" sz="1300" dirty="0" err="1"/>
              <a:t>피드</a:t>
            </a:r>
            <a:r>
              <a:rPr lang="en-US" altLang="ko-KR" sz="1300" dirty="0"/>
              <a:t>(</a:t>
            </a:r>
            <a:r>
              <a:rPr lang="ko-KR" altLang="en-US" sz="1300" dirty="0"/>
              <a:t>시장 전반</a:t>
            </a:r>
            <a:r>
              <a:rPr lang="en-US" altLang="ko-KR" sz="1300" dirty="0"/>
              <a:t>)</a:t>
            </a:r>
            <a:r>
              <a:rPr lang="ko-KR" altLang="en-US" sz="1300" dirty="0"/>
              <a:t>와 네이버금융</a:t>
            </a:r>
            <a:r>
              <a:rPr lang="en-US" altLang="ko-KR" sz="1300" dirty="0"/>
              <a:t>(</a:t>
            </a:r>
            <a:r>
              <a:rPr lang="ko-KR" altLang="en-US" sz="1300" dirty="0"/>
              <a:t>종목별</a:t>
            </a:r>
            <a:r>
              <a:rPr lang="en-US" altLang="ko-KR" sz="1300" dirty="0"/>
              <a:t>)</a:t>
            </a:r>
            <a:r>
              <a:rPr lang="ko-KR" altLang="en-US" sz="1300" dirty="0"/>
              <a:t>에서 크롤링하며</a:t>
            </a:r>
            <a:r>
              <a:rPr lang="en-US" altLang="ko-KR" sz="1300" dirty="0"/>
              <a:t>, </a:t>
            </a:r>
            <a:r>
              <a:rPr lang="ko-KR" altLang="en-US" sz="1300" dirty="0"/>
              <a:t>재무지표는 금융감독원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전자공시</a:t>
            </a:r>
            <a:r>
              <a:rPr lang="en-US" altLang="ko-KR" sz="1300" dirty="0"/>
              <a:t>(</a:t>
            </a:r>
            <a:r>
              <a:rPr lang="en" altLang="ko-KR" sz="1300" dirty="0"/>
              <a:t>DART) API</a:t>
            </a:r>
            <a:r>
              <a:rPr lang="ko-KR" altLang="en-US" sz="1300" dirty="0" err="1"/>
              <a:t>를</a:t>
            </a:r>
            <a:r>
              <a:rPr lang="ko-KR" altLang="en-US" sz="1300" dirty="0"/>
              <a:t> 통해 분기별로 수집하여 </a:t>
            </a:r>
            <a:r>
              <a:rPr lang="en" altLang="ko-KR" sz="1300" dirty="0"/>
              <a:t>DB</a:t>
            </a:r>
            <a:r>
              <a:rPr lang="ko-KR" altLang="en-US" sz="1300" dirty="0" err="1"/>
              <a:t>에</a:t>
            </a:r>
            <a:r>
              <a:rPr lang="ko-KR" altLang="en-US" sz="1300" dirty="0"/>
              <a:t> 저장한다</a:t>
            </a:r>
            <a:r>
              <a:rPr lang="en-US" altLang="ko-KR" sz="1300" dirty="0"/>
              <a:t>. </a:t>
            </a:r>
            <a:r>
              <a:rPr lang="en" altLang="ko-KR" sz="1300" dirty="0" err="1"/>
              <a:t>APScheduler</a:t>
            </a:r>
            <a:r>
              <a:rPr lang="ko-KR" altLang="en-US" sz="1300" dirty="0"/>
              <a:t>가 매 거래일 평일 </a:t>
            </a:r>
            <a:r>
              <a:rPr lang="en-US" altLang="ko-KR" sz="1300" dirty="0"/>
              <a:t>08:50</a:t>
            </a:r>
            <a:r>
              <a:rPr lang="ko-KR" altLang="en-US" sz="1300" dirty="0" err="1"/>
              <a:t>에</a:t>
            </a:r>
            <a:r>
              <a:rPr lang="ko-KR" altLang="en-US" sz="1300" dirty="0"/>
              <a:t> 파이프라인을 자동 실행한다</a:t>
            </a:r>
            <a:r>
              <a:rPr lang="en-US" altLang="ko-KR" sz="130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744A7A3-0D4B-8198-4ABE-09F3D9D0D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666160"/>
              </p:ext>
            </p:extLst>
          </p:nvPr>
        </p:nvGraphicFramePr>
        <p:xfrm>
          <a:off x="1654175" y="4182486"/>
          <a:ext cx="8883650" cy="1871172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159122">
                  <a:extLst>
                    <a:ext uri="{9D8B030D-6E8A-4147-A177-3AD203B41FA5}">
                      <a16:colId xmlns:a16="http://schemas.microsoft.com/office/drawing/2014/main" val="4273793349"/>
                    </a:ext>
                  </a:extLst>
                </a:gridCol>
                <a:gridCol w="1714598">
                  <a:extLst>
                    <a:ext uri="{9D8B030D-6E8A-4147-A177-3AD203B41FA5}">
                      <a16:colId xmlns:a16="http://schemas.microsoft.com/office/drawing/2014/main" val="3918227243"/>
                    </a:ext>
                  </a:extLst>
                </a:gridCol>
                <a:gridCol w="2751824">
                  <a:extLst>
                    <a:ext uri="{9D8B030D-6E8A-4147-A177-3AD203B41FA5}">
                      <a16:colId xmlns:a16="http://schemas.microsoft.com/office/drawing/2014/main" val="3980513812"/>
                    </a:ext>
                  </a:extLst>
                </a:gridCol>
                <a:gridCol w="2258106">
                  <a:extLst>
                    <a:ext uri="{9D8B030D-6E8A-4147-A177-3AD203B41FA5}">
                      <a16:colId xmlns:a16="http://schemas.microsoft.com/office/drawing/2014/main" val="1836649981"/>
                    </a:ext>
                  </a:extLst>
                </a:gridCol>
              </a:tblGrid>
              <a:tr h="3237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b="1" dirty="0"/>
                        <a:t>출처</a:t>
                      </a:r>
                      <a:endParaRPr lang="ko-KR" altLang="en-US" sz="105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b="1" dirty="0"/>
                        <a:t>수집 방법</a:t>
                      </a:r>
                      <a:endParaRPr lang="ko-KR" altLang="en-US" sz="105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b="1" dirty="0"/>
                        <a:t>주요 데이터</a:t>
                      </a:r>
                      <a:endParaRPr lang="ko-KR" altLang="en-US" sz="105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b="1" dirty="0"/>
                        <a:t>수집 주기</a:t>
                      </a:r>
                      <a:endParaRPr lang="ko-KR" altLang="en-US" sz="1050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947022"/>
                  </a:ext>
                </a:extLst>
              </a:tr>
              <a:tr h="3764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한국투자증권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" sz="1000" dirty="0">
                          <a:solidFill>
                            <a:schemeClr val="tx1"/>
                          </a:solidFill>
                        </a:rPr>
                        <a:t>KIS) API</a:t>
                      </a:r>
                      <a:endParaRPr lang="en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00" dirty="0">
                          <a:solidFill>
                            <a:schemeClr val="tx1"/>
                          </a:solidFill>
                        </a:rPr>
                        <a:t>REST API</a:t>
                      </a:r>
                      <a:endParaRPr lang="en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분봉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일봉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시세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" sz="1000" dirty="0">
                          <a:solidFill>
                            <a:schemeClr val="tx1"/>
                          </a:solidFill>
                        </a:rPr>
                        <a:t>OHLCV),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외국인 순매수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매일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전일 기준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431028"/>
                  </a:ext>
                </a:extLst>
              </a:tr>
              <a:tr h="407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뉴스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00">
                          <a:solidFill>
                            <a:schemeClr val="tx1"/>
                          </a:solidFill>
                        </a:rPr>
                        <a:t>BeautifulSoup</a:t>
                      </a:r>
                      <a:endParaRPr lang="en" sz="10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종목별 관련 뉴스 텍스트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전날 마감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당일 아침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525937"/>
                  </a:ext>
                </a:extLst>
              </a:tr>
              <a:tr h="358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00">
                          <a:solidFill>
                            <a:schemeClr val="tx1"/>
                          </a:solidFill>
                        </a:rPr>
                        <a:t>RSS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피드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00" dirty="0">
                          <a:solidFill>
                            <a:schemeClr val="tx1"/>
                          </a:solidFill>
                        </a:rPr>
                        <a:t>RSS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파싱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거시경제 뉴스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당일 아침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368597"/>
                  </a:ext>
                </a:extLst>
              </a:tr>
              <a:tr h="4050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00" dirty="0">
                          <a:solidFill>
                            <a:schemeClr val="tx1"/>
                          </a:solidFill>
                        </a:rPr>
                        <a:t>DART API</a:t>
                      </a:r>
                      <a:endParaRPr lang="en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00" dirty="0">
                          <a:solidFill>
                            <a:schemeClr val="tx1"/>
                          </a:solidFill>
                        </a:rPr>
                        <a:t>REST API</a:t>
                      </a:r>
                      <a:endParaRPr lang="en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분기별 재무제표 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" sz="1000" dirty="0">
                          <a:solidFill>
                            <a:schemeClr val="tx1"/>
                          </a:solidFill>
                        </a:rPr>
                        <a:t>PER, PBR, ROE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분기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회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2049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5501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06546-B24F-BB0A-9885-108B29C35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F910EA79-4FBB-A7CD-1983-D922E1E4BAB6}"/>
              </a:ext>
            </a:extLst>
          </p:cNvPr>
          <p:cNvSpPr/>
          <p:nvPr/>
        </p:nvSpPr>
        <p:spPr bwMode="auto">
          <a:xfrm>
            <a:off x="638778" y="349842"/>
            <a:ext cx="9259343" cy="476726"/>
          </a:xfrm>
          <a:prstGeom prst="round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-436425" defTabSz="1102548" latinLnBrk="1">
              <a:defRPr/>
            </a:pPr>
            <a:r>
              <a:rPr lang="en-US" altLang="ko-KR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STEP 02 </a:t>
            </a:r>
            <a:r>
              <a:rPr lang="ko-KR" altLang="en-US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데이터 개요</a:t>
            </a:r>
            <a:endParaRPr lang="en-US" altLang="ko-KR" sz="2800" b="1" dirty="0">
              <a:solidFill>
                <a:srgbClr val="891A1C"/>
              </a:solidFill>
              <a:latin typeface="+mj-ea"/>
              <a:ea typeface="+mj-ea"/>
              <a:cs typeface="Pretendard SemiBold" panose="02000703000000020004" pitchFamily="50" charset="-127"/>
            </a:endParaRPr>
          </a:p>
        </p:txBody>
      </p:sp>
      <p:sp>
        <p:nvSpPr>
          <p:cNvPr id="4" name="Google Shape;70;p4">
            <a:extLst>
              <a:ext uri="{FF2B5EF4-FFF2-40B4-BE49-F238E27FC236}">
                <a16:creationId xmlns:a16="http://schemas.microsoft.com/office/drawing/2014/main" id="{49656922-74A3-EABB-1104-21E25F333514}"/>
              </a:ext>
            </a:extLst>
          </p:cNvPr>
          <p:cNvSpPr txBox="1">
            <a:spLocks/>
          </p:cNvSpPr>
          <p:nvPr/>
        </p:nvSpPr>
        <p:spPr>
          <a:xfrm>
            <a:off x="638778" y="1239125"/>
            <a:ext cx="10914444" cy="517378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252000" tIns="108000" rIns="252000" bIns="108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2.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데이터 전처리 요약</a:t>
            </a: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94FAF-DCF6-6C24-6A4B-546C3B4E5D2A}"/>
              </a:ext>
            </a:extLst>
          </p:cNvPr>
          <p:cNvSpPr txBox="1"/>
          <p:nvPr/>
        </p:nvSpPr>
        <p:spPr>
          <a:xfrm>
            <a:off x="638779" y="893243"/>
            <a:ext cx="10981060" cy="2585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500"/>
            </a:pP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데이터 기반 분석을 수행하려면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먼저 데이터의 출처와 구조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양을 명확히 파악하는 데 있습니다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 b="1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599C79-64FC-70CA-473F-F376F9D74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896" y="1642350"/>
            <a:ext cx="4545943" cy="3573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AE64EB-32AE-7BF3-7711-F8711A3761C9}"/>
              </a:ext>
            </a:extLst>
          </p:cNvPr>
          <p:cNvSpPr txBox="1"/>
          <p:nvPr/>
        </p:nvSpPr>
        <p:spPr>
          <a:xfrm>
            <a:off x="914400" y="1757660"/>
            <a:ext cx="6642100" cy="30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300" dirty="0"/>
              <a:t>수집된 뉴스 텍스트는 </a:t>
            </a:r>
            <a:r>
              <a:rPr lang="en" altLang="ko-KR" sz="1300" dirty="0"/>
              <a:t>HTML </a:t>
            </a:r>
            <a:r>
              <a:rPr lang="ko-KR" altLang="en-US" sz="1300" dirty="0"/>
              <a:t>태그</a:t>
            </a:r>
            <a:r>
              <a:rPr lang="en-US" altLang="ko-KR" sz="1300" dirty="0"/>
              <a:t>·</a:t>
            </a:r>
            <a:r>
              <a:rPr lang="ko-KR" altLang="en-US" sz="1300" dirty="0"/>
              <a:t>특수문자 제거</a:t>
            </a:r>
            <a:r>
              <a:rPr lang="en-US" altLang="ko-KR" sz="1300" dirty="0"/>
              <a:t>, </a:t>
            </a:r>
            <a:r>
              <a:rPr lang="ko-KR" altLang="en-US" sz="1300" dirty="0"/>
              <a:t>제목</a:t>
            </a:r>
            <a:r>
              <a:rPr lang="en-US" altLang="ko-KR" sz="1300" dirty="0"/>
              <a:t>+</a:t>
            </a:r>
            <a:r>
              <a:rPr lang="ko-KR" altLang="en-US" sz="1300" dirty="0"/>
              <a:t>본문 앞 </a:t>
            </a:r>
            <a:r>
              <a:rPr lang="en-US" altLang="ko-KR" sz="1300" dirty="0"/>
              <a:t>200</a:t>
            </a:r>
            <a:r>
              <a:rPr lang="ko-KR" altLang="en-US" sz="1300" dirty="0"/>
              <a:t>자 추출</a:t>
            </a:r>
            <a:r>
              <a:rPr lang="en-US" altLang="ko-KR" sz="1300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300" dirty="0"/>
              <a:t>중복 제거</a:t>
            </a:r>
            <a:r>
              <a:rPr lang="en-US" altLang="ko-KR" sz="1300" dirty="0"/>
              <a:t>,</a:t>
            </a:r>
            <a:r>
              <a:rPr lang="ko-KR" altLang="en-US" sz="1300" dirty="0"/>
              <a:t> </a:t>
            </a:r>
            <a:r>
              <a:rPr lang="en-US" altLang="ko-KR" sz="1300" dirty="0"/>
              <a:t>512</a:t>
            </a:r>
            <a:r>
              <a:rPr lang="ko-KR" altLang="en-US" sz="1300" dirty="0"/>
              <a:t>토큰 초과 텍스트 자르기 순으로 전처리한 후 </a:t>
            </a:r>
            <a:r>
              <a:rPr lang="en" altLang="ko-KR" sz="1300" dirty="0"/>
              <a:t>KR-</a:t>
            </a:r>
            <a:r>
              <a:rPr lang="en" altLang="ko-KR" sz="1300" dirty="0" err="1"/>
              <a:t>FinBERT</a:t>
            </a:r>
            <a:r>
              <a:rPr lang="en" altLang="ko-KR" sz="1300" dirty="0"/>
              <a:t> </a:t>
            </a:r>
            <a:r>
              <a:rPr lang="ko-KR" altLang="en-US" sz="1300" dirty="0"/>
              <a:t>모델에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입력하여 감성 점수</a:t>
            </a:r>
            <a:r>
              <a:rPr lang="en-US" altLang="ko-KR" sz="1300" dirty="0"/>
              <a:t>(-1.0 ~ 1.0)</a:t>
            </a:r>
            <a:r>
              <a:rPr lang="ko-KR" altLang="en-US" sz="1300" dirty="0"/>
              <a:t>로 변환하고</a:t>
            </a:r>
            <a:r>
              <a:rPr lang="en-US" altLang="ko-KR" sz="1300" dirty="0"/>
              <a:t>, </a:t>
            </a:r>
            <a:r>
              <a:rPr lang="ko-KR" altLang="en-US" sz="1300" dirty="0"/>
              <a:t>시간 가중 평균</a:t>
            </a:r>
            <a:r>
              <a:rPr lang="en-US" altLang="ko-KR" sz="1300" dirty="0"/>
              <a:t>(</a:t>
            </a:r>
            <a:r>
              <a:rPr lang="ko-KR" altLang="en-US" sz="1300" dirty="0"/>
              <a:t>최신 기사 높은 가중치</a:t>
            </a:r>
            <a:r>
              <a:rPr lang="en-US" altLang="ko-KR" sz="13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300" dirty="0" err="1"/>
              <a:t>으로</a:t>
            </a:r>
            <a:r>
              <a:rPr lang="ko-KR" altLang="en-US" sz="1300" dirty="0"/>
              <a:t> 최종 점수를 산출한다</a:t>
            </a:r>
            <a:r>
              <a:rPr lang="en-US" altLang="ko-KR" sz="13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시계열 데이터는 날짜 컬럼을  </a:t>
            </a:r>
            <a:r>
              <a:rPr lang="en" altLang="ko-KR" sz="1300" dirty="0"/>
              <a:t>Prophet </a:t>
            </a:r>
            <a:r>
              <a:rPr lang="en-US" altLang="ko-KR" sz="1300" dirty="0" err="1"/>
              <a:t>DataFrame</a:t>
            </a:r>
            <a:r>
              <a:rPr lang="ko-KR" altLang="en-US" sz="1300" dirty="0"/>
              <a:t> 포맷으로 변환하고 상</a:t>
            </a:r>
            <a:r>
              <a:rPr lang="en-US" altLang="ko-KR" sz="1300" dirty="0"/>
              <a:t>.</a:t>
            </a:r>
            <a:r>
              <a:rPr lang="ko-KR" altLang="en-US" sz="1300" dirty="0"/>
              <a:t>하위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en-US" altLang="ko-KR" sz="1300" dirty="0"/>
              <a:t>1%</a:t>
            </a:r>
            <a:r>
              <a:rPr lang="ko-KR" altLang="en-US" sz="1300" dirty="0"/>
              <a:t> 백분위수 기준 </a:t>
            </a:r>
            <a:r>
              <a:rPr lang="ko-KR" altLang="en-US" sz="1300" dirty="0" err="1"/>
              <a:t>이상값을</a:t>
            </a:r>
            <a:r>
              <a:rPr lang="ko-KR" altLang="en-US" sz="1300" dirty="0"/>
              <a:t> 제거하여 모델에 입력한다</a:t>
            </a:r>
            <a:r>
              <a:rPr lang="en-US" altLang="ko-KR" sz="1300" dirty="0"/>
              <a:t>. </a:t>
            </a:r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공휴일 등 거래가 없는 날은 데이터가 존재하지 않으나</a:t>
            </a:r>
            <a:r>
              <a:rPr lang="en-US" altLang="ko-KR" sz="1300" dirty="0"/>
              <a:t>, </a:t>
            </a:r>
            <a:r>
              <a:rPr lang="en" altLang="ko-KR" sz="1300" dirty="0"/>
              <a:t>Prophet</a:t>
            </a:r>
            <a:r>
              <a:rPr lang="ko-KR" altLang="en-US" sz="1300" dirty="0"/>
              <a:t>이 불규칙한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날짜 간격을 자동으로 처리하므로 별도 보간 없이 거래일 데이터를 그대로 사용한다</a:t>
            </a:r>
            <a:r>
              <a:rPr lang="en-US" altLang="ko-KR"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9430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4689E-CF06-6F46-A3AF-05C3E5A70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5D66A26A-AF8E-7E5D-27AB-801394014547}"/>
              </a:ext>
            </a:extLst>
          </p:cNvPr>
          <p:cNvSpPr/>
          <p:nvPr/>
        </p:nvSpPr>
        <p:spPr bwMode="auto">
          <a:xfrm>
            <a:off x="638778" y="349842"/>
            <a:ext cx="9259343" cy="476726"/>
          </a:xfrm>
          <a:prstGeom prst="round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-436425" defTabSz="1102548" latinLnBrk="1">
              <a:defRPr/>
            </a:pPr>
            <a:r>
              <a:rPr lang="en-US" altLang="ko-KR" sz="2800" b="1" dirty="0">
                <a:solidFill>
                  <a:srgbClr val="891A1C"/>
                </a:solidFill>
                <a:latin typeface="+mj-ea"/>
                <a:cs typeface="Pretendard SemiBold" panose="02000703000000020004" pitchFamily="50" charset="-127"/>
              </a:rPr>
              <a:t>STEP 03 </a:t>
            </a:r>
            <a:r>
              <a:rPr lang="ko-KR" altLang="en-US" sz="2800" b="1" dirty="0">
                <a:solidFill>
                  <a:srgbClr val="891A1C"/>
                </a:solidFill>
                <a:latin typeface="+mj-ea"/>
                <a:cs typeface="Pretendard SemiBold" panose="02000703000000020004" pitchFamily="50" charset="-127"/>
              </a:rPr>
              <a:t>분석 방법</a:t>
            </a:r>
            <a:endParaRPr lang="en-US" altLang="ko-KR" sz="2800" b="1" dirty="0">
              <a:solidFill>
                <a:srgbClr val="891A1C"/>
              </a:solidFill>
              <a:latin typeface="+mj-ea"/>
              <a:cs typeface="Pretendard SemiBold" panose="02000703000000020004" pitchFamily="50" charset="-127"/>
            </a:endParaRPr>
          </a:p>
        </p:txBody>
      </p:sp>
      <p:sp>
        <p:nvSpPr>
          <p:cNvPr id="4" name="Google Shape;70;p4">
            <a:extLst>
              <a:ext uri="{FF2B5EF4-FFF2-40B4-BE49-F238E27FC236}">
                <a16:creationId xmlns:a16="http://schemas.microsoft.com/office/drawing/2014/main" id="{7A9620A0-8F4C-2A50-852E-9BE75229FD69}"/>
              </a:ext>
            </a:extLst>
          </p:cNvPr>
          <p:cNvSpPr txBox="1">
            <a:spLocks/>
          </p:cNvSpPr>
          <p:nvPr/>
        </p:nvSpPr>
        <p:spPr>
          <a:xfrm>
            <a:off x="638778" y="1239125"/>
            <a:ext cx="10914444" cy="517378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252000" tIns="108000" rIns="252000" bIns="108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1.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분석 흐름 </a:t>
            </a: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24612-3058-EB3B-CD29-BBC2061628D7}"/>
              </a:ext>
            </a:extLst>
          </p:cNvPr>
          <p:cNvSpPr txBox="1"/>
          <p:nvPr/>
        </p:nvSpPr>
        <p:spPr>
          <a:xfrm>
            <a:off x="638779" y="893243"/>
            <a:ext cx="10981060" cy="2585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500"/>
            </a:pPr>
            <a:r>
              <a:rPr lang="ko-KR" altLang="en-US" sz="1200" b="1">
                <a:latin typeface="Calibri"/>
                <a:ea typeface="Calibri"/>
                <a:cs typeface="Calibri"/>
                <a:sym typeface="Calibri"/>
              </a:rPr>
              <a:t>분석 방법을 효과적으로 작성하려면</a:t>
            </a:r>
            <a:r>
              <a:rPr lang="en-US" altLang="ko-KR" sz="1200" b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200" b="1">
                <a:latin typeface="Calibri"/>
                <a:ea typeface="Calibri"/>
                <a:cs typeface="Calibri"/>
                <a:sym typeface="Calibri"/>
              </a:rPr>
              <a:t>먼저 데이터를 어떻게 처리하고 어떤 도구를 통해 분석할 것인지 전체 흐름을 명확히 설계해야 합니다</a:t>
            </a:r>
            <a:r>
              <a:rPr lang="en-US" altLang="ko-KR" sz="1200" b="1"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C0A74-0915-04A4-E639-0DB969268721}"/>
              </a:ext>
            </a:extLst>
          </p:cNvPr>
          <p:cNvSpPr txBox="1"/>
          <p:nvPr/>
        </p:nvSpPr>
        <p:spPr>
          <a:xfrm>
            <a:off x="914399" y="1757660"/>
            <a:ext cx="6310611" cy="4003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분석은 정량분석</a:t>
            </a:r>
            <a:r>
              <a:rPr lang="en-US" altLang="ko-KR" sz="1200" dirty="0"/>
              <a:t>·</a:t>
            </a:r>
            <a:r>
              <a:rPr lang="ko-KR" altLang="en-US" sz="1200" dirty="0"/>
              <a:t>감성분석</a:t>
            </a:r>
            <a:r>
              <a:rPr lang="en-US" altLang="ko-KR" sz="1200" dirty="0"/>
              <a:t>·</a:t>
            </a:r>
            <a:r>
              <a:rPr lang="ko-KR" altLang="en-US" sz="1200" dirty="0"/>
              <a:t>시계열예측 세 가지 축으로 구성된다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r>
              <a:rPr lang="en" altLang="ko-KR" sz="1200" dirty="0"/>
              <a:t>KIS API </a:t>
            </a:r>
            <a:r>
              <a:rPr lang="ko-KR" altLang="en-US" sz="1200" dirty="0"/>
              <a:t>시세 데이터에서 </a:t>
            </a:r>
            <a:r>
              <a:rPr lang="en" altLang="ko-KR" sz="1200" dirty="0"/>
              <a:t>KIS 4</a:t>
            </a:r>
            <a:r>
              <a:rPr lang="ko-KR" altLang="en-US" sz="1200" dirty="0"/>
              <a:t>개 피처를 산출하고 </a:t>
            </a:r>
            <a:r>
              <a:rPr lang="en" altLang="ko-KR" sz="1200" dirty="0"/>
              <a:t>DART </a:t>
            </a:r>
            <a:r>
              <a:rPr lang="ko-KR" altLang="en-US" sz="1200" dirty="0"/>
              <a:t>재무지표 </a:t>
            </a:r>
            <a:r>
              <a:rPr lang="en-US" altLang="ko-KR" sz="1200" dirty="0"/>
              <a:t>3</a:t>
            </a:r>
            <a:r>
              <a:rPr lang="ko-KR" altLang="en-US" sz="1200" dirty="0"/>
              <a:t>개를 결합한다</a:t>
            </a:r>
            <a:r>
              <a:rPr lang="en-US" altLang="ko-KR" sz="1200" dirty="0"/>
              <a:t>. </a:t>
            </a:r>
            <a:r>
              <a:rPr lang="ko-KR" altLang="en-US" sz="1200" dirty="0"/>
              <a:t>외국인</a:t>
            </a:r>
            <a:r>
              <a:rPr lang="en-US" altLang="ko-KR" sz="1200" dirty="0"/>
              <a:t>·</a:t>
            </a:r>
            <a:r>
              <a:rPr lang="ko-KR" altLang="en-US" sz="1200" dirty="0"/>
              <a:t>기관 순매수는 단기 수급 선행 지표로</a:t>
            </a:r>
            <a:r>
              <a:rPr lang="en-US" altLang="ko-KR" sz="1200" dirty="0"/>
              <a:t>, </a:t>
            </a:r>
            <a:r>
              <a:rPr lang="ko-KR" altLang="en-US" sz="1200" dirty="0"/>
              <a:t>재무지표는 </a:t>
            </a:r>
            <a:r>
              <a:rPr lang="ko-KR" altLang="en-US" sz="1200" dirty="0" err="1"/>
              <a:t>펀더멘탈</a:t>
            </a:r>
            <a:r>
              <a:rPr lang="ko-KR" altLang="en-US" sz="1200" dirty="0"/>
              <a:t> 안정성 필터로 활용한다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5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뉴스 텍스트는 </a:t>
            </a:r>
            <a:r>
              <a:rPr lang="en" altLang="ko-KR" sz="1200" dirty="0"/>
              <a:t>KR-</a:t>
            </a:r>
            <a:r>
              <a:rPr lang="en" altLang="ko-KR" sz="1200" dirty="0" err="1"/>
              <a:t>FinBERT</a:t>
            </a:r>
            <a:r>
              <a:rPr lang="ko-KR" altLang="en-US" sz="1200" dirty="0"/>
              <a:t>로 감성 점수를 산출한다</a:t>
            </a:r>
            <a:r>
              <a:rPr lang="en-US" altLang="ko-KR" sz="1200" dirty="0"/>
              <a:t>. </a:t>
            </a:r>
            <a:r>
              <a:rPr lang="ko-KR" altLang="en-US" sz="1200" dirty="0"/>
              <a:t>뉴스 감성과 단기 주가 수익률 간 유의미한 상관관계는 실증 연구에서 확인된 바 있으며</a:t>
            </a:r>
            <a:r>
              <a:rPr lang="en-US" altLang="ko-KR" sz="1200" dirty="0"/>
              <a:t>, </a:t>
            </a:r>
            <a:r>
              <a:rPr lang="en" altLang="ko-KR" sz="1200" dirty="0"/>
              <a:t>KR-</a:t>
            </a:r>
            <a:r>
              <a:rPr lang="en" altLang="ko-KR" sz="1200" dirty="0" err="1"/>
              <a:t>FinBERT</a:t>
            </a:r>
            <a:r>
              <a:rPr lang="ko-KR" altLang="en-US" sz="1200" dirty="0"/>
              <a:t>는 동일 방법론의 한국어 금융 특화 모델이다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5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120</a:t>
            </a:r>
            <a:r>
              <a:rPr lang="ko-KR" altLang="en-US" sz="1200" dirty="0"/>
              <a:t>거래일 </a:t>
            </a:r>
            <a:r>
              <a:rPr lang="ko-KR" altLang="en-US" sz="1200" dirty="0" err="1"/>
              <a:t>일봉</a:t>
            </a:r>
            <a:r>
              <a:rPr lang="ko-KR" altLang="en-US" sz="1200" dirty="0"/>
              <a:t> 데이터는 </a:t>
            </a:r>
            <a:r>
              <a:rPr lang="en" altLang="ko-KR" sz="1200" dirty="0"/>
              <a:t>Prophet</a:t>
            </a:r>
            <a:r>
              <a:rPr lang="ko-KR" altLang="en-US" sz="1200" dirty="0" err="1"/>
              <a:t>으로</a:t>
            </a:r>
            <a:r>
              <a:rPr lang="ko-KR" altLang="en-US" sz="1200" dirty="0"/>
              <a:t> 단기 가격</a:t>
            </a:r>
            <a:r>
              <a:rPr lang="en-US" altLang="ko-KR" sz="1200" dirty="0"/>
              <a:t>·</a:t>
            </a:r>
            <a:r>
              <a:rPr lang="ko-KR" altLang="en-US" sz="1200" dirty="0"/>
              <a:t>거래량 추세를 예측한다</a:t>
            </a:r>
            <a:r>
              <a:rPr lang="en-US" altLang="ko-KR" sz="1200" dirty="0"/>
              <a:t>. </a:t>
            </a:r>
            <a:r>
              <a:rPr lang="ko-KR" altLang="en-US" sz="1200" dirty="0"/>
              <a:t>단</a:t>
            </a:r>
            <a:r>
              <a:rPr lang="en-US" altLang="ko-KR" sz="1200" dirty="0"/>
              <a:t>, </a:t>
            </a:r>
            <a:r>
              <a:rPr lang="ko-KR" altLang="en-US" sz="1200" dirty="0"/>
              <a:t>한국 시장에서 전통적 모멘텀 전략의 수익성이 부정적으로 나타나는 경향이 있어 수급</a:t>
            </a:r>
            <a:r>
              <a:rPr lang="en-US" altLang="ko-KR" sz="1200" dirty="0"/>
              <a:t>·</a:t>
            </a:r>
            <a:r>
              <a:rPr lang="ko-KR" altLang="en-US" sz="1200" dirty="0"/>
              <a:t>감성 신호의 보조 지표로 활용한다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5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세 축의 </a:t>
            </a:r>
            <a:r>
              <a:rPr lang="en-US" altLang="ko-KR" sz="1200" dirty="0"/>
              <a:t>11</a:t>
            </a:r>
            <a:r>
              <a:rPr lang="ko-KR" altLang="en-US" sz="1200" dirty="0"/>
              <a:t>개 피처를 종합하여 </a:t>
            </a:r>
            <a:r>
              <a:rPr lang="en" altLang="ko-KR" sz="1200" dirty="0"/>
              <a:t>Gemini</a:t>
            </a:r>
            <a:r>
              <a:rPr lang="ko-KR" altLang="en-US" sz="1200" dirty="0"/>
              <a:t>가 매수</a:t>
            </a:r>
            <a:r>
              <a:rPr lang="en-US" altLang="ko-KR" sz="1200" dirty="0"/>
              <a:t>/</a:t>
            </a:r>
            <a:r>
              <a:rPr lang="ko-KR" altLang="en-US" sz="1200" dirty="0"/>
              <a:t>매도 </a:t>
            </a:r>
            <a:r>
              <a:rPr lang="en" altLang="ko-KR" sz="1200" dirty="0"/>
              <a:t>TOP3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판단한다</a:t>
            </a:r>
            <a:r>
              <a:rPr lang="en-US" altLang="ko-KR" sz="1200" dirty="0"/>
              <a:t>. </a:t>
            </a:r>
            <a:r>
              <a:rPr lang="ko-KR" altLang="en-US" sz="1200" dirty="0"/>
              <a:t>피처 우선순위 지침을 프롬프트에 명시하여 </a:t>
            </a:r>
            <a:r>
              <a:rPr lang="en" altLang="ko-KR" sz="1200" dirty="0"/>
              <a:t>AI</a:t>
            </a:r>
            <a:r>
              <a:rPr lang="ko-KR" altLang="en-US" sz="1200" dirty="0"/>
              <a:t>의 임의 가중치 부여를 방지하며</a:t>
            </a:r>
            <a:r>
              <a:rPr lang="en-US" altLang="ko-KR" sz="1200" dirty="0"/>
              <a:t>, </a:t>
            </a:r>
            <a:r>
              <a:rPr lang="ko-KR" altLang="en-US" sz="1200" dirty="0"/>
              <a:t>판단 이후 룰 기반 안전망 필터를 추가 적용하여 조건 </a:t>
            </a:r>
            <a:r>
              <a:rPr lang="ko-KR" altLang="en-US" sz="1200" dirty="0" err="1"/>
              <a:t>미충족</a:t>
            </a:r>
            <a:r>
              <a:rPr lang="ko-KR" altLang="en-US" sz="1200" dirty="0"/>
              <a:t> 종목의 주문을 보류하고 조건 충족 종목에 한해 </a:t>
            </a:r>
            <a:r>
              <a:rPr lang="en" altLang="ko-KR" sz="1200" dirty="0"/>
              <a:t>KIS </a:t>
            </a:r>
            <a:r>
              <a:rPr lang="ko-KR" altLang="en-US" sz="1200" dirty="0"/>
              <a:t>모의투자 </a:t>
            </a:r>
            <a:r>
              <a:rPr lang="en" altLang="ko-KR" sz="1200" dirty="0"/>
              <a:t>API</a:t>
            </a:r>
            <a:r>
              <a:rPr lang="ko-KR" altLang="en-US" sz="1200" dirty="0"/>
              <a:t>로 자동 주문을 실행한다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3C190D-B0B8-FAD2-E92C-317679F70B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463"/>
          <a:stretch>
            <a:fillRect/>
          </a:stretch>
        </p:blipFill>
        <p:spPr>
          <a:xfrm>
            <a:off x="7662247" y="1270240"/>
            <a:ext cx="3519275" cy="501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39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FE776-7E29-8039-D6C9-46546A5A6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5FE24533-881E-614E-DEEF-0D751553E4E6}"/>
              </a:ext>
            </a:extLst>
          </p:cNvPr>
          <p:cNvSpPr/>
          <p:nvPr/>
        </p:nvSpPr>
        <p:spPr bwMode="auto">
          <a:xfrm>
            <a:off x="638778" y="349842"/>
            <a:ext cx="9259343" cy="476726"/>
          </a:xfrm>
          <a:prstGeom prst="round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-436425" defTabSz="1102548" latinLnBrk="1">
              <a:defRPr/>
            </a:pPr>
            <a:r>
              <a:rPr lang="en-US" altLang="ko-KR" sz="2800" b="1" dirty="0">
                <a:solidFill>
                  <a:srgbClr val="891A1C"/>
                </a:solidFill>
                <a:latin typeface="+mj-ea"/>
                <a:cs typeface="Pretendard SemiBold" panose="02000703000000020004" pitchFamily="50" charset="-127"/>
              </a:rPr>
              <a:t>STEP 03 </a:t>
            </a:r>
            <a:r>
              <a:rPr lang="ko-KR" altLang="en-US" sz="2800" b="1" dirty="0">
                <a:solidFill>
                  <a:srgbClr val="891A1C"/>
                </a:solidFill>
                <a:latin typeface="+mj-ea"/>
                <a:cs typeface="Pretendard SemiBold" panose="02000703000000020004" pitchFamily="50" charset="-127"/>
              </a:rPr>
              <a:t>분석 방법</a:t>
            </a:r>
            <a:endParaRPr lang="en-US" altLang="ko-KR" sz="2800" b="1" dirty="0">
              <a:solidFill>
                <a:srgbClr val="891A1C"/>
              </a:solidFill>
              <a:latin typeface="+mj-ea"/>
              <a:cs typeface="Pretendard SemiBold" panose="02000703000000020004" pitchFamily="50" charset="-127"/>
            </a:endParaRPr>
          </a:p>
        </p:txBody>
      </p:sp>
      <p:sp>
        <p:nvSpPr>
          <p:cNvPr id="4" name="Google Shape;70;p4">
            <a:extLst>
              <a:ext uri="{FF2B5EF4-FFF2-40B4-BE49-F238E27FC236}">
                <a16:creationId xmlns:a16="http://schemas.microsoft.com/office/drawing/2014/main" id="{4DACB672-E0FC-9A28-0816-3E4FC2908B43}"/>
              </a:ext>
            </a:extLst>
          </p:cNvPr>
          <p:cNvSpPr txBox="1">
            <a:spLocks/>
          </p:cNvSpPr>
          <p:nvPr/>
        </p:nvSpPr>
        <p:spPr>
          <a:xfrm>
            <a:off x="638778" y="1239125"/>
            <a:ext cx="10914444" cy="517378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252000" tIns="108000" rIns="252000" bIns="108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2.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 피처 선정 근거 및 중요도</a:t>
            </a: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F5FC61-40A5-55DA-9DF2-A8A720D812C0}"/>
              </a:ext>
            </a:extLst>
          </p:cNvPr>
          <p:cNvSpPr txBox="1"/>
          <p:nvPr/>
        </p:nvSpPr>
        <p:spPr>
          <a:xfrm>
            <a:off x="638779" y="893243"/>
            <a:ext cx="10981060" cy="2585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500"/>
            </a:pPr>
            <a:r>
              <a:rPr lang="ko-KR" altLang="en-US" sz="1200" b="1">
                <a:latin typeface="Calibri"/>
                <a:ea typeface="Calibri"/>
                <a:cs typeface="Calibri"/>
                <a:sym typeface="Calibri"/>
              </a:rPr>
              <a:t>분석 방법을 효과적으로 작성하려면</a:t>
            </a:r>
            <a:r>
              <a:rPr lang="en-US" altLang="ko-KR" sz="1200" b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200" b="1">
                <a:latin typeface="Calibri"/>
                <a:ea typeface="Calibri"/>
                <a:cs typeface="Calibri"/>
                <a:sym typeface="Calibri"/>
              </a:rPr>
              <a:t>먼저 데이터를 어떻게 처리하고 어떤 도구를 통해 분석할 것인지 전체 흐름을 명확히 설계해야 합니다</a:t>
            </a:r>
            <a:r>
              <a:rPr lang="en-US" altLang="ko-KR" sz="1200" b="1"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표 피처근거">
            <a:extLst>
              <a:ext uri="{FF2B5EF4-FFF2-40B4-BE49-F238E27FC236}">
                <a16:creationId xmlns:a16="http://schemas.microsoft.com/office/drawing/2014/main" id="{51D3580E-1E7E-5428-219D-809536E53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911484"/>
              </p:ext>
            </p:extLst>
          </p:nvPr>
        </p:nvGraphicFramePr>
        <p:xfrm>
          <a:off x="888022" y="1934309"/>
          <a:ext cx="10427677" cy="4179863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441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8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4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8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chemeClr val="tx1"/>
                          </a:solidFill>
                        </a:rPr>
                        <a:t>순위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chemeClr val="tx1"/>
                          </a:solidFill>
                        </a:rPr>
                        <a:t>피처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</a:rPr>
                        <a:t>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chemeClr val="tx1"/>
                          </a:solidFill>
                        </a:rPr>
                        <a:t>선정 근거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</a:rPr>
                        <a:t>참고 자료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 dirty="0"/>
                        <a:t>1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 b="1" dirty="0" err="1"/>
                        <a:t>foreign_net_buy</a:t>
                      </a:r>
                      <a:endParaRPr lang="en" sz="800" b="1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/>
                        <a:t>단기 수급 선행 지표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dirty="0"/>
                        <a:t>외국인 투자자는 한국 시장에서 </a:t>
                      </a:r>
                      <a:r>
                        <a:rPr lang="ko-KR" sz="800" dirty="0" err="1"/>
                        <a:t>기관·개인</a:t>
                      </a:r>
                      <a:r>
                        <a:rPr lang="ko-KR" sz="800" dirty="0"/>
                        <a:t> 대비 초과성과 기록. 집중 매수 패턴이 단기 수익률과 연동됨이 실증됨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/>
                        <a:t>Bae, Min &amp; Jung (2011), Asia-Pacific J. of Financial Studies, Vol.40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/>
                        <a:t>2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 b="1" dirty="0" err="1"/>
                        <a:t>institutional_net_buy</a:t>
                      </a:r>
                      <a:endParaRPr lang="en" sz="800" b="1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/>
                        <a:t>수급 강도 확인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/>
                        <a:t>기관·외국인은 미스프라이싱을 포착하는 정교한 투자자. 개인은 노이즈 트레이더로 이상현상을 생성함이 실증됨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/>
                        <a:t>Kim, Kang &amp; Roh (2025), Pacific-Basin Finance Journal, Vol.90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/>
                        <a:t>3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 b="1" dirty="0" err="1"/>
                        <a:t>sentiment_score</a:t>
                      </a:r>
                      <a:endParaRPr lang="en" sz="800" b="1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/>
                        <a:t>시장 심리 정량화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/>
                        <a:t>LLM 기반 뉴스 헤드라인 감성이 일별 주가 수익률을 유의미하게 예측함을 실증. KR-FinBERT는 동일 방법론의 한국어 특화 모델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/>
                        <a:t>Lopez-Lira &amp; Tang (2023), arXiv:2304.07619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/>
                        <a:t>4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 b="1" dirty="0" err="1"/>
                        <a:t>morning_return</a:t>
                      </a:r>
                      <a:endParaRPr lang="en" sz="800" b="1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/>
                        <a:t>당일 방향성 조기 신호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dirty="0" err="1"/>
                        <a:t>장초반</a:t>
                      </a:r>
                      <a:r>
                        <a:rPr lang="ko-KR" sz="800" dirty="0"/>
                        <a:t>(09:00~10:00) 수익률은 당일 </a:t>
                      </a:r>
                      <a:r>
                        <a:rPr lang="ko-KR" sz="800" dirty="0" err="1"/>
                        <a:t>외국인·기관</a:t>
                      </a:r>
                      <a:r>
                        <a:rPr lang="ko-KR" sz="800" dirty="0"/>
                        <a:t> 매매 방향이 초기 반영된 지표. 당일 매매 방향 판단의 조기 확인 신호로 실무 활용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/>
                        <a:t>실무 관행 기반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/>
                        <a:t>5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 b="1" dirty="0" err="1"/>
                        <a:t>close_position</a:t>
                      </a:r>
                      <a:endParaRPr lang="en" sz="800" b="1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/>
                        <a:t>매수 강도 확인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dirty="0"/>
                        <a:t>(종가-저가)/(고가-저가). 값이 1에 가까울수록 장 마감 시 매수 압력이 강했음을 의미. 캔들 분석 실무 관행 기반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/>
                        <a:t>기술적 분석 실무 관행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/>
                        <a:t>6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 b="1" dirty="0" err="1"/>
                        <a:t>prophet_price_trend</a:t>
                      </a:r>
                      <a:endParaRPr lang="en" sz="800" b="1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/>
                        <a:t>가격 방향성 보조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dirty="0"/>
                        <a:t>120거래일 </a:t>
                      </a:r>
                      <a:r>
                        <a:rPr lang="ko-KR" sz="800" dirty="0" err="1"/>
                        <a:t>Prophet</a:t>
                      </a:r>
                      <a:r>
                        <a:rPr lang="ko-KR" sz="800" dirty="0"/>
                        <a:t> 예측 기울기. 단, 한국 시장에서 전통적 모멘텀 전략은 부정적 수익이 보고되어 </a:t>
                      </a:r>
                      <a:r>
                        <a:rPr lang="ko-KR" sz="800" dirty="0" err="1"/>
                        <a:t>수급·감성</a:t>
                      </a:r>
                      <a:r>
                        <a:rPr lang="ko-KR" sz="800" dirty="0"/>
                        <a:t> 신호의 보조 지표로 활용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/>
                        <a:t>Chae &amp; Eom (2009), Asia-Pacific J. of Financial Studies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/>
                        <a:t>7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 b="1" dirty="0" err="1"/>
                        <a:t>prophet_volume_trend</a:t>
                      </a:r>
                      <a:endParaRPr lang="en" sz="800" b="1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/>
                        <a:t>수급 지속성 확인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dirty="0"/>
                        <a:t>거래량은 가격만으로 추론 불가한 독립적 정보 신호를 포함함이 </a:t>
                      </a:r>
                      <a:r>
                        <a:rPr lang="ko-KR" sz="800" dirty="0" err="1"/>
                        <a:t>이론·실증으로</a:t>
                      </a:r>
                      <a:r>
                        <a:rPr lang="ko-KR" sz="800" dirty="0"/>
                        <a:t> 확인됨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/>
                        <a:t>Blume, Easley &amp; O'Hara (1994), Journal of Finance, Vol.49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/>
                        <a:t>8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 b="1" dirty="0"/>
                        <a:t>roe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/>
                        <a:t>펀더멘탈 수익성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dirty="0"/>
                        <a:t>5팩터 모델에서 수익성(RMW) </a:t>
                      </a:r>
                      <a:r>
                        <a:rPr lang="ko-KR" sz="800" dirty="0" err="1"/>
                        <a:t>팩터가</a:t>
                      </a:r>
                      <a:r>
                        <a:rPr lang="ko-KR" sz="800" dirty="0"/>
                        <a:t> 주가 수익률 설명력을 유의미하게 향상시킴을 실증. </a:t>
                      </a:r>
                      <a:r>
                        <a:rPr lang="ko-KR" sz="800" dirty="0" err="1"/>
                        <a:t>ROE는</a:t>
                      </a:r>
                      <a:r>
                        <a:rPr lang="ko-KR" sz="800" dirty="0"/>
                        <a:t> 대표적 수익성 지표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 dirty="0"/>
                        <a:t>Fama &amp; French (2015), Journal of Financial Economics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/>
                        <a:t>9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 b="1" dirty="0"/>
                        <a:t>per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/>
                        <a:t>밸류에이션 필터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dirty="0" err="1"/>
                        <a:t>저PER</a:t>
                      </a:r>
                      <a:r>
                        <a:rPr lang="ko-KR" sz="800" dirty="0"/>
                        <a:t> 가치주의 장기 초과수익이 실증됨(가치 </a:t>
                      </a:r>
                      <a:r>
                        <a:rPr lang="ko-KR" sz="800" dirty="0" err="1"/>
                        <a:t>팩터</a:t>
                      </a:r>
                      <a:r>
                        <a:rPr lang="ko-KR" sz="800" dirty="0"/>
                        <a:t>). 본 시스템에서는 극단적 </a:t>
                      </a:r>
                      <a:r>
                        <a:rPr lang="ko-KR" sz="800" dirty="0" err="1"/>
                        <a:t>고평가</a:t>
                      </a:r>
                      <a:r>
                        <a:rPr lang="ko-KR" sz="800" dirty="0"/>
                        <a:t> 종목 필터 역할로 활용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 dirty="0"/>
                        <a:t>Fama &amp; French (1993), Journal of Financial Economics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0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/>
                        <a:t>10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 b="1" dirty="0" err="1"/>
                        <a:t>operating_margin</a:t>
                      </a:r>
                      <a:endParaRPr lang="en" sz="800" b="1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/>
                        <a:t>사업 효율성 검증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dirty="0"/>
                        <a:t>영업이익률로 기업 본업 수익 구조 확인. </a:t>
                      </a:r>
                      <a:r>
                        <a:rPr lang="ko-KR" sz="800" dirty="0" err="1"/>
                        <a:t>ROE와</a:t>
                      </a:r>
                      <a:r>
                        <a:rPr lang="ko-KR" sz="800" dirty="0"/>
                        <a:t> 함께 </a:t>
                      </a:r>
                      <a:r>
                        <a:rPr lang="ko-KR" sz="800" dirty="0" err="1"/>
                        <a:t>펀더멘탈</a:t>
                      </a:r>
                      <a:r>
                        <a:rPr lang="ko-KR" sz="800" dirty="0"/>
                        <a:t> 이중 검증 역할. 수익성 지표는 5팩터 모델에서 유의미한 설명력 확인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 dirty="0"/>
                        <a:t>Fama &amp; French (2015), Journal of Financial Economics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0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/>
                        <a:t>11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 b="1" dirty="0" err="1"/>
                        <a:t>prophet_price_uncertainty</a:t>
                      </a:r>
                      <a:endParaRPr lang="en" sz="800" b="1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/>
                        <a:t>리스크 조정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/>
                        <a:t>yhat_upper-yhat_lower 기반 예측 신뢰구간 폭. 불확실성 높은 종목의 가중치 조정에 활용. Prophet 모델의 신뢰구간 산출 방식에 기반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800" dirty="0"/>
                        <a:t>Taylor &amp; Letham (2018), The American Statistician, Vol.72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429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C2D0A-7268-2A56-DE7A-E348804DA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FA8C176A-B32B-9262-97AC-AE45B31F8402}"/>
              </a:ext>
            </a:extLst>
          </p:cNvPr>
          <p:cNvSpPr/>
          <p:nvPr/>
        </p:nvSpPr>
        <p:spPr bwMode="auto">
          <a:xfrm>
            <a:off x="638778" y="349842"/>
            <a:ext cx="9259343" cy="476726"/>
          </a:xfrm>
          <a:prstGeom prst="round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-436425" defTabSz="1102548" latinLnBrk="1">
              <a:defRPr/>
            </a:pPr>
            <a:r>
              <a:rPr lang="en-US" altLang="ko-KR" sz="2800" b="1" dirty="0">
                <a:solidFill>
                  <a:srgbClr val="891A1C"/>
                </a:solidFill>
                <a:latin typeface="+mj-ea"/>
                <a:cs typeface="Pretendard SemiBold" panose="02000703000000020004" pitchFamily="50" charset="-127"/>
              </a:rPr>
              <a:t>STEP 03 </a:t>
            </a:r>
            <a:r>
              <a:rPr lang="ko-KR" altLang="en-US" sz="2800" b="1" dirty="0">
                <a:solidFill>
                  <a:srgbClr val="891A1C"/>
                </a:solidFill>
                <a:latin typeface="+mj-ea"/>
                <a:cs typeface="Pretendard SemiBold" panose="02000703000000020004" pitchFamily="50" charset="-127"/>
              </a:rPr>
              <a:t>분석 방법</a:t>
            </a:r>
            <a:endParaRPr lang="en-US" altLang="ko-KR" sz="2800" b="1" dirty="0">
              <a:solidFill>
                <a:srgbClr val="891A1C"/>
              </a:solidFill>
              <a:latin typeface="+mj-ea"/>
              <a:cs typeface="Pretendard SemiBold" panose="02000703000000020004" pitchFamily="50" charset="-127"/>
            </a:endParaRPr>
          </a:p>
        </p:txBody>
      </p:sp>
      <p:sp>
        <p:nvSpPr>
          <p:cNvPr id="4" name="Google Shape;70;p4">
            <a:extLst>
              <a:ext uri="{FF2B5EF4-FFF2-40B4-BE49-F238E27FC236}">
                <a16:creationId xmlns:a16="http://schemas.microsoft.com/office/drawing/2014/main" id="{F7841CF7-79BF-7451-9055-FEDA71AEE50B}"/>
              </a:ext>
            </a:extLst>
          </p:cNvPr>
          <p:cNvSpPr txBox="1">
            <a:spLocks/>
          </p:cNvSpPr>
          <p:nvPr/>
        </p:nvSpPr>
        <p:spPr>
          <a:xfrm>
            <a:off x="638778" y="1239125"/>
            <a:ext cx="10914444" cy="517378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252000" tIns="108000" rIns="252000" bIns="108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3.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  <a:t>사용한 도구 및 기법</a:t>
            </a: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DAF23-7F65-9D20-6799-B79370764891}"/>
              </a:ext>
            </a:extLst>
          </p:cNvPr>
          <p:cNvSpPr txBox="1"/>
          <p:nvPr/>
        </p:nvSpPr>
        <p:spPr>
          <a:xfrm>
            <a:off x="638779" y="893243"/>
            <a:ext cx="10981060" cy="2585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500"/>
            </a:pPr>
            <a:r>
              <a:rPr lang="ko-KR" altLang="en-US" sz="1200" b="1">
                <a:latin typeface="Calibri"/>
                <a:ea typeface="Calibri"/>
                <a:cs typeface="Calibri"/>
                <a:sym typeface="Calibri"/>
              </a:rPr>
              <a:t>분석 방법을 효과적으로 작성하려면</a:t>
            </a:r>
            <a:r>
              <a:rPr lang="en-US" altLang="ko-KR" sz="1200" b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200" b="1">
                <a:latin typeface="Calibri"/>
                <a:ea typeface="Calibri"/>
                <a:cs typeface="Calibri"/>
                <a:sym typeface="Calibri"/>
              </a:rPr>
              <a:t>먼저 데이터를 어떻게 처리하고 어떤 도구를 통해 분석할 것인지 전체 흐름을 명확히 설계해야 합니다</a:t>
            </a:r>
            <a:r>
              <a:rPr lang="en-US" altLang="ko-KR" sz="1200" b="1"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A377D26-CE7C-EC5B-CA2E-E9BC65DFE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072984"/>
              </p:ext>
            </p:extLst>
          </p:nvPr>
        </p:nvGraphicFramePr>
        <p:xfrm>
          <a:off x="1477218" y="2206869"/>
          <a:ext cx="9237564" cy="3540773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146966">
                  <a:extLst>
                    <a:ext uri="{9D8B030D-6E8A-4147-A177-3AD203B41FA5}">
                      <a16:colId xmlns:a16="http://schemas.microsoft.com/office/drawing/2014/main" val="2291614906"/>
                    </a:ext>
                  </a:extLst>
                </a:gridCol>
                <a:gridCol w="2540396">
                  <a:extLst>
                    <a:ext uri="{9D8B030D-6E8A-4147-A177-3AD203B41FA5}">
                      <a16:colId xmlns:a16="http://schemas.microsoft.com/office/drawing/2014/main" val="3833927213"/>
                    </a:ext>
                  </a:extLst>
                </a:gridCol>
                <a:gridCol w="4550202">
                  <a:extLst>
                    <a:ext uri="{9D8B030D-6E8A-4147-A177-3AD203B41FA5}">
                      <a16:colId xmlns:a16="http://schemas.microsoft.com/office/drawing/2014/main" val="1199869430"/>
                    </a:ext>
                  </a:extLst>
                </a:gridCol>
              </a:tblGrid>
              <a:tr h="3474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도구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기법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목적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세부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144238"/>
                  </a:ext>
                </a:extLst>
              </a:tr>
              <a:tr h="3551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00" b="1" dirty="0"/>
                        <a:t>Python / </a:t>
                      </a:r>
                      <a:r>
                        <a:rPr lang="en" sz="1000" b="1" dirty="0" err="1"/>
                        <a:t>FastAPI</a:t>
                      </a:r>
                      <a:endParaRPr lang="en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/>
                        <a:t>전체 파이프라인 구현 및 서빙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데이터 수집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 err="1"/>
                        <a:t>전처리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모델 실행</a:t>
                      </a:r>
                      <a:r>
                        <a:rPr lang="en-US" altLang="ko-KR" sz="1000" dirty="0"/>
                        <a:t>, </a:t>
                      </a:r>
                      <a:r>
                        <a:rPr lang="en" sz="1000" dirty="0"/>
                        <a:t>API </a:t>
                      </a:r>
                      <a:r>
                        <a:rPr lang="ko-KR" altLang="en-US" sz="1000" dirty="0"/>
                        <a:t>호출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차트 정적 파일 서빙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9257604"/>
                  </a:ext>
                </a:extLst>
              </a:tr>
              <a:tr h="3551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00" b="1" dirty="0"/>
                        <a:t>pandas / NumPy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/>
                        <a:t>정량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피처 계산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 err="1"/>
                        <a:t>이상값</a:t>
                      </a:r>
                      <a:r>
                        <a:rPr lang="ko-KR" altLang="en-US" sz="1000" dirty="0"/>
                        <a:t> 제거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데이터 </a:t>
                      </a:r>
                      <a:r>
                        <a:rPr lang="ko-KR" altLang="en-US" sz="1000" dirty="0" err="1"/>
                        <a:t>전처리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696773"/>
                  </a:ext>
                </a:extLst>
              </a:tr>
              <a:tr h="3551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00" b="1" dirty="0"/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종목 필터링 스코어링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altLang="ko-KR" sz="1000" dirty="0" err="1"/>
                        <a:t>StandardScaler</a:t>
                      </a:r>
                      <a:r>
                        <a:rPr lang="en" altLang="ko-KR" sz="1000" dirty="0"/>
                        <a:t> </a:t>
                      </a:r>
                      <a:r>
                        <a:rPr lang="ko-KR" altLang="en-US" sz="1000" dirty="0"/>
                        <a:t>정규화 → </a:t>
                      </a:r>
                      <a:r>
                        <a:rPr lang="ko-KR" altLang="en-US" sz="1000" dirty="0" err="1"/>
                        <a:t>가중합산</a:t>
                      </a:r>
                      <a:r>
                        <a:rPr lang="ko-KR" altLang="en-US" sz="1000" dirty="0"/>
                        <a:t> 스코어 → 상위 </a:t>
                      </a:r>
                      <a:r>
                        <a:rPr lang="en-US" altLang="ko-KR" sz="1000" dirty="0"/>
                        <a:t>30</a:t>
                      </a:r>
                      <a:r>
                        <a:rPr lang="ko-KR" altLang="en-US" sz="1000" dirty="0"/>
                        <a:t>종목 선정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3532"/>
                  </a:ext>
                </a:extLst>
              </a:tr>
              <a:tr h="3551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00" b="1" dirty="0"/>
                        <a:t>KR-</a:t>
                      </a:r>
                      <a:r>
                        <a:rPr lang="en" sz="1000" b="1" dirty="0" err="1"/>
                        <a:t>FinBERT</a:t>
                      </a:r>
                      <a:endParaRPr lang="en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감성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뉴스 텍스트 → 긍정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부정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중립 → 감성 점수 </a:t>
                      </a:r>
                      <a:r>
                        <a:rPr lang="en-US" altLang="ko-KR" sz="1000" dirty="0"/>
                        <a:t>(-1.0~1.0)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449841"/>
                  </a:ext>
                </a:extLst>
              </a:tr>
              <a:tr h="3551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00" b="1" dirty="0"/>
                        <a:t>Prophet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시계열 예측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/>
                        <a:t>120</a:t>
                      </a:r>
                      <a:r>
                        <a:rPr lang="ko-KR" altLang="en-US" sz="1000" dirty="0"/>
                        <a:t>거래일 기반 단기 가격</a:t>
                      </a:r>
                      <a:r>
                        <a:rPr lang="en-US" altLang="ko-KR" sz="1000" dirty="0"/>
                        <a:t>·</a:t>
                      </a:r>
                      <a:r>
                        <a:rPr lang="ko-KR" altLang="en-US" sz="1000" dirty="0"/>
                        <a:t>거래량</a:t>
                      </a:r>
                      <a:r>
                        <a:rPr lang="en-US" altLang="ko-KR" sz="1000" dirty="0"/>
                        <a:t>·</a:t>
                      </a:r>
                      <a:r>
                        <a:rPr lang="ko-KR" altLang="en-US" sz="1000" dirty="0"/>
                        <a:t>불확실성 예측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301021"/>
                  </a:ext>
                </a:extLst>
              </a:tr>
              <a:tr h="3551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00" b="1"/>
                        <a:t>matplotlib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시각화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분석 결과 차트 </a:t>
                      </a:r>
                      <a:r>
                        <a:rPr lang="en" sz="1000" dirty="0"/>
                        <a:t>PNG </a:t>
                      </a:r>
                      <a:r>
                        <a:rPr lang="ko-KR" altLang="en-US" sz="1000" dirty="0"/>
                        <a:t>생성 및 정적 파일 서빙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5542156"/>
                  </a:ext>
                </a:extLst>
              </a:tr>
              <a:tr h="3551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00" b="1"/>
                        <a:t>Gemini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생성형 </a:t>
                      </a:r>
                      <a:r>
                        <a:rPr lang="en" sz="1000" dirty="0"/>
                        <a:t>AI </a:t>
                      </a:r>
                      <a:r>
                        <a:rPr lang="ko-KR" altLang="en-US" sz="1000" dirty="0"/>
                        <a:t>판단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/>
                        <a:t>14</a:t>
                      </a:r>
                      <a:r>
                        <a:rPr lang="ko-KR" altLang="en-US" sz="1000" dirty="0"/>
                        <a:t>개 피처 입력 → 매수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매도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관망 결정 및 근거 생성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880587"/>
                  </a:ext>
                </a:extLst>
              </a:tr>
              <a:tr h="3518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00" b="1"/>
                        <a:t>KIS / DART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/>
                        <a:t>데이터 수집 및 자동매매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시세</a:t>
                      </a:r>
                      <a:r>
                        <a:rPr lang="en-US" altLang="ko-KR" sz="1000" dirty="0"/>
                        <a:t>·</a:t>
                      </a:r>
                      <a:r>
                        <a:rPr lang="ko-KR" altLang="en-US" sz="1000" dirty="0"/>
                        <a:t>재무지표 수집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모의투자 주문 실행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보유현황 조회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2211345"/>
                  </a:ext>
                </a:extLst>
              </a:tr>
              <a:tr h="3551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00" b="1" dirty="0" err="1"/>
                        <a:t>SpringBoot</a:t>
                      </a:r>
                      <a:r>
                        <a:rPr lang="en" sz="1000" b="1" dirty="0"/>
                        <a:t> / Vue3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/>
                        <a:t>백엔드 서비스 및 프론트엔드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매매 실행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거래 내역 조회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대시보드 시각화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7777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459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3D2D6-34CD-2D28-8BE5-43119D32A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4451E0C5-97EE-A4B7-601B-D09AA017B724}"/>
              </a:ext>
            </a:extLst>
          </p:cNvPr>
          <p:cNvSpPr/>
          <p:nvPr/>
        </p:nvSpPr>
        <p:spPr bwMode="auto">
          <a:xfrm>
            <a:off x="638778" y="349842"/>
            <a:ext cx="9259343" cy="476726"/>
          </a:xfrm>
          <a:prstGeom prst="round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-436425" defTabSz="1102548" latinLnBrk="1">
              <a:defRPr/>
            </a:pPr>
            <a:r>
              <a:rPr lang="en-US" altLang="ko-KR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STEP 03 </a:t>
            </a:r>
            <a:r>
              <a:rPr lang="ko-KR" altLang="en-US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분석 방법</a:t>
            </a:r>
            <a:endParaRPr lang="en-US" altLang="ko-KR" sz="2800" b="1" dirty="0">
              <a:solidFill>
                <a:srgbClr val="891A1C"/>
              </a:solidFill>
              <a:latin typeface="+mj-ea"/>
              <a:ea typeface="+mj-ea"/>
              <a:cs typeface="Pretendard SemiBold" panose="02000703000000020004" pitchFamily="50" charset="-127"/>
            </a:endParaRPr>
          </a:p>
        </p:txBody>
      </p:sp>
      <p:sp>
        <p:nvSpPr>
          <p:cNvPr id="4" name="Google Shape;70;p4">
            <a:extLst>
              <a:ext uri="{FF2B5EF4-FFF2-40B4-BE49-F238E27FC236}">
                <a16:creationId xmlns:a16="http://schemas.microsoft.com/office/drawing/2014/main" id="{27537CE9-BB16-79E4-28ED-63D877874C6A}"/>
              </a:ext>
            </a:extLst>
          </p:cNvPr>
          <p:cNvSpPr txBox="1">
            <a:spLocks/>
          </p:cNvSpPr>
          <p:nvPr/>
        </p:nvSpPr>
        <p:spPr>
          <a:xfrm>
            <a:off x="638778" y="1239125"/>
            <a:ext cx="10914444" cy="517378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252000" tIns="108000" rIns="252000" bIns="108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3.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분석 과정에서 활용한 주요 프롬프트 소개</a:t>
            </a: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3BE9A-42CA-3501-E630-159B3E385D84}"/>
              </a:ext>
            </a:extLst>
          </p:cNvPr>
          <p:cNvSpPr txBox="1"/>
          <p:nvPr/>
        </p:nvSpPr>
        <p:spPr>
          <a:xfrm>
            <a:off x="638779" y="893243"/>
            <a:ext cx="10981060" cy="2585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500"/>
            </a:pP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분석 방법을 효과적으로 작성하려면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먼저 데이터를 어떻게 처리하고 어떤 도구를 통해 분석할 것인지 전체 흐름을 명확히 설계해야 합니다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 b="1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3690A-59AB-F10D-3B4E-5646EE225815}"/>
              </a:ext>
            </a:extLst>
          </p:cNvPr>
          <p:cNvSpPr txBox="1"/>
          <p:nvPr/>
        </p:nvSpPr>
        <p:spPr>
          <a:xfrm>
            <a:off x="914399" y="1732260"/>
            <a:ext cx="10414661" cy="160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"/>
              </a:spcBef>
            </a:pPr>
            <a:r>
              <a:rPr lang="ko-KR" altLang="en-US" sz="1300" b="1" dirty="0"/>
              <a:t>프롬프트 설계 의도</a:t>
            </a:r>
            <a:endParaRPr lang="en-US" altLang="ko-KR" sz="1300" b="1" dirty="0"/>
          </a:p>
          <a:p>
            <a:pPr>
              <a:lnSpc>
                <a:spcPct val="150000"/>
              </a:lnSpc>
              <a:spcBef>
                <a:spcPts val="120"/>
              </a:spcBef>
            </a:pPr>
            <a:r>
              <a:rPr lang="ko-KR" altLang="en-US" sz="1300" dirty="0"/>
              <a:t> </a:t>
            </a:r>
            <a:r>
              <a:rPr lang="en-US" altLang="ko-KR" sz="1300" dirty="0"/>
              <a:t>1.</a:t>
            </a:r>
            <a:r>
              <a:rPr lang="ko-KR" altLang="en-US" sz="1300" dirty="0"/>
              <a:t> 역할 부여</a:t>
            </a:r>
            <a:r>
              <a:rPr lang="en-US" altLang="ko-KR" sz="1300" dirty="0"/>
              <a:t>: "</a:t>
            </a:r>
            <a:r>
              <a:rPr lang="ko-KR" altLang="en-US" sz="1300" dirty="0"/>
              <a:t>한국 주식 시장 데이터 분석 전문가</a:t>
            </a:r>
            <a:r>
              <a:rPr lang="en-US" altLang="ko-KR" sz="1300" dirty="0"/>
              <a:t>" </a:t>
            </a:r>
            <a:r>
              <a:rPr lang="ko-KR" altLang="en-US" sz="1300" dirty="0"/>
              <a:t>명시 → 금융 도메인에 적합한 관점으로 판단 유도</a:t>
            </a:r>
            <a:endParaRPr lang="en-US" altLang="ko-KR" sz="1300" dirty="0"/>
          </a:p>
          <a:p>
            <a:pPr>
              <a:lnSpc>
                <a:spcPct val="150000"/>
              </a:lnSpc>
              <a:spcBef>
                <a:spcPts val="120"/>
              </a:spcBef>
            </a:pPr>
            <a:r>
              <a:rPr lang="ko-KR" altLang="en-US" sz="1300" dirty="0"/>
              <a:t> </a:t>
            </a:r>
            <a:r>
              <a:rPr lang="en-US" altLang="ko-KR" sz="1300" dirty="0"/>
              <a:t>2.</a:t>
            </a:r>
            <a:r>
              <a:rPr lang="ko-KR" altLang="en-US" sz="1300" dirty="0"/>
              <a:t> 다차원 입력 구조화</a:t>
            </a:r>
            <a:r>
              <a:rPr lang="en-US" altLang="ko-KR" sz="1300" dirty="0"/>
              <a:t>: </a:t>
            </a:r>
            <a:r>
              <a:rPr lang="ko-KR" altLang="en-US" sz="1300" dirty="0"/>
              <a:t>정량</a:t>
            </a:r>
            <a:r>
              <a:rPr lang="en-US" altLang="ko-KR" sz="1300" dirty="0"/>
              <a:t>·</a:t>
            </a:r>
            <a:r>
              <a:rPr lang="ko-KR" altLang="en-US" sz="1300" dirty="0"/>
              <a:t>감성</a:t>
            </a:r>
            <a:r>
              <a:rPr lang="en-US" altLang="ko-KR" sz="1300" dirty="0"/>
              <a:t>·</a:t>
            </a:r>
            <a:r>
              <a:rPr lang="ko-KR" altLang="en-US" sz="1300" dirty="0"/>
              <a:t>시계열 세 축 결과 </a:t>
            </a:r>
            <a:r>
              <a:rPr lang="en-US" altLang="ko-KR" sz="1300" dirty="0"/>
              <a:t>+ </a:t>
            </a:r>
            <a:r>
              <a:rPr lang="ko-KR" altLang="en-US" sz="1300" dirty="0"/>
              <a:t>보유 여부를 함께 전달 → 종합 해석 및 매도 판단 컨텍스트 강화</a:t>
            </a:r>
            <a:endParaRPr lang="en-US" altLang="ko-KR" sz="1300" dirty="0"/>
          </a:p>
          <a:p>
            <a:pPr>
              <a:lnSpc>
                <a:spcPct val="150000"/>
              </a:lnSpc>
              <a:spcBef>
                <a:spcPts val="120"/>
              </a:spcBef>
            </a:pPr>
            <a:r>
              <a:rPr lang="ko-KR" altLang="en-US" sz="1300" dirty="0"/>
              <a:t> </a:t>
            </a:r>
            <a:r>
              <a:rPr lang="en-US" altLang="ko-KR" sz="1300" dirty="0"/>
              <a:t>3.</a:t>
            </a:r>
            <a:r>
              <a:rPr lang="ko-KR" altLang="en-US" sz="1300" dirty="0"/>
              <a:t> 피처 우선순위 명시</a:t>
            </a:r>
            <a:r>
              <a:rPr lang="en-US" altLang="ko-KR" sz="1300" dirty="0"/>
              <a:t>: </a:t>
            </a:r>
            <a:r>
              <a:rPr lang="ko-KR" altLang="en-US" sz="1300" dirty="0"/>
              <a:t>수급 지표</a:t>
            </a:r>
            <a:r>
              <a:rPr lang="en-US" altLang="ko-KR" sz="1300" dirty="0"/>
              <a:t>(</a:t>
            </a:r>
            <a:r>
              <a:rPr lang="ko-KR" altLang="en-US" sz="1300" dirty="0"/>
              <a:t>최우선</a:t>
            </a:r>
            <a:r>
              <a:rPr lang="en-US" altLang="ko-KR" sz="1300" dirty="0"/>
              <a:t>) → </a:t>
            </a:r>
            <a:r>
              <a:rPr lang="ko-KR" altLang="en-US" sz="1300" dirty="0"/>
              <a:t>감성</a:t>
            </a:r>
            <a:r>
              <a:rPr lang="en-US" altLang="ko-KR" sz="1300" dirty="0"/>
              <a:t>·</a:t>
            </a:r>
            <a:r>
              <a:rPr lang="ko-KR" altLang="en-US" sz="1300" dirty="0"/>
              <a:t>추세</a:t>
            </a:r>
            <a:r>
              <a:rPr lang="en-US" altLang="ko-KR" sz="1300" dirty="0"/>
              <a:t>(</a:t>
            </a:r>
            <a:r>
              <a:rPr lang="ko-KR" altLang="en-US" sz="1300" dirty="0"/>
              <a:t>보조</a:t>
            </a:r>
            <a:r>
              <a:rPr lang="en-US" altLang="ko-KR" sz="1300" dirty="0"/>
              <a:t>) → </a:t>
            </a:r>
            <a:r>
              <a:rPr lang="ko-KR" altLang="en-US" sz="1300" dirty="0"/>
              <a:t>재무지표</a:t>
            </a:r>
            <a:r>
              <a:rPr lang="en-US" altLang="ko-KR" sz="1300" dirty="0"/>
              <a:t>(</a:t>
            </a:r>
            <a:r>
              <a:rPr lang="ko-KR" altLang="en-US" sz="1300" dirty="0"/>
              <a:t>필터</a:t>
            </a:r>
            <a:r>
              <a:rPr lang="en-US" altLang="ko-KR" sz="1300" dirty="0"/>
              <a:t>) </a:t>
            </a:r>
            <a:r>
              <a:rPr lang="ko-KR" altLang="en-US" sz="1300" dirty="0"/>
              <a:t>순으로 역할 구분 → </a:t>
            </a:r>
            <a:r>
              <a:rPr lang="en" altLang="ko-KR" sz="1300" dirty="0"/>
              <a:t>AI</a:t>
            </a:r>
            <a:r>
              <a:rPr lang="ko-KR" altLang="en-US" sz="1300" dirty="0"/>
              <a:t>의 임의 가중치 부여 방지</a:t>
            </a:r>
            <a:endParaRPr lang="en-US" altLang="ko-KR" sz="1300" dirty="0"/>
          </a:p>
          <a:p>
            <a:pPr>
              <a:lnSpc>
                <a:spcPct val="150000"/>
              </a:lnSpc>
              <a:spcBef>
                <a:spcPts val="120"/>
              </a:spcBef>
            </a:pPr>
            <a:r>
              <a:rPr lang="ko-KR" altLang="en-US" sz="1300" dirty="0"/>
              <a:t> </a:t>
            </a:r>
            <a:r>
              <a:rPr lang="en-US" altLang="ko-KR" sz="1300" dirty="0"/>
              <a:t>4.</a:t>
            </a:r>
            <a:r>
              <a:rPr lang="ko-KR" altLang="en-US" sz="1300" dirty="0"/>
              <a:t> </a:t>
            </a:r>
            <a:r>
              <a:rPr lang="en" altLang="ko-KR" sz="1300" dirty="0"/>
              <a:t>JSON </a:t>
            </a:r>
            <a:r>
              <a:rPr lang="ko-KR" altLang="en-US" sz="1300" dirty="0"/>
              <a:t>응답 강제</a:t>
            </a:r>
            <a:r>
              <a:rPr lang="en-US" altLang="ko-KR" sz="1300" dirty="0"/>
              <a:t>: </a:t>
            </a:r>
            <a:r>
              <a:rPr lang="ko-KR" altLang="en-US" sz="1300" dirty="0"/>
              <a:t>구조화된 출력 요구 → 파싱 오류 없이 매매 시스템 자동 연동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04B9C-EF68-1602-6BD2-7F3A0472D59C}"/>
              </a:ext>
            </a:extLst>
          </p:cNvPr>
          <p:cNvSpPr txBox="1"/>
          <p:nvPr/>
        </p:nvSpPr>
        <p:spPr>
          <a:xfrm>
            <a:off x="914399" y="3472865"/>
            <a:ext cx="9817101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"/>
              </a:spcBef>
            </a:pPr>
            <a:r>
              <a:rPr lang="ko-KR" altLang="en-US" sz="1300" b="1" dirty="0"/>
              <a:t>실제 프롬프트 예시</a:t>
            </a:r>
            <a:endParaRPr lang="ko-KR" altLang="en-US" sz="1300" dirty="0"/>
          </a:p>
          <a:p>
            <a:endParaRPr lang="en-US" altLang="ko-KR" sz="9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당신은 한국 주식 시장 데이터 분석 전문가입니다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아래는 코스피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100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개 종목을 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</a:rPr>
              <a:t>스코어링하여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 선별된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30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개 종목의 정량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·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감성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·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시계열 분석 결과입니다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데이터를 종합 해석하여 매수 </a:t>
            </a:r>
            <a:r>
              <a:rPr lang="en" altLang="ko-KR" sz="900" dirty="0">
                <a:solidFill>
                  <a:schemeClr val="bg1">
                    <a:lumMod val="50000"/>
                  </a:schemeClr>
                </a:solidFill>
              </a:rPr>
              <a:t>TOP3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와 매도 </a:t>
            </a:r>
            <a:r>
              <a:rPr lang="en" altLang="ko-KR" sz="900" dirty="0">
                <a:solidFill>
                  <a:schemeClr val="bg1">
                    <a:lumMod val="50000"/>
                  </a:schemeClr>
                </a:solidFill>
              </a:rPr>
              <a:t>TOP3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</a:rPr>
              <a:t>를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 선정하고 각각의 판단 근거를 설명해주세요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endParaRPr lang="en-US" altLang="ko-KR" sz="9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ko-KR" altLang="en-US" sz="900" b="1" dirty="0" err="1">
                <a:solidFill>
                  <a:schemeClr val="bg1">
                    <a:lumMod val="50000"/>
                  </a:schemeClr>
                </a:solidFill>
              </a:rPr>
              <a:t>피처별</a:t>
            </a:r>
            <a:r>
              <a:rPr lang="ko-KR" altLang="en-US" sz="900" b="1" dirty="0">
                <a:solidFill>
                  <a:schemeClr val="bg1">
                    <a:lumMod val="50000"/>
                  </a:schemeClr>
                </a:solidFill>
              </a:rPr>
              <a:t> 판단 우선순위</a:t>
            </a:r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]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 판단 시 아래 우선순위와 역할을 반드시 따르세요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최우선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수급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): </a:t>
            </a:r>
            <a:r>
              <a:rPr lang="en" altLang="ko-KR" sz="900" dirty="0" err="1">
                <a:solidFill>
                  <a:schemeClr val="bg1">
                    <a:lumMod val="50000"/>
                  </a:schemeClr>
                </a:solidFill>
              </a:rPr>
              <a:t>foreign_net_buy</a:t>
            </a:r>
            <a:r>
              <a:rPr lang="en" altLang="ko-KR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" altLang="ko-KR" sz="900" dirty="0" err="1">
                <a:solidFill>
                  <a:schemeClr val="bg1">
                    <a:lumMod val="50000"/>
                  </a:schemeClr>
                </a:solidFill>
              </a:rPr>
              <a:t>institutional_net_buy</a:t>
            </a:r>
            <a:r>
              <a:rPr lang="en" altLang="ko-KR" sz="900" dirty="0">
                <a:solidFill>
                  <a:schemeClr val="bg1">
                    <a:lumMod val="50000"/>
                  </a:schemeClr>
                </a:solidFill>
              </a:rPr>
              <a:t> —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단기 수급 방향을 가장 먼저 확인하세요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보조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심리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·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추세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): </a:t>
            </a:r>
            <a:r>
              <a:rPr lang="en" altLang="ko-KR" sz="900" dirty="0" err="1">
                <a:solidFill>
                  <a:schemeClr val="bg1">
                    <a:lumMod val="50000"/>
                  </a:schemeClr>
                </a:solidFill>
              </a:rPr>
              <a:t>sentiment_score</a:t>
            </a:r>
            <a:r>
              <a:rPr lang="en" altLang="ko-KR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" altLang="ko-KR" sz="900" dirty="0" err="1">
                <a:solidFill>
                  <a:schemeClr val="bg1">
                    <a:lumMod val="50000"/>
                  </a:schemeClr>
                </a:solidFill>
              </a:rPr>
              <a:t>prophet_price_trend</a:t>
            </a:r>
            <a:r>
              <a:rPr lang="en" altLang="ko-KR" sz="900" dirty="0">
                <a:solidFill>
                  <a:schemeClr val="bg1">
                    <a:lumMod val="50000"/>
                  </a:schemeClr>
                </a:solidFill>
              </a:rPr>
              <a:t> —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수급 신호와 방향이 일치할 때 신뢰도가 높아집니다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리스크 확인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" altLang="ko-KR" sz="900" dirty="0" err="1">
                <a:solidFill>
                  <a:schemeClr val="bg1">
                    <a:lumMod val="50000"/>
                  </a:schemeClr>
                </a:solidFill>
              </a:rPr>
              <a:t>prophet_price_uncertainty</a:t>
            </a:r>
            <a:r>
              <a:rPr lang="en" altLang="ko-KR" sz="900" dirty="0">
                <a:solidFill>
                  <a:schemeClr val="bg1">
                    <a:lumMod val="50000"/>
                  </a:schemeClr>
                </a:solidFill>
              </a:rPr>
              <a:t> —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값이 높은 종목은 매수 추천 시 근거에 반드시 언급하세요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</a:rPr>
              <a:t>펀더멘탈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 필터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" altLang="ko-KR" sz="900" dirty="0">
                <a:solidFill>
                  <a:schemeClr val="bg1">
                    <a:lumMod val="50000"/>
                  </a:schemeClr>
                </a:solidFill>
              </a:rPr>
              <a:t>per, roe, </a:t>
            </a:r>
            <a:r>
              <a:rPr lang="en" altLang="ko-KR" sz="900" dirty="0" err="1">
                <a:solidFill>
                  <a:schemeClr val="bg1">
                    <a:lumMod val="50000"/>
                  </a:schemeClr>
                </a:solidFill>
              </a:rPr>
              <a:t>operating_margin</a:t>
            </a:r>
            <a:r>
              <a:rPr lang="en" altLang="ko-KR" sz="900" dirty="0">
                <a:solidFill>
                  <a:schemeClr val="bg1">
                    <a:lumMod val="50000"/>
                  </a:schemeClr>
                </a:solidFill>
              </a:rPr>
              <a:t> —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극단적 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</a:rPr>
              <a:t>고평가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 여부 확인 및 매도 판단 시 참조하세요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endParaRPr lang="en-US" altLang="ko-KR" sz="9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ko-KR" altLang="en-US" sz="900" b="1" dirty="0">
                <a:solidFill>
                  <a:schemeClr val="bg1">
                    <a:lumMod val="50000"/>
                  </a:schemeClr>
                </a:solidFill>
              </a:rPr>
              <a:t>종목별 분석 데이터</a:t>
            </a:r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]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</a:rPr>
              <a:t>종목명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삼성전자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/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보유 여부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" altLang="ko-KR" sz="900" dirty="0">
                <a:solidFill>
                  <a:schemeClr val="bg1">
                    <a:lumMod val="50000"/>
                  </a:schemeClr>
                </a:solidFill>
              </a:rPr>
              <a:t>false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외국인 순매수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: +3,200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백만원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/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기관 순매수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: +1,800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백만원 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</a:rPr>
              <a:t>장초반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 수익률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: +0.82% /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종가 위치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: 0.74 </a:t>
            </a:r>
            <a:r>
              <a:rPr lang="en" altLang="ko-KR" sz="900" dirty="0">
                <a:solidFill>
                  <a:schemeClr val="bg1">
                    <a:lumMod val="50000"/>
                  </a:schemeClr>
                </a:solidFill>
              </a:rPr>
              <a:t>PER: 16.2 / ROE: 9.9% /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영업이익률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: 10.2%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감성점수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: 0.72 (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긍정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) /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가격 추세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: +0.31 /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거래량 추세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: +0.18 /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불확실성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: 2.4% ... (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이하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30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개 종목 동일 구조 반복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endParaRPr lang="en-US" altLang="ko-KR" sz="9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" altLang="ko-KR" sz="900" dirty="0">
                <a:solidFill>
                  <a:schemeClr val="bg1">
                    <a:lumMod val="50000"/>
                  </a:schemeClr>
                </a:solidFill>
              </a:rPr>
              <a:t>JSON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형식으로만 응답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:</a:t>
            </a:r>
          </a:p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{</a:t>
            </a:r>
          </a:p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  "buy": [{"rank":1, "stock_code":"005930", "</a:t>
            </a:r>
            <a:r>
              <a:rPr lang="en-US" altLang="ko-KR" sz="900" dirty="0" err="1">
                <a:solidFill>
                  <a:schemeClr val="bg1">
                    <a:lumMod val="50000"/>
                  </a:schemeClr>
                </a:solidFill>
              </a:rPr>
              <a:t>stock_name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":"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삼성전자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", "reason":"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근거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2~3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문장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"}...],</a:t>
            </a:r>
          </a:p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  "sell": [{"rank":1, "</a:t>
            </a:r>
            <a:r>
              <a:rPr lang="en-US" altLang="ko-KR" sz="900" dirty="0" err="1">
                <a:solidFill>
                  <a:schemeClr val="bg1">
                    <a:lumMod val="50000"/>
                  </a:schemeClr>
                </a:solidFill>
              </a:rPr>
              <a:t>stock_code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":"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종목코드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", "</a:t>
            </a:r>
            <a:r>
              <a:rPr lang="en-US" altLang="ko-KR" sz="900" dirty="0" err="1">
                <a:solidFill>
                  <a:schemeClr val="bg1">
                    <a:lumMod val="50000"/>
                  </a:schemeClr>
                </a:solidFill>
              </a:rPr>
              <a:t>stock_name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":"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</a:rPr>
              <a:t>종목명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", "reason":"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근거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2~3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문장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"}...]</a:t>
            </a:r>
          </a:p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4064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3D2D6-34CD-2D28-8BE5-43119D32A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0;p4">
            <a:extLst>
              <a:ext uri="{FF2B5EF4-FFF2-40B4-BE49-F238E27FC236}">
                <a16:creationId xmlns:a16="http://schemas.microsoft.com/office/drawing/2014/main" id="{27537CE9-BB16-79E4-28ED-63D877874C6A}"/>
              </a:ext>
            </a:extLst>
          </p:cNvPr>
          <p:cNvSpPr txBox="1">
            <a:spLocks/>
          </p:cNvSpPr>
          <p:nvPr/>
        </p:nvSpPr>
        <p:spPr>
          <a:xfrm>
            <a:off x="621507" y="1218450"/>
            <a:ext cx="10914444" cy="517378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252000" tIns="108000" rIns="252000" bIns="108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1-1.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핵심 </a:t>
            </a:r>
            <a:r>
              <a:rPr lang="ko-KR" altLang="en-US" sz="1400" b="1" dirty="0" err="1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인사이트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 및 시각화 자료</a:t>
            </a: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ko-KR" altLang="en-US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55F9BCA2-C82C-3529-257C-2AD86C1B6D60}"/>
              </a:ext>
            </a:extLst>
          </p:cNvPr>
          <p:cNvSpPr/>
          <p:nvPr/>
        </p:nvSpPr>
        <p:spPr>
          <a:xfrm>
            <a:off x="774075" y="1810485"/>
            <a:ext cx="5332661" cy="4340934"/>
          </a:xfrm>
          <a:prstGeom prst="roundRect">
            <a:avLst>
              <a:gd name="adj" fmla="val 7976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4451E0C5-97EE-A4B7-601B-D09AA017B724}"/>
              </a:ext>
            </a:extLst>
          </p:cNvPr>
          <p:cNvSpPr/>
          <p:nvPr/>
        </p:nvSpPr>
        <p:spPr bwMode="auto">
          <a:xfrm>
            <a:off x="638778" y="349842"/>
            <a:ext cx="9259343" cy="476726"/>
          </a:xfrm>
          <a:prstGeom prst="round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-436425" defTabSz="1102548" latinLnBrk="1">
              <a:defRPr/>
            </a:pPr>
            <a:r>
              <a:rPr lang="en-US" altLang="ko-KR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STEP 04 </a:t>
            </a:r>
            <a:r>
              <a:rPr lang="ko-KR" altLang="en-US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분석 결과 및 주요 </a:t>
            </a:r>
            <a:r>
              <a:rPr lang="ko-KR" altLang="en-US" sz="2800" b="1" dirty="0" err="1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인사이트</a:t>
            </a:r>
            <a:endParaRPr lang="en-US" altLang="ko-KR" sz="2800" b="1" dirty="0">
              <a:solidFill>
                <a:srgbClr val="891A1C"/>
              </a:solidFill>
              <a:latin typeface="+mj-ea"/>
              <a:ea typeface="+mj-ea"/>
              <a:cs typeface="Pretendard SemiBold" panose="020007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3BE9A-42CA-3501-E630-159B3E385D84}"/>
              </a:ext>
            </a:extLst>
          </p:cNvPr>
          <p:cNvSpPr txBox="1"/>
          <p:nvPr/>
        </p:nvSpPr>
        <p:spPr>
          <a:xfrm>
            <a:off x="638779" y="893243"/>
            <a:ext cx="10981060" cy="2585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500"/>
            </a:pP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데이터 분석 과정에서 주요 통계치 확인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패턴 및 </a:t>
            </a:r>
            <a:r>
              <a:rPr lang="ko-KR" altLang="en-US" sz="1200" b="1" dirty="0" err="1">
                <a:latin typeface="Calibri"/>
                <a:ea typeface="Calibri"/>
                <a:cs typeface="Calibri"/>
                <a:sym typeface="Calibri"/>
              </a:rPr>
              <a:t>트렌드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 탐색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시각화 자료 해석을 통해 의미 있는 핵심 </a:t>
            </a:r>
            <a:r>
              <a:rPr lang="ko-KR" altLang="en-US" sz="1200" b="1" dirty="0" err="1">
                <a:latin typeface="Calibri"/>
                <a:ea typeface="Calibri"/>
                <a:cs typeface="Calibri"/>
                <a:sym typeface="Calibri"/>
              </a:rPr>
              <a:t>인사이트를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 도출하세요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 b="1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3690A-59AB-F10D-3B4E-5646EE225815}"/>
              </a:ext>
            </a:extLst>
          </p:cNvPr>
          <p:cNvSpPr txBox="1"/>
          <p:nvPr/>
        </p:nvSpPr>
        <p:spPr>
          <a:xfrm>
            <a:off x="786616" y="1873672"/>
            <a:ext cx="5332661" cy="1997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"/>
              </a:spcBef>
            </a:pPr>
            <a:r>
              <a:rPr lang="en-US" altLang="ko-KR" sz="1400" b="1" dirty="0"/>
              <a:t>[</a:t>
            </a:r>
            <a:r>
              <a:rPr lang="ko-KR" altLang="en-US" sz="1400" b="1" dirty="0"/>
              <a:t>정량 분석</a:t>
            </a:r>
            <a:r>
              <a:rPr lang="en-US" altLang="ko-KR" sz="1400" b="1" dirty="0"/>
              <a:t>]</a:t>
            </a:r>
            <a:r>
              <a:rPr lang="ko-KR" altLang="en-US" sz="1400" b="1" dirty="0"/>
              <a:t> </a:t>
            </a:r>
            <a:endParaRPr lang="en-US" altLang="ko-KR" sz="1400" b="1" dirty="0"/>
          </a:p>
          <a:p>
            <a:pPr algn="ctr">
              <a:spcBef>
                <a:spcPts val="120"/>
              </a:spcBef>
            </a:pPr>
            <a:r>
              <a:rPr lang="ko-KR" altLang="en-US" sz="1300" b="1" dirty="0"/>
              <a:t>거래량배율 </a:t>
            </a:r>
            <a:r>
              <a:rPr lang="en-US" altLang="ko-KR" sz="1300" b="1" dirty="0"/>
              <a:t>/ </a:t>
            </a:r>
            <a:r>
              <a:rPr lang="ko-KR" altLang="en-US" sz="1300" b="1" dirty="0"/>
              <a:t>가격변동성 </a:t>
            </a:r>
            <a:r>
              <a:rPr lang="en-US" altLang="ko-KR" sz="1300" b="1" dirty="0"/>
              <a:t>/ </a:t>
            </a:r>
            <a:r>
              <a:rPr lang="ko-KR" altLang="en-US" sz="1300" b="1" dirty="0"/>
              <a:t>외국인</a:t>
            </a:r>
            <a:r>
              <a:rPr lang="en-US" altLang="ko-KR" sz="1300" b="1" dirty="0"/>
              <a:t>.</a:t>
            </a:r>
            <a:r>
              <a:rPr lang="ko-KR" altLang="en-US" sz="1300" b="1" dirty="0"/>
              <a:t>기관 순매수</a:t>
            </a:r>
            <a:endParaRPr lang="en-US" altLang="ko-KR" sz="1300" b="1" dirty="0"/>
          </a:p>
          <a:p>
            <a:pPr algn="ctr">
              <a:spcBef>
                <a:spcPts val="120"/>
              </a:spcBef>
            </a:pPr>
            <a:endParaRPr lang="ko-KR" altLang="en-US" sz="1300" dirty="0"/>
          </a:p>
          <a:p>
            <a:pPr algn="ctr">
              <a:spcBef>
                <a:spcPts val="120"/>
              </a:spcBef>
            </a:pPr>
            <a:r>
              <a:rPr lang="ko-KR" altLang="en-US" sz="1300" dirty="0"/>
              <a:t>거래량 배율과 외국인 순매수는 시장 자금이 어느 종목으로 </a:t>
            </a:r>
            <a:endParaRPr lang="en-US" altLang="ko-KR" sz="1300" dirty="0"/>
          </a:p>
          <a:p>
            <a:pPr algn="ctr">
              <a:spcBef>
                <a:spcPts val="120"/>
              </a:spcBef>
            </a:pPr>
            <a:r>
              <a:rPr lang="ko-KR" altLang="en-US" sz="1300" dirty="0"/>
              <a:t>집중되는지를 보여주는 선행 지표이다</a:t>
            </a:r>
            <a:r>
              <a:rPr lang="en-US" altLang="ko-KR" sz="1300" dirty="0"/>
              <a:t>. </a:t>
            </a:r>
          </a:p>
          <a:p>
            <a:pPr algn="ctr">
              <a:spcBef>
                <a:spcPts val="120"/>
              </a:spcBef>
            </a:pPr>
            <a:endParaRPr lang="en-US" altLang="ko-KR" sz="1300" dirty="0"/>
          </a:p>
          <a:p>
            <a:pPr algn="ctr">
              <a:spcBef>
                <a:spcPts val="120"/>
              </a:spcBef>
            </a:pPr>
            <a:r>
              <a:rPr lang="ko-KR" altLang="en-US" sz="1300" dirty="0"/>
              <a:t>매일 수십 개 종목의 호가창을 직접 확인하던 작업을 자동화된 </a:t>
            </a:r>
            <a:endParaRPr lang="en-US" altLang="ko-KR" sz="1300" dirty="0"/>
          </a:p>
          <a:p>
            <a:pPr algn="ctr">
              <a:spcBef>
                <a:spcPts val="120"/>
              </a:spcBef>
            </a:pPr>
            <a:r>
              <a:rPr lang="ko-KR" altLang="en-US" sz="1300" dirty="0"/>
              <a:t>수치로 대체함으로써</a:t>
            </a:r>
            <a:r>
              <a:rPr lang="en-US" altLang="ko-KR" sz="1300" dirty="0"/>
              <a:t>, </a:t>
            </a:r>
            <a:r>
              <a:rPr lang="ko-KR" altLang="en-US" sz="1300" dirty="0"/>
              <a:t>감정이나 경험에 의존하던 종목 선별 과정을 </a:t>
            </a:r>
            <a:endParaRPr lang="en-US" altLang="ko-KR" sz="1300" dirty="0"/>
          </a:p>
          <a:p>
            <a:pPr algn="ctr">
              <a:spcBef>
                <a:spcPts val="120"/>
              </a:spcBef>
            </a:pPr>
            <a:r>
              <a:rPr lang="ko-KR" altLang="en-US" sz="1300" dirty="0"/>
              <a:t>데이터 기반의 일관된 기준으로 개선할 수 있다</a:t>
            </a:r>
            <a:r>
              <a:rPr lang="en-US" altLang="ko-KR" sz="1300" dirty="0"/>
              <a:t>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6D776DF6-466F-7260-5C47-07F3D8F99C3E}"/>
              </a:ext>
            </a:extLst>
          </p:cNvPr>
          <p:cNvSpPr/>
          <p:nvPr/>
        </p:nvSpPr>
        <p:spPr>
          <a:xfrm>
            <a:off x="6284385" y="1810484"/>
            <a:ext cx="5133540" cy="4340934"/>
          </a:xfrm>
          <a:prstGeom prst="roundRect">
            <a:avLst>
              <a:gd name="adj" fmla="val 7976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F264DF4-EBAE-754A-6D38-AE071C227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300" y="3923916"/>
            <a:ext cx="4813300" cy="20535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2CA4FB8-E834-53BC-7926-C4597895E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58" y="4032027"/>
            <a:ext cx="4981494" cy="18917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DF97FA-9B97-2056-01D2-21DD81495BAD}"/>
              </a:ext>
            </a:extLst>
          </p:cNvPr>
          <p:cNvSpPr txBox="1"/>
          <p:nvPr/>
        </p:nvSpPr>
        <p:spPr>
          <a:xfrm>
            <a:off x="6296926" y="1880568"/>
            <a:ext cx="5031474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"/>
              </a:spcBef>
            </a:pPr>
            <a:r>
              <a:rPr lang="en-US" altLang="ko-KR" sz="1400" b="1" dirty="0"/>
              <a:t>[</a:t>
            </a:r>
            <a:r>
              <a:rPr lang="ko-KR" altLang="en-US" sz="1400" b="1" dirty="0"/>
              <a:t>감성 분석</a:t>
            </a:r>
            <a:r>
              <a:rPr lang="en-US" altLang="ko-KR" sz="1400" b="1" dirty="0"/>
              <a:t>]</a:t>
            </a:r>
          </a:p>
          <a:p>
            <a:pPr algn="ctr">
              <a:spcBef>
                <a:spcPts val="120"/>
              </a:spcBef>
            </a:pPr>
            <a:r>
              <a:rPr lang="ko-KR" altLang="en-US" sz="1300" b="1" dirty="0"/>
              <a:t>종목별 감성점수 </a:t>
            </a:r>
            <a:r>
              <a:rPr lang="en-US" altLang="ko-KR" sz="1300" b="1" dirty="0"/>
              <a:t>/ </a:t>
            </a:r>
            <a:r>
              <a:rPr lang="ko-KR" altLang="en-US" sz="1300" b="1" dirty="0"/>
              <a:t>시장 감성 분포</a:t>
            </a:r>
            <a:endParaRPr lang="en-US" altLang="ko-KR" sz="1300" b="1" dirty="0"/>
          </a:p>
          <a:p>
            <a:pPr algn="ctr">
              <a:spcBef>
                <a:spcPts val="120"/>
              </a:spcBef>
            </a:pPr>
            <a:endParaRPr lang="ko-KR" altLang="en-US" sz="1300" dirty="0"/>
          </a:p>
          <a:p>
            <a:pPr algn="ctr">
              <a:spcBef>
                <a:spcPts val="120"/>
              </a:spcBef>
            </a:pPr>
            <a:r>
              <a:rPr lang="ko-KR" altLang="en-US" sz="1300" dirty="0"/>
              <a:t>출근길에 뉴스를 확인하며 주관적으로 판단하던 시장 분위기를 </a:t>
            </a:r>
            <a:r>
              <a:rPr lang="en" altLang="ko-KR" sz="1300" dirty="0"/>
              <a:t>KR-</a:t>
            </a:r>
            <a:r>
              <a:rPr lang="en" altLang="ko-KR" sz="1300" dirty="0" err="1"/>
              <a:t>FinBERT</a:t>
            </a:r>
            <a:r>
              <a:rPr lang="en" altLang="ko-KR" sz="1300" dirty="0"/>
              <a:t> </a:t>
            </a:r>
            <a:r>
              <a:rPr lang="ko-KR" altLang="en-US" sz="1300" dirty="0"/>
              <a:t>모델이 자동으로 </a:t>
            </a:r>
            <a:r>
              <a:rPr lang="ko-KR" altLang="en-US" sz="1300" dirty="0" err="1"/>
              <a:t>점수화하여</a:t>
            </a:r>
            <a:r>
              <a:rPr lang="ko-KR" altLang="en-US" sz="1300" dirty="0"/>
              <a:t> 종목별</a:t>
            </a:r>
            <a:r>
              <a:rPr lang="en-US" altLang="ko-KR" sz="1300" dirty="0"/>
              <a:t>·</a:t>
            </a:r>
            <a:r>
              <a:rPr lang="ko-KR" altLang="en-US" sz="1300" dirty="0"/>
              <a:t>시장 전체의 </a:t>
            </a:r>
            <a:endParaRPr lang="en-US" altLang="ko-KR" sz="1300" dirty="0"/>
          </a:p>
          <a:p>
            <a:pPr algn="ctr">
              <a:spcBef>
                <a:spcPts val="120"/>
              </a:spcBef>
            </a:pPr>
            <a:r>
              <a:rPr lang="ko-KR" altLang="en-US" sz="1300" dirty="0"/>
              <a:t>감성 흐름을 객관적으로 파악할 수 있게 된다</a:t>
            </a:r>
            <a:r>
              <a:rPr lang="en-US" altLang="ko-KR" sz="1300" dirty="0"/>
              <a:t>. </a:t>
            </a:r>
          </a:p>
          <a:p>
            <a:pPr algn="ctr">
              <a:spcBef>
                <a:spcPts val="120"/>
              </a:spcBef>
            </a:pPr>
            <a:endParaRPr lang="en-US" altLang="ko-KR" sz="1300" dirty="0"/>
          </a:p>
          <a:p>
            <a:pPr algn="ctr">
              <a:spcBef>
                <a:spcPts val="120"/>
              </a:spcBef>
            </a:pPr>
            <a:r>
              <a:rPr lang="ko-KR" altLang="en-US" sz="1300" dirty="0"/>
              <a:t>시장 전체 감성 분포는 개별 종목 판단 전 거시적 방향성을 </a:t>
            </a:r>
            <a:endParaRPr lang="en-US" altLang="ko-KR" sz="1300" dirty="0"/>
          </a:p>
          <a:p>
            <a:pPr algn="ctr">
              <a:spcBef>
                <a:spcPts val="120"/>
              </a:spcBef>
            </a:pPr>
            <a:r>
              <a:rPr lang="ko-KR" altLang="en-US" sz="1300" dirty="0"/>
              <a:t>확인하는 의사결정 근거로 활용된다</a:t>
            </a:r>
            <a:r>
              <a:rPr lang="en-US" altLang="ko-KR"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4607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BF3FE-44CF-D08C-7700-BBC8A1AE5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738DE450-A60C-0A2C-DF83-2ABF0446FB3D}"/>
              </a:ext>
            </a:extLst>
          </p:cNvPr>
          <p:cNvSpPr/>
          <p:nvPr/>
        </p:nvSpPr>
        <p:spPr bwMode="auto">
          <a:xfrm>
            <a:off x="638778" y="349842"/>
            <a:ext cx="9259343" cy="476726"/>
          </a:xfrm>
          <a:prstGeom prst="round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-436425" defTabSz="1102548" latinLnBrk="1">
              <a:defRPr/>
            </a:pPr>
            <a:r>
              <a:rPr lang="en-US" altLang="ko-KR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STEP 04 </a:t>
            </a:r>
            <a:r>
              <a:rPr lang="ko-KR" altLang="en-US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분석 결과 및 주요 </a:t>
            </a:r>
            <a:r>
              <a:rPr lang="ko-KR" altLang="en-US" sz="2800" b="1" dirty="0" err="1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인사이트</a:t>
            </a:r>
            <a:endParaRPr lang="en-US" altLang="ko-KR" sz="2800" b="1" dirty="0">
              <a:solidFill>
                <a:srgbClr val="891A1C"/>
              </a:solidFill>
              <a:latin typeface="+mj-ea"/>
              <a:ea typeface="+mj-ea"/>
              <a:cs typeface="Pretendard SemiBold" panose="02000703000000020004" pitchFamily="50" charset="-127"/>
            </a:endParaRPr>
          </a:p>
        </p:txBody>
      </p:sp>
      <p:sp>
        <p:nvSpPr>
          <p:cNvPr id="4" name="Google Shape;70;p4">
            <a:extLst>
              <a:ext uri="{FF2B5EF4-FFF2-40B4-BE49-F238E27FC236}">
                <a16:creationId xmlns:a16="http://schemas.microsoft.com/office/drawing/2014/main" id="{E71569BC-A6CE-750B-C6FE-007F04A8755B}"/>
              </a:ext>
            </a:extLst>
          </p:cNvPr>
          <p:cNvSpPr txBox="1">
            <a:spLocks/>
          </p:cNvSpPr>
          <p:nvPr/>
        </p:nvSpPr>
        <p:spPr>
          <a:xfrm>
            <a:off x="626078" y="1226425"/>
            <a:ext cx="10914444" cy="517378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252000" tIns="108000" rIns="252000" bIns="108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1-2.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핵심 </a:t>
            </a:r>
            <a:r>
              <a:rPr lang="ko-KR" altLang="en-US" sz="1400" b="1" dirty="0" err="1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인사이트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 및 시각화 자료</a:t>
            </a: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ko-KR" altLang="en-US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2C4BEC-C977-51B7-E2AB-7660571D8D2E}"/>
              </a:ext>
            </a:extLst>
          </p:cNvPr>
          <p:cNvSpPr txBox="1"/>
          <p:nvPr/>
        </p:nvSpPr>
        <p:spPr>
          <a:xfrm>
            <a:off x="638779" y="893243"/>
            <a:ext cx="10981060" cy="2585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500"/>
            </a:pP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데이터 분석 과정에서 주요 통계치 확인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패턴 및 </a:t>
            </a:r>
            <a:r>
              <a:rPr lang="ko-KR" altLang="en-US" sz="1200" b="1" dirty="0" err="1">
                <a:latin typeface="Calibri"/>
                <a:ea typeface="Calibri"/>
                <a:cs typeface="Calibri"/>
                <a:sym typeface="Calibri"/>
              </a:rPr>
              <a:t>트렌드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 탐색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시각화 자료 해석을 통해 의미 있는 핵심 </a:t>
            </a:r>
            <a:r>
              <a:rPr lang="ko-KR" altLang="en-US" sz="1200" b="1" dirty="0" err="1">
                <a:latin typeface="Calibri"/>
                <a:ea typeface="Calibri"/>
                <a:cs typeface="Calibri"/>
                <a:sym typeface="Calibri"/>
              </a:rPr>
              <a:t>인사이트를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 도출하세요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 b="1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C507C8BD-3D0E-1A22-79C7-3C2B0267EC12}"/>
              </a:ext>
            </a:extLst>
          </p:cNvPr>
          <p:cNvSpPr/>
          <p:nvPr/>
        </p:nvSpPr>
        <p:spPr>
          <a:xfrm>
            <a:off x="793772" y="1845637"/>
            <a:ext cx="5332661" cy="4317658"/>
          </a:xfrm>
          <a:prstGeom prst="roundRect">
            <a:avLst>
              <a:gd name="adj" fmla="val 7976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906B82-8C95-CD6F-DCCE-4B971EECBC1F}"/>
              </a:ext>
            </a:extLst>
          </p:cNvPr>
          <p:cNvSpPr txBox="1"/>
          <p:nvPr/>
        </p:nvSpPr>
        <p:spPr>
          <a:xfrm>
            <a:off x="793771" y="1935683"/>
            <a:ext cx="5302229" cy="193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"/>
              </a:spcBef>
            </a:pPr>
            <a:r>
              <a:rPr lang="en-US" altLang="ko-KR" sz="1400" b="1" dirty="0"/>
              <a:t>[</a:t>
            </a:r>
            <a:r>
              <a:rPr lang="ko-KR" altLang="en-US" sz="1400" b="1" dirty="0"/>
              <a:t>시계열 예측</a:t>
            </a:r>
            <a:r>
              <a:rPr lang="en-US" altLang="ko-KR" sz="1400" b="1" dirty="0"/>
              <a:t>]</a:t>
            </a:r>
          </a:p>
          <a:p>
            <a:pPr algn="ctr">
              <a:spcBef>
                <a:spcPts val="120"/>
              </a:spcBef>
            </a:pPr>
            <a:r>
              <a:rPr lang="en" altLang="ko-KR" sz="1300" b="1" dirty="0"/>
              <a:t>Prophet </a:t>
            </a:r>
            <a:r>
              <a:rPr lang="ko-KR" altLang="en-US" sz="1300" b="1" dirty="0"/>
              <a:t>단기 가격 추세</a:t>
            </a:r>
            <a:endParaRPr lang="en-US" altLang="ko-KR" sz="1300" b="1" dirty="0"/>
          </a:p>
          <a:p>
            <a:pPr algn="ctr">
              <a:spcBef>
                <a:spcPts val="120"/>
              </a:spcBef>
            </a:pPr>
            <a:endParaRPr lang="ko-KR" altLang="en-US" sz="1300" dirty="0"/>
          </a:p>
          <a:p>
            <a:pPr algn="ctr"/>
            <a:r>
              <a:rPr lang="ko-KR" altLang="en-US" sz="1300" dirty="0"/>
              <a:t>전날 데이터만 보는 스냅샷 분석의 한계를 보완하여 과거 </a:t>
            </a:r>
            <a:r>
              <a:rPr lang="en-US" altLang="ko-KR" sz="1300" dirty="0"/>
              <a:t>120</a:t>
            </a:r>
            <a:r>
              <a:rPr lang="ko-KR" altLang="en-US" sz="1300" dirty="0"/>
              <a:t>거래일의 흐름을 학습한 모델이 단기 주가 방향성과 예측 신뢰구간을 </a:t>
            </a:r>
            <a:endParaRPr lang="en-US" altLang="ko-KR" sz="1300" dirty="0"/>
          </a:p>
          <a:p>
            <a:pPr algn="ctr"/>
            <a:r>
              <a:rPr lang="ko-KR" altLang="en-US" sz="1300" dirty="0"/>
              <a:t>함께 제공한다</a:t>
            </a:r>
            <a:r>
              <a:rPr lang="en-US" altLang="ko-KR" sz="1300" dirty="0"/>
              <a:t>.</a:t>
            </a:r>
          </a:p>
          <a:p>
            <a:pPr algn="ctr"/>
            <a:endParaRPr lang="en-US" altLang="ko-KR" sz="1300" dirty="0"/>
          </a:p>
          <a:p>
            <a:pPr algn="ctr"/>
            <a:r>
              <a:rPr lang="ko-KR" altLang="en-US" sz="1300" dirty="0"/>
              <a:t>이 </a:t>
            </a:r>
            <a:r>
              <a:rPr lang="ko-KR" altLang="en-US" sz="1300" dirty="0" err="1"/>
              <a:t>예측값은</a:t>
            </a:r>
            <a:r>
              <a:rPr lang="ko-KR" altLang="en-US" sz="1300" dirty="0"/>
              <a:t> 정량</a:t>
            </a:r>
            <a:r>
              <a:rPr lang="en-US" altLang="ko-KR" sz="1300" dirty="0"/>
              <a:t>·</a:t>
            </a:r>
            <a:r>
              <a:rPr lang="ko-KR" altLang="en-US" sz="1300" dirty="0"/>
              <a:t>감성</a:t>
            </a:r>
            <a:r>
              <a:rPr lang="en-US" altLang="ko-KR" sz="1300" dirty="0"/>
              <a:t>·</a:t>
            </a:r>
            <a:r>
              <a:rPr lang="ko-KR" altLang="en-US" sz="1300" dirty="0"/>
              <a:t>재무 분석 결과와 함께 생성형 </a:t>
            </a:r>
            <a:r>
              <a:rPr lang="en" altLang="ko-KR" sz="1300" dirty="0"/>
              <a:t>AI</a:t>
            </a:r>
            <a:r>
              <a:rPr lang="ko-KR" altLang="en-US" sz="1300" dirty="0"/>
              <a:t>의 판단 </a:t>
            </a:r>
            <a:endParaRPr lang="en-US" altLang="ko-KR" sz="1300" dirty="0"/>
          </a:p>
          <a:p>
            <a:pPr algn="ctr"/>
            <a:r>
              <a:rPr lang="ko-KR" altLang="en-US" sz="1300" dirty="0" err="1"/>
              <a:t>입력값으로</a:t>
            </a:r>
            <a:r>
              <a:rPr lang="ko-KR" altLang="en-US" sz="1300" dirty="0"/>
              <a:t> 활용되어 맥락 있는 종합 판단을 가능하게 한다</a:t>
            </a:r>
            <a:r>
              <a:rPr lang="en-US" altLang="ko-KR" sz="13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858D59-EB2C-6246-3137-ECF2358B1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62" y="4050026"/>
            <a:ext cx="5059680" cy="1795812"/>
          </a:xfrm>
          <a:prstGeom prst="rect">
            <a:avLst/>
          </a:prstGeom>
        </p:spPr>
      </p:pic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0BE4EE6-4003-F0BB-95C7-118E014383DC}"/>
              </a:ext>
            </a:extLst>
          </p:cNvPr>
          <p:cNvSpPr/>
          <p:nvPr/>
        </p:nvSpPr>
        <p:spPr>
          <a:xfrm>
            <a:off x="6288807" y="1845637"/>
            <a:ext cx="5109422" cy="4317658"/>
          </a:xfrm>
          <a:prstGeom prst="roundRect">
            <a:avLst>
              <a:gd name="adj" fmla="val 7976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179BD1-531C-81BB-28DA-978D13D9F05D}"/>
              </a:ext>
            </a:extLst>
          </p:cNvPr>
          <p:cNvSpPr txBox="1"/>
          <p:nvPr/>
        </p:nvSpPr>
        <p:spPr>
          <a:xfrm>
            <a:off x="6293957" y="1935683"/>
            <a:ext cx="5104271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"/>
              </a:spcBef>
            </a:pPr>
            <a:r>
              <a:rPr lang="en-US" altLang="ko-KR" sz="1400" b="1" dirty="0"/>
              <a:t>[</a:t>
            </a:r>
            <a:r>
              <a:rPr lang="ko-KR" altLang="en-US" sz="1400" b="1" dirty="0"/>
              <a:t>종합 대시보드</a:t>
            </a:r>
            <a:r>
              <a:rPr lang="en-US" altLang="ko-KR" sz="1400" b="1" dirty="0"/>
              <a:t>]</a:t>
            </a:r>
          </a:p>
          <a:p>
            <a:pPr algn="ctr">
              <a:spcBef>
                <a:spcPts val="120"/>
              </a:spcBef>
            </a:pPr>
            <a:r>
              <a:rPr lang="ko-KR" altLang="en-US" sz="1300" b="1" dirty="0"/>
              <a:t>종가위치 </a:t>
            </a:r>
            <a:r>
              <a:rPr lang="en-US" altLang="ko-KR" sz="1300" b="1" dirty="0"/>
              <a:t>/ </a:t>
            </a:r>
            <a:r>
              <a:rPr lang="ko-KR" altLang="en-US" sz="1300" b="1" dirty="0"/>
              <a:t>피처 </a:t>
            </a:r>
            <a:r>
              <a:rPr lang="ko-KR" altLang="en-US" sz="1300" b="1" dirty="0" err="1"/>
              <a:t>히트맵</a:t>
            </a:r>
            <a:endParaRPr lang="en-US" altLang="ko-KR" sz="1300" b="1" dirty="0"/>
          </a:p>
          <a:p>
            <a:pPr algn="ctr">
              <a:spcBef>
                <a:spcPts val="120"/>
              </a:spcBef>
            </a:pPr>
            <a:endParaRPr lang="ko-KR" altLang="en-US" sz="1300" dirty="0"/>
          </a:p>
          <a:p>
            <a:pPr algn="ctr">
              <a:spcBef>
                <a:spcPts val="120"/>
              </a:spcBef>
            </a:pPr>
            <a:r>
              <a:rPr lang="ko-KR" altLang="en-US" sz="1300" dirty="0"/>
              <a:t>여러 분석 축의 결과를 하나의 화면에서 비교할 수 있어 업무 시간 중 종목을 일일이 확인하던 기존 방식을 대시보드 한 장으로 대체할 수 있다</a:t>
            </a:r>
            <a:r>
              <a:rPr lang="en-US" altLang="ko-KR" sz="1300" dirty="0"/>
              <a:t>. </a:t>
            </a:r>
          </a:p>
          <a:p>
            <a:pPr algn="ctr">
              <a:spcBef>
                <a:spcPts val="120"/>
              </a:spcBef>
            </a:pPr>
            <a:endParaRPr lang="en-US" altLang="ko-KR" sz="1300" dirty="0"/>
          </a:p>
          <a:p>
            <a:pPr algn="ctr">
              <a:spcBef>
                <a:spcPts val="120"/>
              </a:spcBef>
            </a:pPr>
            <a:r>
              <a:rPr lang="ko-KR" altLang="en-US" sz="1300" dirty="0"/>
              <a:t>다차원 데이터를 종합적으로 반영한 판단이 가능해지며 </a:t>
            </a:r>
            <a:endParaRPr lang="en-US" altLang="ko-KR" sz="1300" dirty="0"/>
          </a:p>
          <a:p>
            <a:pPr algn="ctr">
              <a:spcBef>
                <a:spcPts val="120"/>
              </a:spcBef>
            </a:pPr>
            <a:r>
              <a:rPr lang="ko-KR" altLang="en-US" sz="1300" dirty="0"/>
              <a:t>매매 결정의 일관성과 속도가 동시에 향상된다</a:t>
            </a:r>
            <a:r>
              <a:rPr lang="en-US" altLang="ko-KR" sz="1300" dirty="0"/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AA9B023-4A32-0707-785D-E15CFFF6F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871" y="3954579"/>
            <a:ext cx="4824867" cy="199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01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BF24A-99DC-DFE2-6335-B93087B71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C2613612-0677-36B8-74A9-5CCD78571CB3}"/>
              </a:ext>
            </a:extLst>
          </p:cNvPr>
          <p:cNvSpPr/>
          <p:nvPr/>
        </p:nvSpPr>
        <p:spPr bwMode="auto">
          <a:xfrm>
            <a:off x="638778" y="349842"/>
            <a:ext cx="9259343" cy="476726"/>
          </a:xfrm>
          <a:prstGeom prst="round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-436425" defTabSz="1102548" latinLnBrk="1">
              <a:defRPr/>
            </a:pPr>
            <a:r>
              <a:rPr lang="en-US" altLang="ko-KR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STEP 04 </a:t>
            </a:r>
            <a:r>
              <a:rPr lang="ko-KR" altLang="en-US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분석 결과 및 주요 </a:t>
            </a:r>
            <a:r>
              <a:rPr lang="ko-KR" altLang="en-US" sz="2800" b="1" dirty="0" err="1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인사이트</a:t>
            </a:r>
            <a:endParaRPr lang="en-US" altLang="ko-KR" sz="2800" b="1" dirty="0">
              <a:solidFill>
                <a:srgbClr val="891A1C"/>
              </a:solidFill>
              <a:latin typeface="+mj-ea"/>
              <a:ea typeface="+mj-ea"/>
              <a:cs typeface="Pretendard SemiBold" panose="02000703000000020004" pitchFamily="50" charset="-127"/>
            </a:endParaRPr>
          </a:p>
        </p:txBody>
      </p:sp>
      <p:sp>
        <p:nvSpPr>
          <p:cNvPr id="4" name="Google Shape;70;p4">
            <a:extLst>
              <a:ext uri="{FF2B5EF4-FFF2-40B4-BE49-F238E27FC236}">
                <a16:creationId xmlns:a16="http://schemas.microsoft.com/office/drawing/2014/main" id="{3ACDC193-DE28-8E67-BF7F-8B739590B0B1}"/>
              </a:ext>
            </a:extLst>
          </p:cNvPr>
          <p:cNvSpPr txBox="1">
            <a:spLocks/>
          </p:cNvSpPr>
          <p:nvPr/>
        </p:nvSpPr>
        <p:spPr>
          <a:xfrm>
            <a:off x="638778" y="1239125"/>
            <a:ext cx="10914444" cy="517378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252000" tIns="108000" rIns="252000" bIns="108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1-3.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애플리케이션 기본 화면 구현</a:t>
            </a: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ko-KR" altLang="en-US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43482-8973-BDFB-8C77-DF288FA8892E}"/>
              </a:ext>
            </a:extLst>
          </p:cNvPr>
          <p:cNvSpPr txBox="1"/>
          <p:nvPr/>
        </p:nvSpPr>
        <p:spPr>
          <a:xfrm>
            <a:off x="638779" y="893243"/>
            <a:ext cx="10981060" cy="2585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500"/>
            </a:pP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데이터 분석 과정에서 주요 통계치 확인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패턴 및 </a:t>
            </a:r>
            <a:r>
              <a:rPr lang="ko-KR" altLang="en-US" sz="1200" b="1" dirty="0" err="1">
                <a:latin typeface="Calibri"/>
                <a:ea typeface="Calibri"/>
                <a:cs typeface="Calibri"/>
                <a:sym typeface="Calibri"/>
              </a:rPr>
              <a:t>트렌드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 탐색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시각화 자료 해석을 통해 의미 있는 핵심 </a:t>
            </a:r>
            <a:r>
              <a:rPr lang="ko-KR" altLang="en-US" sz="1200" b="1" dirty="0" err="1">
                <a:latin typeface="Calibri"/>
                <a:ea typeface="Calibri"/>
                <a:cs typeface="Calibri"/>
                <a:sym typeface="Calibri"/>
              </a:rPr>
              <a:t>인사이트를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 도출하세요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 b="1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967972-63F1-F319-1657-589D19AD5A42}"/>
              </a:ext>
            </a:extLst>
          </p:cNvPr>
          <p:cNvSpPr txBox="1"/>
          <p:nvPr/>
        </p:nvSpPr>
        <p:spPr>
          <a:xfrm>
            <a:off x="1435214" y="1959019"/>
            <a:ext cx="8949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"/>
              </a:spcBef>
            </a:pPr>
            <a:r>
              <a:rPr lang="ko-KR" altLang="en-US" sz="1000" b="1" dirty="0"/>
              <a:t>로그인</a:t>
            </a:r>
            <a:endParaRPr lang="en-US" altLang="ko-KR" sz="1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E9E7D75-E342-9F93-6650-88FB6452B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845" y="2235057"/>
            <a:ext cx="1814996" cy="4015967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1D883A5-9C39-E5E3-8850-348BBD753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69" y="2216885"/>
            <a:ext cx="1802192" cy="4034139"/>
          </a:xfrm>
          <a:prstGeom prst="round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3754B03-8866-22BC-EE3D-258018CCE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170" y="2216885"/>
            <a:ext cx="1823210" cy="4034139"/>
          </a:xfrm>
          <a:prstGeom prst="round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90EB983-B0AF-26A6-53F3-87A99BBC9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3761" y="2216885"/>
            <a:ext cx="1814996" cy="4037440"/>
          </a:xfrm>
          <a:prstGeom prst="round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79BABBE-6DC5-B840-4E5B-EC5B8B79E5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7507" y="2216885"/>
            <a:ext cx="1802192" cy="4034139"/>
          </a:xfrm>
          <a:prstGeom prst="round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53ADACB-D6EA-BA72-641B-D897FAD8ECBD}"/>
              </a:ext>
            </a:extLst>
          </p:cNvPr>
          <p:cNvSpPr txBox="1"/>
          <p:nvPr/>
        </p:nvSpPr>
        <p:spPr>
          <a:xfrm>
            <a:off x="3552450" y="1959019"/>
            <a:ext cx="8949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"/>
              </a:spcBef>
            </a:pPr>
            <a:r>
              <a:rPr lang="ko-KR" altLang="en-US" sz="1000" b="1" dirty="0"/>
              <a:t>거래내역</a:t>
            </a:r>
            <a:endParaRPr lang="en-US" altLang="ko-KR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5CF539-6B92-137B-C7A0-345D03C2F8CD}"/>
              </a:ext>
            </a:extLst>
          </p:cNvPr>
          <p:cNvSpPr txBox="1"/>
          <p:nvPr/>
        </p:nvSpPr>
        <p:spPr>
          <a:xfrm>
            <a:off x="5689819" y="1988836"/>
            <a:ext cx="8949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"/>
              </a:spcBef>
            </a:pPr>
            <a:r>
              <a:rPr lang="ko-KR" altLang="en-US" sz="1000" b="1" dirty="0"/>
              <a:t>홈</a:t>
            </a:r>
            <a:endParaRPr lang="en-US" altLang="ko-KR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B82564-4FC8-435B-1C1D-A67288D3BE12}"/>
              </a:ext>
            </a:extLst>
          </p:cNvPr>
          <p:cNvSpPr txBox="1"/>
          <p:nvPr/>
        </p:nvSpPr>
        <p:spPr>
          <a:xfrm>
            <a:off x="7822218" y="1983747"/>
            <a:ext cx="8949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"/>
              </a:spcBef>
            </a:pPr>
            <a:r>
              <a:rPr lang="en-US" altLang="ko-KR" sz="1000" b="1" dirty="0"/>
              <a:t>AI</a:t>
            </a:r>
            <a:r>
              <a:rPr lang="ko-KR" altLang="en-US" sz="1000" b="1" dirty="0"/>
              <a:t>투자</a:t>
            </a:r>
            <a:endParaRPr lang="en-US" altLang="ko-KR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D7921D-2B45-872A-0922-2BCC96DF07B9}"/>
              </a:ext>
            </a:extLst>
          </p:cNvPr>
          <p:cNvSpPr txBox="1"/>
          <p:nvPr/>
        </p:nvSpPr>
        <p:spPr>
          <a:xfrm>
            <a:off x="9937118" y="1970664"/>
            <a:ext cx="8949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"/>
              </a:spcBef>
            </a:pPr>
            <a:r>
              <a:rPr lang="ko-KR" altLang="en-US" sz="1000" b="1" dirty="0" err="1"/>
              <a:t>내정보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2802815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81ECB-B9BF-0B56-DA2C-93C017649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6AF8CEEA-8C77-8EE7-0B8A-2DB954034D9F}"/>
              </a:ext>
            </a:extLst>
          </p:cNvPr>
          <p:cNvSpPr/>
          <p:nvPr/>
        </p:nvSpPr>
        <p:spPr bwMode="auto">
          <a:xfrm>
            <a:off x="638778" y="349842"/>
            <a:ext cx="9259343" cy="476726"/>
          </a:xfrm>
          <a:prstGeom prst="round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-436425" defTabSz="1102548" latinLnBrk="1">
              <a:defRPr/>
            </a:pPr>
            <a:r>
              <a:rPr lang="en-US" altLang="ko-KR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STEP 04 </a:t>
            </a:r>
            <a:r>
              <a:rPr lang="ko-KR" altLang="en-US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분석 결과 및 주요 </a:t>
            </a:r>
            <a:r>
              <a:rPr lang="ko-KR" altLang="en-US" sz="2800" b="1" dirty="0" err="1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인사이트</a:t>
            </a:r>
            <a:endParaRPr lang="en-US" altLang="ko-KR" sz="2800" b="1" dirty="0">
              <a:solidFill>
                <a:srgbClr val="891A1C"/>
              </a:solidFill>
              <a:latin typeface="+mj-ea"/>
              <a:ea typeface="+mj-ea"/>
              <a:cs typeface="Pretendard SemiBold" panose="02000703000000020004" pitchFamily="50" charset="-127"/>
            </a:endParaRPr>
          </a:p>
        </p:txBody>
      </p:sp>
      <p:sp>
        <p:nvSpPr>
          <p:cNvPr id="4" name="Google Shape;70;p4">
            <a:extLst>
              <a:ext uri="{FF2B5EF4-FFF2-40B4-BE49-F238E27FC236}">
                <a16:creationId xmlns:a16="http://schemas.microsoft.com/office/drawing/2014/main" id="{6A074C1F-D3BA-4150-EEAF-85DBA3C2CBC4}"/>
              </a:ext>
            </a:extLst>
          </p:cNvPr>
          <p:cNvSpPr txBox="1">
            <a:spLocks/>
          </p:cNvSpPr>
          <p:nvPr/>
        </p:nvSpPr>
        <p:spPr>
          <a:xfrm>
            <a:off x="638778" y="1239125"/>
            <a:ext cx="10914444" cy="517378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252000" tIns="108000" rIns="252000" bIns="108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1-4.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애플리케이션 </a:t>
            </a: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AI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분석 화면 구현 </a:t>
            </a: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예시</a:t>
            </a: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  <a:t>)</a:t>
            </a:r>
            <a:r>
              <a:rPr lang="ko-KR" altLang="en-US" sz="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Calibri"/>
                <a:sym typeface="Calibri"/>
              </a:rPr>
              <a:t>  *종목 별 </a:t>
            </a:r>
            <a:r>
              <a:rPr lang="en-US" altLang="ko-KR" sz="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Calibri"/>
                <a:sym typeface="Calibri"/>
              </a:rPr>
              <a:t>AI</a:t>
            </a:r>
            <a:r>
              <a:rPr lang="ko-KR" altLang="en-US" sz="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Calibri"/>
                <a:sym typeface="Calibri"/>
              </a:rPr>
              <a:t>분석 화면 제공</a:t>
            </a:r>
            <a:endParaRPr lang="en-US" altLang="ko-KR" sz="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endParaRPr lang="ko-KR" altLang="en-US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b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  <a:cs typeface="Calibri"/>
                <a:sym typeface="Calibri"/>
              </a:rPr>
            </a:br>
            <a:endParaRPr lang="en-US" altLang="ko-KR" sz="1400" b="1" dirty="0">
              <a:solidFill>
                <a:schemeClr val="tx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24ECD-0C90-8277-BA4D-253BDBC3152C}"/>
              </a:ext>
            </a:extLst>
          </p:cNvPr>
          <p:cNvSpPr txBox="1"/>
          <p:nvPr/>
        </p:nvSpPr>
        <p:spPr>
          <a:xfrm>
            <a:off x="638779" y="893243"/>
            <a:ext cx="10981060" cy="2585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500"/>
            </a:pP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데이터 분석 과정에서 주요 통계치 확인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패턴 및 </a:t>
            </a:r>
            <a:r>
              <a:rPr lang="ko-KR" altLang="en-US" sz="1200" b="1" dirty="0" err="1">
                <a:latin typeface="Calibri"/>
                <a:ea typeface="Calibri"/>
                <a:cs typeface="Calibri"/>
                <a:sym typeface="Calibri"/>
              </a:rPr>
              <a:t>트렌드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 탐색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시각화 자료 해석을 통해 의미 있는 핵심 </a:t>
            </a:r>
            <a:r>
              <a:rPr lang="ko-KR" altLang="en-US" sz="1200" b="1" dirty="0" err="1">
                <a:latin typeface="Calibri"/>
                <a:ea typeface="Calibri"/>
                <a:cs typeface="Calibri"/>
                <a:sym typeface="Calibri"/>
              </a:rPr>
              <a:t>인사이트를</a:t>
            </a: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 도출하세요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 b="1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11054A-2D76-0EFE-443B-5B792FC02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772" y="2024089"/>
            <a:ext cx="1834730" cy="409349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CB7542-0FFC-9E26-4B30-D31BCA010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116" y="2024088"/>
            <a:ext cx="1834729" cy="409349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B297947-0FDC-ECEF-FCC4-0268EF0CFD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459" y="2020726"/>
            <a:ext cx="1834729" cy="409349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13D16B4-B5F2-B0A2-8384-06D831B212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2802" y="2020725"/>
            <a:ext cx="1834729" cy="409349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FF4563C-4765-5D44-5509-59460F59B86F}"/>
              </a:ext>
            </a:extLst>
          </p:cNvPr>
          <p:cNvSpPr txBox="1"/>
          <p:nvPr/>
        </p:nvSpPr>
        <p:spPr>
          <a:xfrm>
            <a:off x="2078235" y="1812081"/>
            <a:ext cx="8949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"/>
              </a:spcBef>
            </a:pPr>
            <a:r>
              <a:rPr lang="ko-KR" altLang="en-US" sz="1000" b="1" dirty="0"/>
              <a:t>종합분석</a:t>
            </a:r>
            <a:endParaRPr lang="en-US" altLang="ko-KR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291CBA-C645-23CC-A325-A46E963F4785}"/>
              </a:ext>
            </a:extLst>
          </p:cNvPr>
          <p:cNvSpPr txBox="1"/>
          <p:nvPr/>
        </p:nvSpPr>
        <p:spPr>
          <a:xfrm>
            <a:off x="4425578" y="1796039"/>
            <a:ext cx="8949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"/>
              </a:spcBef>
            </a:pPr>
            <a:r>
              <a:rPr lang="ko-KR" altLang="en-US" sz="1000" b="1" dirty="0"/>
              <a:t>정량분석</a:t>
            </a:r>
            <a:endParaRPr lang="en-US" altLang="ko-KR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76545A-E865-D289-B4EF-1BFA472761BA}"/>
              </a:ext>
            </a:extLst>
          </p:cNvPr>
          <p:cNvSpPr txBox="1"/>
          <p:nvPr/>
        </p:nvSpPr>
        <p:spPr>
          <a:xfrm>
            <a:off x="6795360" y="1806375"/>
            <a:ext cx="8949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"/>
              </a:spcBef>
            </a:pPr>
            <a:r>
              <a:rPr lang="ko-KR" altLang="en-US" sz="1000" b="1" dirty="0"/>
              <a:t>감성분석</a:t>
            </a:r>
            <a:endParaRPr lang="en-US" altLang="ko-KR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0736BE-F96A-EF6A-B7D5-3760AE8D1603}"/>
              </a:ext>
            </a:extLst>
          </p:cNvPr>
          <p:cNvSpPr txBox="1"/>
          <p:nvPr/>
        </p:nvSpPr>
        <p:spPr>
          <a:xfrm>
            <a:off x="9165142" y="1806374"/>
            <a:ext cx="8949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"/>
              </a:spcBef>
            </a:pPr>
            <a:r>
              <a:rPr lang="ko-KR" altLang="en-US" sz="1000" b="1" dirty="0"/>
              <a:t>시계열분석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2656982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3D2D6-34CD-2D28-8BE5-43119D32A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4451E0C5-97EE-A4B7-601B-D09AA017B724}"/>
              </a:ext>
            </a:extLst>
          </p:cNvPr>
          <p:cNvSpPr/>
          <p:nvPr/>
        </p:nvSpPr>
        <p:spPr bwMode="auto">
          <a:xfrm>
            <a:off x="638778" y="349842"/>
            <a:ext cx="9259343" cy="476726"/>
          </a:xfrm>
          <a:prstGeom prst="round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-436425" defTabSz="1102548" latinLnBrk="1">
              <a:defRPr/>
            </a:pPr>
            <a:r>
              <a:rPr lang="en-US" altLang="ko-KR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STEP 05 </a:t>
            </a:r>
            <a:r>
              <a:rPr lang="ko-KR" altLang="en-US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의사결정 제안</a:t>
            </a:r>
            <a:endParaRPr lang="en-US" altLang="ko-KR" sz="2800" b="1" dirty="0">
              <a:solidFill>
                <a:srgbClr val="891A1C"/>
              </a:solidFill>
              <a:latin typeface="+mj-ea"/>
              <a:ea typeface="+mj-ea"/>
              <a:cs typeface="Pretendard SemiBold" panose="02000703000000020004" pitchFamily="50" charset="-127"/>
            </a:endParaRPr>
          </a:p>
        </p:txBody>
      </p:sp>
      <p:sp>
        <p:nvSpPr>
          <p:cNvPr id="4" name="Google Shape;70;p4">
            <a:extLst>
              <a:ext uri="{FF2B5EF4-FFF2-40B4-BE49-F238E27FC236}">
                <a16:creationId xmlns:a16="http://schemas.microsoft.com/office/drawing/2014/main" id="{27537CE9-BB16-79E4-28ED-63D877874C6A}"/>
              </a:ext>
            </a:extLst>
          </p:cNvPr>
          <p:cNvSpPr txBox="1">
            <a:spLocks/>
          </p:cNvSpPr>
          <p:nvPr/>
        </p:nvSpPr>
        <p:spPr>
          <a:xfrm>
            <a:off x="638778" y="1239125"/>
            <a:ext cx="10914444" cy="517378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252000" tIns="108000" rIns="252000" bIns="108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  <a:t>1.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  <a:t>의사결정 제안</a:t>
            </a:r>
            <a:br>
              <a:rPr lang="ko-KR" altLang="en-US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endParaRPr lang="en-US" altLang="ko-KR" sz="1400" b="1" dirty="0">
              <a:solidFill>
                <a:schemeClr val="tx1"/>
              </a:solidFill>
              <a:latin typeface="+mj-ea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3BE9A-42CA-3501-E630-159B3E385D84}"/>
              </a:ext>
            </a:extLst>
          </p:cNvPr>
          <p:cNvSpPr txBox="1"/>
          <p:nvPr/>
        </p:nvSpPr>
        <p:spPr>
          <a:xfrm>
            <a:off x="638779" y="893243"/>
            <a:ext cx="10981060" cy="2585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500"/>
            </a:pP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분석 결과를 바탕으로 실행할 구체적인 방안과 그로 인한 기대 효과를 명확하게 작성하세요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 b="1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3690A-59AB-F10D-3B4E-5646EE225815}"/>
              </a:ext>
            </a:extLst>
          </p:cNvPr>
          <p:cNvSpPr txBox="1"/>
          <p:nvPr/>
        </p:nvSpPr>
        <p:spPr>
          <a:xfrm>
            <a:off x="914399" y="1757660"/>
            <a:ext cx="10386391" cy="36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300" dirty="0"/>
              <a:t>종목 </a:t>
            </a:r>
            <a:r>
              <a:rPr lang="ko-KR" altLang="en-US" sz="1300" dirty="0" err="1"/>
              <a:t>스크리닝과</a:t>
            </a:r>
            <a:r>
              <a:rPr lang="ko-KR" altLang="en-US" sz="1300" dirty="0"/>
              <a:t> 시황 분석은</a:t>
            </a:r>
            <a:r>
              <a:rPr lang="en-US" altLang="ko-KR" sz="1300" dirty="0"/>
              <a:t> </a:t>
            </a:r>
            <a:r>
              <a:rPr lang="ko-KR" altLang="en-US" sz="1300" dirty="0"/>
              <a:t>개인 투자자 및 금융권에서 매일 반복되는 공통 업무이다</a:t>
            </a:r>
            <a:r>
              <a:rPr lang="en-US" altLang="ko-KR" sz="1300" dirty="0"/>
              <a:t>. </a:t>
            </a:r>
            <a:r>
              <a:rPr lang="ko-KR" altLang="en-US" sz="1300" dirty="0"/>
              <a:t>본 프로젝트는 이 과정 전체를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데이터 기반으로 자동화하여 감정과 인지 편향을 배제한 일관된 매매 체계를 구축할 것을 제안한다</a:t>
            </a:r>
            <a:r>
              <a:rPr lang="en-US" altLang="ko-KR" sz="13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매일 </a:t>
            </a:r>
            <a:r>
              <a:rPr lang="en-US" altLang="ko-KR" sz="1300" dirty="0"/>
              <a:t>08:50 </a:t>
            </a:r>
            <a:r>
              <a:rPr lang="ko-KR" altLang="en-US" sz="1300" dirty="0"/>
              <a:t>파이프라인이 자동 실행되어 코스피 </a:t>
            </a:r>
            <a:r>
              <a:rPr lang="en-US" altLang="ko-KR" sz="1300" dirty="0"/>
              <a:t>100</a:t>
            </a:r>
            <a:r>
              <a:rPr lang="ko-KR" altLang="en-US" sz="1300" dirty="0"/>
              <a:t>개 종목을 스캔하여 스코어링으로 </a:t>
            </a:r>
            <a:r>
              <a:rPr lang="en-US" altLang="ko-KR" sz="1300" dirty="0"/>
              <a:t>30</a:t>
            </a:r>
            <a:r>
              <a:rPr lang="ko-KR" altLang="en-US" sz="1300" dirty="0"/>
              <a:t>개를 선별하고</a:t>
            </a:r>
            <a:r>
              <a:rPr lang="en-US" altLang="ko-KR" sz="1300" dirty="0"/>
              <a:t>, </a:t>
            </a:r>
            <a:r>
              <a:rPr lang="ko-KR" altLang="en-US" sz="1300" dirty="0"/>
              <a:t>정량</a:t>
            </a:r>
            <a:r>
              <a:rPr lang="en-US" altLang="ko-KR" sz="1300" dirty="0"/>
              <a:t>(</a:t>
            </a:r>
            <a:r>
              <a:rPr lang="en" altLang="ko-KR" sz="1300" dirty="0"/>
              <a:t>KIS </a:t>
            </a:r>
            <a:r>
              <a:rPr lang="ko-KR" altLang="en-US" sz="1300" dirty="0"/>
              <a:t>수급</a:t>
            </a:r>
            <a:r>
              <a:rPr lang="en-US" altLang="ko-KR" sz="1300" dirty="0"/>
              <a:t>·</a:t>
            </a:r>
            <a:r>
              <a:rPr lang="ko-KR" altLang="en-US" sz="1300" dirty="0"/>
              <a:t>가격 </a:t>
            </a:r>
            <a:r>
              <a:rPr lang="en-US" altLang="ko-KR" sz="1300" dirty="0"/>
              <a:t>+ </a:t>
            </a:r>
            <a:r>
              <a:rPr lang="en" altLang="ko-KR" sz="1300" dirty="0"/>
              <a:t>DART </a:t>
            </a:r>
            <a:r>
              <a:rPr lang="ko-KR" altLang="en-US" sz="1300" dirty="0"/>
              <a:t>재무</a:t>
            </a:r>
            <a:r>
              <a:rPr lang="en-US" altLang="ko-KR" sz="1300" dirty="0"/>
              <a:t>)·</a:t>
            </a:r>
            <a:r>
              <a:rPr lang="ko-KR" altLang="en-US" sz="1300" dirty="0"/>
              <a:t>감성</a:t>
            </a:r>
            <a:r>
              <a:rPr lang="en-US" altLang="ko-KR" sz="1300" dirty="0"/>
              <a:t>·</a:t>
            </a:r>
            <a:r>
              <a:rPr lang="ko-KR" altLang="en-US" sz="1300" dirty="0"/>
              <a:t>시계열 세 가지 분석 축을 거쳐 생성형 </a:t>
            </a:r>
            <a:r>
              <a:rPr lang="en" altLang="ko-KR" sz="1300" dirty="0"/>
              <a:t>AI</a:t>
            </a:r>
            <a:r>
              <a:rPr lang="ko-KR" altLang="en-US" sz="1300" dirty="0"/>
              <a:t>가 매수</a:t>
            </a:r>
            <a:r>
              <a:rPr lang="en-US" altLang="ko-KR" sz="1300" dirty="0"/>
              <a:t>/</a:t>
            </a:r>
            <a:r>
              <a:rPr lang="ko-KR" altLang="en-US" sz="1300" dirty="0"/>
              <a:t>매도 </a:t>
            </a:r>
            <a:r>
              <a:rPr lang="en" altLang="ko-KR" sz="1300" dirty="0"/>
              <a:t>TOP3</a:t>
            </a:r>
            <a:r>
              <a:rPr lang="ko-KR" altLang="en-US" sz="1300" dirty="0" err="1"/>
              <a:t>를</a:t>
            </a:r>
            <a:r>
              <a:rPr lang="ko-KR" altLang="en-US" sz="1300" dirty="0"/>
              <a:t> 선정한다</a:t>
            </a:r>
            <a:r>
              <a:rPr lang="en-US" altLang="ko-KR" sz="1300" dirty="0"/>
              <a:t>. </a:t>
            </a:r>
            <a:r>
              <a:rPr lang="ko-KR" altLang="en-US" sz="1300" dirty="0"/>
              <a:t>이때 생성형 </a:t>
            </a:r>
            <a:r>
              <a:rPr lang="en" altLang="ko-KR" sz="1300" dirty="0"/>
              <a:t>AI</a:t>
            </a:r>
            <a:r>
              <a:rPr lang="ko-KR" altLang="en-US" sz="1300" dirty="0"/>
              <a:t>는 수급 지표를 최우선으로</a:t>
            </a:r>
            <a:r>
              <a:rPr lang="en-US" altLang="ko-KR" sz="1300" dirty="0"/>
              <a:t>, </a:t>
            </a:r>
            <a:r>
              <a:rPr lang="ko-KR" altLang="en-US" sz="1300" dirty="0"/>
              <a:t>재무지표를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 err="1"/>
              <a:t>펀더멘탈</a:t>
            </a:r>
            <a:r>
              <a:rPr lang="ko-KR" altLang="en-US" sz="1300" dirty="0"/>
              <a:t> 필터로 활용하는 피처 우선순위 지침에 따라 판단하며</a:t>
            </a:r>
            <a:r>
              <a:rPr lang="en-US" altLang="ko-KR" sz="1300" dirty="0"/>
              <a:t>, </a:t>
            </a:r>
            <a:r>
              <a:rPr lang="ko-KR" altLang="en-US" sz="1300" dirty="0"/>
              <a:t>룰 기반 필터</a:t>
            </a:r>
            <a:r>
              <a:rPr lang="en-US" altLang="ko-KR" sz="1300" dirty="0"/>
              <a:t>(</a:t>
            </a:r>
            <a:r>
              <a:rPr lang="ko-KR" altLang="en-US" sz="1300" dirty="0"/>
              <a:t>수급</a:t>
            </a:r>
            <a:r>
              <a:rPr lang="en-US" altLang="ko-KR" sz="1300" dirty="0"/>
              <a:t>·</a:t>
            </a:r>
            <a:r>
              <a:rPr lang="ko-KR" altLang="en-US" sz="1300" dirty="0"/>
              <a:t>감성</a:t>
            </a:r>
            <a:r>
              <a:rPr lang="en-US" altLang="ko-KR" sz="1300" dirty="0"/>
              <a:t>·</a:t>
            </a:r>
            <a:r>
              <a:rPr lang="ko-KR" altLang="en-US" sz="1300" dirty="0"/>
              <a:t>추세 조건 충족 여부</a:t>
            </a:r>
            <a:r>
              <a:rPr lang="en-US" altLang="ko-KR" sz="1300" dirty="0"/>
              <a:t>)</a:t>
            </a:r>
            <a:r>
              <a:rPr lang="ko-KR" altLang="en-US" sz="1300" dirty="0" err="1"/>
              <a:t>를</a:t>
            </a:r>
            <a:r>
              <a:rPr lang="ko-KR" altLang="en-US" sz="1300" dirty="0"/>
              <a:t> 추가 적용하여 최종 매매 실행 여부를 결정한다</a:t>
            </a:r>
            <a:r>
              <a:rPr lang="en-US" altLang="ko-KR" sz="1300" dirty="0"/>
              <a:t>. </a:t>
            </a:r>
            <a:r>
              <a:rPr lang="ko-KR" altLang="en-US" sz="1300" dirty="0"/>
              <a:t>선정된 종목은 동시호가 시간대에 자동으로 주문이 접수되어 </a:t>
            </a:r>
            <a:r>
              <a:rPr lang="en-US" altLang="ko-KR" sz="1300" dirty="0"/>
              <a:t>09:00 </a:t>
            </a:r>
            <a:r>
              <a:rPr lang="ko-KR" altLang="en-US" sz="1300" dirty="0"/>
              <a:t>장 시작과 함께 체결되며</a:t>
            </a:r>
            <a:r>
              <a:rPr lang="en-US" altLang="ko-KR" sz="1300" dirty="0"/>
              <a:t>, </a:t>
            </a:r>
            <a:r>
              <a:rPr lang="ko-KR" altLang="en-US" sz="1300" dirty="0"/>
              <a:t>당일 매매 결과는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퇴근 후 대시보드의 거래 내역 메뉴에서 확인하는 것으로 전체 투자 프로세스가 완결된다</a:t>
            </a:r>
            <a:r>
              <a:rPr lang="en-US" altLang="ko-KR" sz="13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본 시스템은 개인 단위의 자동화에서 출발하지만</a:t>
            </a:r>
            <a:r>
              <a:rPr lang="en-US" altLang="ko-KR" sz="1300" dirty="0"/>
              <a:t>, </a:t>
            </a:r>
            <a:r>
              <a:rPr lang="ko-KR" altLang="en-US" sz="1300" dirty="0"/>
              <a:t>공용 분석 파이프라인과 사용자별 주문 분기 구조로 설계되어 있어 멀티유저 환경으로의 확장이 가능하다</a:t>
            </a:r>
            <a:r>
              <a:rPr lang="en-US" altLang="ko-KR" sz="1300" dirty="0"/>
              <a:t>. </a:t>
            </a:r>
            <a:r>
              <a:rPr lang="ko-KR" altLang="en-US" sz="1300" dirty="0"/>
              <a:t>안정성과 판단 정확도가 검증되면 </a:t>
            </a:r>
            <a:r>
              <a:rPr lang="en" altLang="ko-KR" sz="1300" dirty="0"/>
              <a:t>KIS </a:t>
            </a:r>
            <a:r>
              <a:rPr lang="ko-KR" altLang="en-US" sz="1300" dirty="0" err="1"/>
              <a:t>실투자</a:t>
            </a:r>
            <a:r>
              <a:rPr lang="ko-KR" altLang="en-US" sz="1300" dirty="0"/>
              <a:t> </a:t>
            </a:r>
            <a:r>
              <a:rPr lang="en" altLang="ko-KR" sz="1300" dirty="0"/>
              <a:t>API</a:t>
            </a:r>
            <a:r>
              <a:rPr lang="ko-KR" altLang="en-US" sz="1300" dirty="0"/>
              <a:t>로 전환하여 실제 자동매매 도구로 발전시키는 것을 최종 목표로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한다</a:t>
            </a:r>
            <a:r>
              <a:rPr lang="en-US" altLang="ko-KR"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6783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419CB-5B3D-6884-6DF6-9D34073CB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09713933-8FDF-F1D2-730F-91F379AB6008}"/>
              </a:ext>
            </a:extLst>
          </p:cNvPr>
          <p:cNvSpPr/>
          <p:nvPr/>
        </p:nvSpPr>
        <p:spPr bwMode="auto">
          <a:xfrm>
            <a:off x="638778" y="349842"/>
            <a:ext cx="9259343" cy="476726"/>
          </a:xfrm>
          <a:prstGeom prst="round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-436425" defTabSz="1102548" latinLnBrk="1">
              <a:defRPr/>
            </a:pPr>
            <a:r>
              <a:rPr lang="en-US" altLang="ko-KR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STEP 05 </a:t>
            </a:r>
            <a:r>
              <a:rPr lang="ko-KR" altLang="en-US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의사결정 제안</a:t>
            </a:r>
            <a:endParaRPr lang="en-US" altLang="ko-KR" sz="2800" b="1" dirty="0">
              <a:solidFill>
                <a:srgbClr val="891A1C"/>
              </a:solidFill>
              <a:latin typeface="+mj-ea"/>
              <a:ea typeface="+mj-ea"/>
              <a:cs typeface="Pretendard SemiBold" panose="02000703000000020004" pitchFamily="50" charset="-127"/>
            </a:endParaRPr>
          </a:p>
        </p:txBody>
      </p:sp>
      <p:sp>
        <p:nvSpPr>
          <p:cNvPr id="4" name="Google Shape;70;p4">
            <a:extLst>
              <a:ext uri="{FF2B5EF4-FFF2-40B4-BE49-F238E27FC236}">
                <a16:creationId xmlns:a16="http://schemas.microsoft.com/office/drawing/2014/main" id="{85F7D79C-C0FF-8FD0-606E-78C9D728B12F}"/>
              </a:ext>
            </a:extLst>
          </p:cNvPr>
          <p:cNvSpPr txBox="1">
            <a:spLocks/>
          </p:cNvSpPr>
          <p:nvPr/>
        </p:nvSpPr>
        <p:spPr>
          <a:xfrm>
            <a:off x="638778" y="1239125"/>
            <a:ext cx="10914444" cy="517378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252000" tIns="108000" rIns="252000" bIns="108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  <a:t>2.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  <a:t>기대 효과  </a:t>
            </a:r>
            <a:br>
              <a:rPr lang="ko-KR" altLang="en-US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endParaRPr lang="en-US" altLang="ko-KR" sz="1400" b="1" dirty="0">
              <a:solidFill>
                <a:schemeClr val="tx1"/>
              </a:solidFill>
              <a:latin typeface="+mj-ea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A135B2-2E49-9F8C-D27C-50B0B9FAE31A}"/>
              </a:ext>
            </a:extLst>
          </p:cNvPr>
          <p:cNvSpPr txBox="1"/>
          <p:nvPr/>
        </p:nvSpPr>
        <p:spPr>
          <a:xfrm>
            <a:off x="638779" y="893243"/>
            <a:ext cx="10981060" cy="2585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500"/>
            </a:pP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분석 결과를 바탕으로 실행할 구체적인 방안과 그로 인한 기대 효과를 명확하게 작성하세요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 b="1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2F236-4C4F-A34C-5953-15A68D986491}"/>
              </a:ext>
            </a:extLst>
          </p:cNvPr>
          <p:cNvSpPr txBox="1"/>
          <p:nvPr/>
        </p:nvSpPr>
        <p:spPr>
          <a:xfrm>
            <a:off x="914400" y="1757660"/>
            <a:ext cx="10287000" cy="340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/>
              <a:t>1. </a:t>
            </a:r>
            <a:r>
              <a:rPr lang="ko-KR" altLang="en-US" sz="1300" b="1" dirty="0"/>
              <a:t>집중도 향상</a:t>
            </a:r>
            <a:r>
              <a:rPr lang="en-US" altLang="ko-KR" sz="1300" dirty="0"/>
              <a:t>:</a:t>
            </a:r>
            <a:r>
              <a:rPr lang="ko-KR" altLang="en-US" sz="1300" dirty="0"/>
              <a:t> 매일 반복되는 데이터 수집</a:t>
            </a:r>
            <a:r>
              <a:rPr lang="en-US" altLang="ko-KR" sz="1300" dirty="0"/>
              <a:t>·</a:t>
            </a:r>
            <a:r>
              <a:rPr lang="ko-KR" altLang="en-US" sz="1300" dirty="0"/>
              <a:t>시세 확인</a:t>
            </a:r>
            <a:r>
              <a:rPr lang="en-US" altLang="ko-KR" sz="1300" dirty="0"/>
              <a:t>·</a:t>
            </a:r>
            <a:r>
              <a:rPr lang="ko-KR" altLang="en-US" sz="1300" dirty="0"/>
              <a:t>주문 실행 전 과정을 </a:t>
            </a:r>
            <a:r>
              <a:rPr lang="en-US" altLang="ko-KR" sz="1300" dirty="0"/>
              <a:t>08:50 </a:t>
            </a:r>
            <a:r>
              <a:rPr lang="ko-KR" altLang="en-US" sz="1300" dirty="0"/>
              <a:t>파이프라인 단일 실행으로 대체하여</a:t>
            </a:r>
            <a:r>
              <a:rPr lang="en-US" altLang="ko-KR" sz="1300" dirty="0"/>
              <a:t>, </a:t>
            </a:r>
            <a:r>
              <a:rPr lang="ko-KR" altLang="en-US" sz="1300" dirty="0"/>
              <a:t>업무 시간 중 </a:t>
            </a:r>
            <a:br>
              <a:rPr lang="en-US" altLang="ko-KR" sz="1300" dirty="0"/>
            </a:br>
            <a:r>
              <a:rPr lang="ko-KR" altLang="en-US" sz="1300" dirty="0"/>
              <a:t>   시장을 직접 모니터링할 필요를 완전히 제거한다</a:t>
            </a:r>
            <a:r>
              <a:rPr lang="en-US" altLang="ko-KR" sz="1300" dirty="0"/>
              <a:t>. </a:t>
            </a:r>
            <a:r>
              <a:rPr lang="ko-KR" altLang="en-US" sz="1300" dirty="0"/>
              <a:t>퇴근 후 대시보드 확인만으로 당일 매매 결과를 파악할 수 있는 구조가 된다</a:t>
            </a:r>
            <a:r>
              <a:rPr lang="en-US" altLang="ko-KR" sz="1300" dirty="0"/>
              <a:t>.</a:t>
            </a:r>
            <a:br>
              <a:rPr lang="en-US" altLang="ko-KR" sz="1300" dirty="0"/>
            </a:br>
            <a:endParaRPr lang="en-US" altLang="ko-KR" sz="500" dirty="0"/>
          </a:p>
          <a:p>
            <a:pPr>
              <a:lnSpc>
                <a:spcPct val="150000"/>
              </a:lnSpc>
            </a:pPr>
            <a:r>
              <a:rPr lang="en-US" altLang="ko-KR" sz="1300" dirty="0"/>
              <a:t>2. </a:t>
            </a:r>
            <a:r>
              <a:rPr lang="ko-KR" altLang="en-US" sz="1300" b="1" dirty="0"/>
              <a:t>판단 일관성 확보</a:t>
            </a:r>
            <a:r>
              <a:rPr lang="en-US" altLang="ko-KR" sz="1300" dirty="0"/>
              <a:t>:</a:t>
            </a:r>
            <a:r>
              <a:rPr lang="ko-KR" altLang="en-US" sz="1300" dirty="0"/>
              <a:t> 피로</a:t>
            </a:r>
            <a:r>
              <a:rPr lang="en-US" altLang="ko-KR" sz="1300" dirty="0"/>
              <a:t>·</a:t>
            </a:r>
            <a:r>
              <a:rPr lang="ko-KR" altLang="en-US" sz="1300" dirty="0"/>
              <a:t>감정</a:t>
            </a:r>
            <a:r>
              <a:rPr lang="en-US" altLang="ko-KR" sz="1300" dirty="0"/>
              <a:t>·</a:t>
            </a:r>
            <a:r>
              <a:rPr lang="ko-KR" altLang="en-US" sz="1300" dirty="0"/>
              <a:t>인지 편향에 의해 흔들리던 매매 기준을 정량 수급</a:t>
            </a:r>
            <a:r>
              <a:rPr lang="en-US" altLang="ko-KR" sz="1300" dirty="0"/>
              <a:t>·</a:t>
            </a:r>
            <a:r>
              <a:rPr lang="ko-KR" altLang="en-US" sz="1300" dirty="0"/>
              <a:t>가격 피처</a:t>
            </a:r>
            <a:r>
              <a:rPr lang="en-US" altLang="ko-KR" sz="1300" dirty="0"/>
              <a:t>, </a:t>
            </a:r>
            <a:r>
              <a:rPr lang="en" altLang="ko-KR" sz="1300" dirty="0"/>
              <a:t>DART </a:t>
            </a:r>
            <a:r>
              <a:rPr lang="ko-KR" altLang="en-US" sz="1300" dirty="0"/>
              <a:t>재무지표</a:t>
            </a:r>
            <a:r>
              <a:rPr lang="en-US" altLang="ko-KR" sz="1300" dirty="0"/>
              <a:t>, </a:t>
            </a:r>
            <a:r>
              <a:rPr lang="en" altLang="ko-KR" sz="1300" dirty="0"/>
              <a:t>KR-</a:t>
            </a:r>
            <a:r>
              <a:rPr lang="en" altLang="ko-KR" sz="1300" dirty="0" err="1"/>
              <a:t>FinBERT</a:t>
            </a:r>
            <a:r>
              <a:rPr lang="en" altLang="ko-KR" sz="1300" dirty="0"/>
              <a:t> </a:t>
            </a:r>
            <a:r>
              <a:rPr lang="ko-KR" altLang="en-US" sz="1300" dirty="0"/>
              <a:t>감성분석</a:t>
            </a:r>
            <a:r>
              <a:rPr lang="en-US" altLang="ko-KR" sz="1300" dirty="0"/>
              <a:t>, </a:t>
            </a:r>
            <a:r>
              <a:rPr lang="ko-KR" altLang="en-US" sz="1300" dirty="0"/>
              <a:t> </a:t>
            </a:r>
            <a:br>
              <a:rPr lang="en-US" altLang="ko-KR" sz="1300" dirty="0"/>
            </a:br>
            <a:r>
              <a:rPr lang="ko-KR" altLang="en-US" sz="1300" dirty="0"/>
              <a:t>    </a:t>
            </a:r>
            <a:r>
              <a:rPr lang="en" altLang="ko-KR" sz="1300" dirty="0"/>
              <a:t>Prophet </a:t>
            </a:r>
            <a:r>
              <a:rPr lang="ko-KR" altLang="en-US" sz="1300" dirty="0"/>
              <a:t>시계열 예측을 결합한 </a:t>
            </a:r>
            <a:r>
              <a:rPr lang="en-US" altLang="ko-KR" sz="1300" dirty="0"/>
              <a:t>11</a:t>
            </a:r>
            <a:r>
              <a:rPr lang="ko-KR" altLang="en-US" sz="1300" dirty="0"/>
              <a:t>개 피처 기반의 일관된 기준으로 대체한다</a:t>
            </a:r>
            <a:r>
              <a:rPr lang="en-US" altLang="ko-KR" sz="1300" dirty="0"/>
              <a:t>. </a:t>
            </a:r>
            <a:r>
              <a:rPr lang="ko-KR" altLang="en-US" sz="1300" dirty="0"/>
              <a:t>매일 동일한 구조로 </a:t>
            </a:r>
            <a:r>
              <a:rPr lang="en" altLang="ko-KR" sz="1300" dirty="0"/>
              <a:t>Gemini</a:t>
            </a:r>
            <a:r>
              <a:rPr lang="ko-KR" altLang="en-US" sz="1300" dirty="0" err="1"/>
              <a:t>에</a:t>
            </a:r>
            <a:r>
              <a:rPr lang="ko-KR" altLang="en-US" sz="1300" dirty="0"/>
              <a:t> 입력하여 반복 가능한 </a:t>
            </a:r>
            <a:br>
              <a:rPr lang="en-US" altLang="ko-KR" sz="1300" dirty="0"/>
            </a:br>
            <a:r>
              <a:rPr lang="ko-KR" altLang="en-US" sz="1300" dirty="0"/>
              <a:t>    판단 체계를 확보한다</a:t>
            </a:r>
            <a:r>
              <a:rPr lang="en-US" altLang="ko-KR" sz="13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500" dirty="0"/>
          </a:p>
          <a:p>
            <a:pPr>
              <a:lnSpc>
                <a:spcPct val="150000"/>
              </a:lnSpc>
            </a:pPr>
            <a:r>
              <a:rPr lang="en-US" altLang="ko-KR" sz="1300" dirty="0"/>
              <a:t>3. </a:t>
            </a:r>
            <a:r>
              <a:rPr lang="ko-KR" altLang="en-US" sz="1300" b="1" dirty="0"/>
              <a:t>분석 범위의 확장</a:t>
            </a:r>
            <a:r>
              <a:rPr lang="en-US" altLang="ko-KR" sz="1300" dirty="0"/>
              <a:t>:</a:t>
            </a:r>
            <a:r>
              <a:rPr lang="ko-KR" altLang="en-US" sz="1300" dirty="0"/>
              <a:t> 코스피 </a:t>
            </a:r>
            <a:r>
              <a:rPr lang="en-US" altLang="ko-KR" sz="1300" dirty="0"/>
              <a:t>100</a:t>
            </a:r>
            <a:r>
              <a:rPr lang="ko-KR" altLang="en-US" sz="1300" dirty="0"/>
              <a:t>개 종목을 매일 자동 스캔하고 </a:t>
            </a:r>
            <a:r>
              <a:rPr lang="en" altLang="ko-KR" sz="1300" dirty="0" err="1"/>
              <a:t>StandardScaler</a:t>
            </a:r>
            <a:r>
              <a:rPr lang="en" altLang="ko-KR" sz="1300" dirty="0"/>
              <a:t> </a:t>
            </a:r>
            <a:r>
              <a:rPr lang="ko-KR" altLang="en-US" sz="1300" dirty="0"/>
              <a:t>스코어링으로 수급</a:t>
            </a:r>
            <a:r>
              <a:rPr lang="en-US" altLang="ko-KR" sz="1300" dirty="0"/>
              <a:t>·</a:t>
            </a:r>
            <a:r>
              <a:rPr lang="ko-KR" altLang="en-US" sz="1300" dirty="0"/>
              <a:t>거래량</a:t>
            </a:r>
            <a:r>
              <a:rPr lang="en-US" altLang="ko-KR" sz="1300" dirty="0"/>
              <a:t>·</a:t>
            </a:r>
            <a:r>
              <a:rPr lang="ko-KR" altLang="en-US" sz="1300" dirty="0"/>
              <a:t>변동성 신호가 강한 </a:t>
            </a:r>
            <a:br>
              <a:rPr lang="en-US" altLang="ko-KR" sz="1300" dirty="0"/>
            </a:br>
            <a:r>
              <a:rPr lang="ko-KR" altLang="en-US" sz="1300" dirty="0"/>
              <a:t>    상위 </a:t>
            </a:r>
            <a:r>
              <a:rPr lang="en-US" altLang="ko-KR" sz="1300" dirty="0"/>
              <a:t>30</a:t>
            </a:r>
            <a:r>
              <a:rPr lang="ko-KR" altLang="en-US" sz="1300" dirty="0"/>
              <a:t>개를 선별하여 정밀 분석한다</a:t>
            </a:r>
            <a:r>
              <a:rPr lang="en-US" altLang="ko-KR" sz="1300" dirty="0"/>
              <a:t>. </a:t>
            </a:r>
            <a:r>
              <a:rPr lang="ko-KR" altLang="en-US" sz="1300" dirty="0"/>
              <a:t>고정된 관심 종목 목록에서 벗어나 시장 움직임 기준으로 분석 대상을 매일 재구성하여 </a:t>
            </a:r>
            <a:br>
              <a:rPr lang="en-US" altLang="ko-KR" sz="1300" dirty="0"/>
            </a:br>
            <a:r>
              <a:rPr lang="ko-KR" altLang="en-US" sz="1300" dirty="0"/>
              <a:t>    놓치던 투자 기회를 포착한다</a:t>
            </a:r>
            <a:r>
              <a:rPr lang="en-US" altLang="ko-KR" sz="1300" dirty="0"/>
              <a:t>.</a:t>
            </a:r>
            <a:br>
              <a:rPr lang="en-US" altLang="ko-KR" sz="1300" dirty="0"/>
            </a:br>
            <a:endParaRPr lang="en-US" altLang="ko-KR" sz="500" dirty="0"/>
          </a:p>
          <a:p>
            <a:pPr>
              <a:lnSpc>
                <a:spcPct val="150000"/>
              </a:lnSpc>
            </a:pPr>
            <a:r>
              <a:rPr lang="en-US" altLang="ko-KR" sz="1300" dirty="0"/>
              <a:t>4. </a:t>
            </a:r>
            <a:r>
              <a:rPr lang="ko-KR" altLang="en-US" sz="1300" b="1" dirty="0" err="1"/>
              <a:t>실투자</a:t>
            </a:r>
            <a:r>
              <a:rPr lang="ko-KR" altLang="en-US" sz="1300" b="1" dirty="0"/>
              <a:t> 확장 가능성</a:t>
            </a:r>
            <a:r>
              <a:rPr lang="en-US" altLang="ko-KR" sz="1300" dirty="0"/>
              <a:t>:</a:t>
            </a:r>
            <a:r>
              <a:rPr lang="ko-KR" altLang="en-US" sz="1300" dirty="0"/>
              <a:t> </a:t>
            </a:r>
            <a:r>
              <a:rPr lang="en" altLang="ko-KR" sz="1300" dirty="0"/>
              <a:t>KIS </a:t>
            </a:r>
            <a:r>
              <a:rPr lang="ko-KR" altLang="en-US" sz="1300" dirty="0"/>
              <a:t>모의투자 </a:t>
            </a:r>
            <a:r>
              <a:rPr lang="en" altLang="ko-KR" sz="1300" dirty="0"/>
              <a:t>API </a:t>
            </a:r>
            <a:r>
              <a:rPr lang="ko-KR" altLang="en-US" sz="1300" dirty="0"/>
              <a:t>기반으로 실제 자금 리스크 없이 매매 로직과 판단 품질을 검증할 수 있다</a:t>
            </a:r>
            <a:r>
              <a:rPr lang="en-US" altLang="ko-KR" sz="1300" dirty="0"/>
              <a:t>. </a:t>
            </a:r>
            <a:r>
              <a:rPr lang="ko-KR" altLang="en-US" sz="1300" dirty="0"/>
              <a:t>파이프라인 </a:t>
            </a:r>
            <a:br>
              <a:rPr lang="en-US" altLang="ko-KR" sz="1300" dirty="0"/>
            </a:br>
            <a:r>
              <a:rPr lang="ko-KR" altLang="en-US" sz="1300" dirty="0"/>
              <a:t>    구조는 모의투자와 </a:t>
            </a:r>
            <a:r>
              <a:rPr lang="ko-KR" altLang="en-US" sz="1300" dirty="0" err="1"/>
              <a:t>실투자</a:t>
            </a:r>
            <a:r>
              <a:rPr lang="ko-KR" altLang="en-US" sz="1300" dirty="0"/>
              <a:t> 간 동일하게 설계되어 있어</a:t>
            </a:r>
            <a:r>
              <a:rPr lang="en-US" altLang="ko-KR" sz="1300" dirty="0"/>
              <a:t>, </a:t>
            </a:r>
            <a:r>
              <a:rPr lang="ko-KR" altLang="en-US" sz="1300" dirty="0"/>
              <a:t>안정성 확인 후 </a:t>
            </a:r>
            <a:r>
              <a:rPr lang="ko-KR" altLang="en-US" sz="1300" dirty="0" err="1"/>
              <a:t>엔드포인트</a:t>
            </a:r>
            <a:r>
              <a:rPr lang="ko-KR" altLang="en-US" sz="1300" dirty="0"/>
              <a:t> 교체만으로 </a:t>
            </a:r>
            <a:r>
              <a:rPr lang="en" altLang="ko-KR" sz="1300" dirty="0"/>
              <a:t>KIS </a:t>
            </a:r>
            <a:r>
              <a:rPr lang="ko-KR" altLang="en-US" sz="1300" dirty="0" err="1"/>
              <a:t>실투자</a:t>
            </a:r>
            <a:r>
              <a:rPr lang="ko-KR" altLang="en-US" sz="1300" dirty="0"/>
              <a:t> </a:t>
            </a:r>
            <a:r>
              <a:rPr lang="en" altLang="ko-KR" sz="1300" dirty="0"/>
              <a:t>API </a:t>
            </a:r>
            <a:r>
              <a:rPr lang="ko-KR" altLang="en-US" sz="1300" dirty="0"/>
              <a:t>전환이 가능하다</a:t>
            </a:r>
            <a:r>
              <a:rPr lang="en-US" altLang="ko-KR"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1375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3D2D6-34CD-2D28-8BE5-43119D32A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4451E0C5-97EE-A4B7-601B-D09AA017B724}"/>
              </a:ext>
            </a:extLst>
          </p:cNvPr>
          <p:cNvSpPr/>
          <p:nvPr/>
        </p:nvSpPr>
        <p:spPr bwMode="auto">
          <a:xfrm>
            <a:off x="638778" y="349842"/>
            <a:ext cx="9259343" cy="476726"/>
          </a:xfrm>
          <a:prstGeom prst="round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-436425" defTabSz="1102548" latinLnBrk="1">
              <a:defRPr/>
            </a:pPr>
            <a:r>
              <a:rPr lang="en-US" altLang="ko-KR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STEP 06 </a:t>
            </a:r>
            <a:r>
              <a:rPr lang="ko-KR" altLang="en-US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향후 활용 계획 및 개선 방안</a:t>
            </a:r>
            <a:endParaRPr lang="en-US" altLang="ko-KR" sz="2800" b="1" dirty="0">
              <a:solidFill>
                <a:srgbClr val="891A1C"/>
              </a:solidFill>
              <a:latin typeface="+mj-ea"/>
              <a:ea typeface="+mj-ea"/>
              <a:cs typeface="Pretendard SemiBold" panose="02000703000000020004" pitchFamily="50" charset="-127"/>
            </a:endParaRPr>
          </a:p>
        </p:txBody>
      </p:sp>
      <p:sp>
        <p:nvSpPr>
          <p:cNvPr id="4" name="Google Shape;70;p4">
            <a:extLst>
              <a:ext uri="{FF2B5EF4-FFF2-40B4-BE49-F238E27FC236}">
                <a16:creationId xmlns:a16="http://schemas.microsoft.com/office/drawing/2014/main" id="{27537CE9-BB16-79E4-28ED-63D877874C6A}"/>
              </a:ext>
            </a:extLst>
          </p:cNvPr>
          <p:cNvSpPr txBox="1">
            <a:spLocks/>
          </p:cNvSpPr>
          <p:nvPr/>
        </p:nvSpPr>
        <p:spPr>
          <a:xfrm>
            <a:off x="638778" y="1239125"/>
            <a:ext cx="10914444" cy="517378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252000" tIns="108000" rIns="252000" bIns="108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  <a:t>1.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  <a:t>지속 활용 방안</a:t>
            </a:r>
            <a:endParaRPr lang="en-US" altLang="ko-KR" sz="1400" b="1" dirty="0">
              <a:solidFill>
                <a:schemeClr val="tx1"/>
              </a:solidFill>
              <a:latin typeface="+mj-ea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br>
              <a:rPr lang="ko-KR" altLang="en-US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endParaRPr lang="en-US" altLang="ko-KR" sz="1400" b="1" dirty="0">
              <a:solidFill>
                <a:schemeClr val="tx1"/>
              </a:solidFill>
              <a:latin typeface="+mj-ea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3BE9A-42CA-3501-E630-159B3E385D84}"/>
              </a:ext>
            </a:extLst>
          </p:cNvPr>
          <p:cNvSpPr txBox="1"/>
          <p:nvPr/>
        </p:nvSpPr>
        <p:spPr>
          <a:xfrm>
            <a:off x="638779" y="893243"/>
            <a:ext cx="10981060" cy="2585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500"/>
            </a:pP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분석 결과를 바탕으로 업무에 지속 적용할 방안과 함께 부족한 점을 보완하기 위한 개선 방향 및 추가 학습 필요 사항을 제시하세요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 b="1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3690A-59AB-F10D-3B4E-5646EE225815}"/>
              </a:ext>
            </a:extLst>
          </p:cNvPr>
          <p:cNvSpPr txBox="1"/>
          <p:nvPr/>
        </p:nvSpPr>
        <p:spPr>
          <a:xfrm>
            <a:off x="914400" y="1757660"/>
            <a:ext cx="9994900" cy="18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300" dirty="0"/>
              <a:t>본 시스템은 매일 </a:t>
            </a:r>
            <a:r>
              <a:rPr lang="en-US" altLang="ko-KR" sz="1300" dirty="0"/>
              <a:t>08:50 </a:t>
            </a:r>
            <a:r>
              <a:rPr lang="ko-KR" altLang="en-US" sz="1300" dirty="0"/>
              <a:t>자동 실행되는 구조로 구축되어 있어 별도의 유지 관리 없이 지속적으로 운용이 가능하다</a:t>
            </a:r>
            <a:r>
              <a:rPr lang="en-US" altLang="ko-KR" sz="1300" dirty="0"/>
              <a:t>. </a:t>
            </a:r>
            <a:r>
              <a:rPr lang="ko-KR" altLang="en-US" sz="1300" dirty="0"/>
              <a:t>모의투자 운용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기간 동안 누적되는 거래 내역과 </a:t>
            </a:r>
            <a:r>
              <a:rPr lang="en" altLang="ko-KR" sz="1300" dirty="0"/>
              <a:t>AI </a:t>
            </a:r>
            <a:r>
              <a:rPr lang="ko-KR" altLang="en-US" sz="1300" dirty="0"/>
              <a:t>판단 결과를 주기적으로 검토하여 </a:t>
            </a:r>
            <a:r>
              <a:rPr lang="en" altLang="ko-KR" sz="1300" dirty="0"/>
              <a:t>Gemini </a:t>
            </a:r>
            <a:r>
              <a:rPr lang="ko-KR" altLang="en-US" sz="1300" dirty="0"/>
              <a:t>프롬프트의 판단 기준을 개선해 나간다</a:t>
            </a:r>
            <a:r>
              <a:rPr lang="en-US" altLang="ko-KR" sz="13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또한 매일 누적되는 </a:t>
            </a:r>
            <a:r>
              <a:rPr lang="en" altLang="ko-KR" sz="1300" dirty="0" err="1"/>
              <a:t>stock_filter_score</a:t>
            </a:r>
            <a:r>
              <a:rPr lang="en" altLang="ko-KR" sz="1300" dirty="0"/>
              <a:t> </a:t>
            </a:r>
            <a:r>
              <a:rPr lang="ko-KR" altLang="en-US" sz="1300" dirty="0"/>
              <a:t>데이터를 통해 종목별 수급</a:t>
            </a:r>
            <a:r>
              <a:rPr lang="en-US" altLang="ko-KR" sz="1300" dirty="0"/>
              <a:t>·</a:t>
            </a:r>
            <a:r>
              <a:rPr lang="ko-KR" altLang="en-US" sz="1300" dirty="0"/>
              <a:t>거래량 패턴을 장기적으로 관찰할 수 있으며</a:t>
            </a:r>
            <a:r>
              <a:rPr lang="en-US" altLang="ko-KR" sz="1300" dirty="0"/>
              <a:t>, </a:t>
            </a:r>
            <a:r>
              <a:rPr lang="ko-KR" altLang="en-US" sz="1300" dirty="0"/>
              <a:t>이를 바탕으로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스코어링 가중치와 피처 구성을 점진적으로 개선하여 분석 품질을 높여 나간다</a:t>
            </a:r>
            <a:r>
              <a:rPr lang="en-US" altLang="ko-KR" sz="1300" dirty="0"/>
              <a:t>. </a:t>
            </a:r>
            <a:r>
              <a:rPr lang="ko-KR" altLang="en-US" sz="1300" dirty="0"/>
              <a:t>모의투자를 통해 시스템 안정성과 판단 정확도가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검증되면 </a:t>
            </a:r>
            <a:r>
              <a:rPr lang="en" altLang="ko-KR" sz="1300" dirty="0"/>
              <a:t>KIS </a:t>
            </a:r>
            <a:r>
              <a:rPr lang="ko-KR" altLang="en-US" sz="1300" dirty="0" err="1"/>
              <a:t>실투자</a:t>
            </a:r>
            <a:r>
              <a:rPr lang="ko-KR" altLang="en-US" sz="1300" dirty="0"/>
              <a:t> </a:t>
            </a:r>
            <a:r>
              <a:rPr lang="en" altLang="ko-KR" sz="1300" dirty="0"/>
              <a:t>API</a:t>
            </a:r>
            <a:r>
              <a:rPr lang="ko-KR" altLang="en-US" sz="1300" dirty="0"/>
              <a:t>로 전환하여 실제 자동매매 도구로 활용하는 것을 최종 목표로 한다</a:t>
            </a:r>
            <a:r>
              <a:rPr lang="en-US" altLang="ko-KR"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5632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57E7C-9451-A5DF-907E-3CED5594D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3">
            <a:extLst>
              <a:ext uri="{FF2B5EF4-FFF2-40B4-BE49-F238E27FC236}">
                <a16:creationId xmlns:a16="http://schemas.microsoft.com/office/drawing/2014/main" id="{C575EB97-8800-99AE-84ED-6E966A673580}"/>
              </a:ext>
            </a:extLst>
          </p:cNvPr>
          <p:cNvSpPr/>
          <p:nvPr/>
        </p:nvSpPr>
        <p:spPr bwMode="auto">
          <a:xfrm>
            <a:off x="638778" y="349842"/>
            <a:ext cx="9259343" cy="476726"/>
          </a:xfrm>
          <a:prstGeom prst="round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-436425" defTabSz="1102548" latinLnBrk="1">
              <a:defRPr/>
            </a:pPr>
            <a:r>
              <a:rPr lang="en-US" altLang="ko-KR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STEP 06 </a:t>
            </a:r>
            <a:r>
              <a:rPr lang="ko-KR" altLang="en-US" sz="2800" b="1" dirty="0">
                <a:solidFill>
                  <a:srgbClr val="891A1C"/>
                </a:solidFill>
                <a:latin typeface="+mj-ea"/>
                <a:ea typeface="+mj-ea"/>
                <a:cs typeface="Pretendard SemiBold" panose="02000703000000020004" pitchFamily="50" charset="-127"/>
              </a:rPr>
              <a:t>향후 활용 계획 및 개선 방안</a:t>
            </a:r>
            <a:endParaRPr lang="en-US" altLang="ko-KR" sz="2800" b="1" dirty="0">
              <a:solidFill>
                <a:srgbClr val="891A1C"/>
              </a:solidFill>
              <a:latin typeface="+mj-ea"/>
              <a:ea typeface="+mj-ea"/>
              <a:cs typeface="Pretendard SemiBold" panose="02000703000000020004" pitchFamily="50" charset="-127"/>
            </a:endParaRPr>
          </a:p>
        </p:txBody>
      </p:sp>
      <p:sp>
        <p:nvSpPr>
          <p:cNvPr id="4" name="Google Shape;70;p4">
            <a:extLst>
              <a:ext uri="{FF2B5EF4-FFF2-40B4-BE49-F238E27FC236}">
                <a16:creationId xmlns:a16="http://schemas.microsoft.com/office/drawing/2014/main" id="{73E163C0-2582-F25C-3CFA-2C371FB60AE0}"/>
              </a:ext>
            </a:extLst>
          </p:cNvPr>
          <p:cNvSpPr txBox="1">
            <a:spLocks/>
          </p:cNvSpPr>
          <p:nvPr/>
        </p:nvSpPr>
        <p:spPr>
          <a:xfrm>
            <a:off x="638778" y="1239125"/>
            <a:ext cx="10914444" cy="517378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252000" tIns="108000" rIns="252000" bIns="1080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00"/>
              </a:buClr>
              <a:buSzPts val="1400"/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  <a:t>2.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  <a:t>개선 방향 </a:t>
            </a:r>
            <a:br>
              <a:rPr lang="ko-KR" altLang="en-US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br>
              <a:rPr lang="en-US" altLang="ko-KR" sz="1400" b="1" dirty="0">
                <a:solidFill>
                  <a:schemeClr val="tx1"/>
                </a:solidFill>
                <a:latin typeface="+mj-ea"/>
                <a:cs typeface="Calibri"/>
                <a:sym typeface="Calibri"/>
              </a:rPr>
            </a:br>
            <a:endParaRPr lang="en-US" altLang="ko-KR" sz="1400" b="1" dirty="0">
              <a:solidFill>
                <a:schemeClr val="tx1"/>
              </a:solidFill>
              <a:latin typeface="+mj-ea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A55660-C2F7-A773-C582-9FB448F44D15}"/>
              </a:ext>
            </a:extLst>
          </p:cNvPr>
          <p:cNvSpPr txBox="1"/>
          <p:nvPr/>
        </p:nvSpPr>
        <p:spPr>
          <a:xfrm>
            <a:off x="638779" y="893243"/>
            <a:ext cx="10981060" cy="2585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500"/>
            </a:pPr>
            <a:r>
              <a:rPr lang="ko-KR" altLang="en-US" sz="1200" b="1" dirty="0">
                <a:latin typeface="Calibri"/>
                <a:ea typeface="Calibri"/>
                <a:cs typeface="Calibri"/>
                <a:sym typeface="Calibri"/>
              </a:rPr>
              <a:t>분석 결과를 바탕으로 업무에 지속 적용할 방안과 함께 부족한 점을 보완하기 위한 개선 방향 및 추가 학습 필요 사항을 제시하세요</a:t>
            </a:r>
            <a:r>
              <a:rPr lang="en-US" altLang="ko-KR" sz="1200" b="1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 b="1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AC751-3AB8-107A-03F8-F29B4CCF6D2A}"/>
              </a:ext>
            </a:extLst>
          </p:cNvPr>
          <p:cNvSpPr txBox="1"/>
          <p:nvPr/>
        </p:nvSpPr>
        <p:spPr>
          <a:xfrm>
            <a:off x="914400" y="1757660"/>
            <a:ext cx="10490200" cy="41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10"/>
              </a:spcBef>
            </a:pPr>
            <a:r>
              <a:rPr lang="ko-KR" altLang="en-US" sz="1300" b="1" dirty="0"/>
              <a:t>단기 </a:t>
            </a:r>
            <a:r>
              <a:rPr lang="en-US" altLang="ko-KR" sz="1300" b="1" dirty="0"/>
              <a:t>:</a:t>
            </a:r>
            <a:r>
              <a:rPr lang="ko-KR" altLang="en-US" sz="1300" b="1" dirty="0"/>
              <a:t> 실시간 분봉 및 공시 데이터 확장을 통한 분석 정밀도 제고</a:t>
            </a:r>
            <a:r>
              <a:rPr lang="en-US" altLang="ko-KR" sz="1300" b="1" dirty="0"/>
              <a:t> </a:t>
            </a:r>
          </a:p>
          <a:p>
            <a:pPr>
              <a:lnSpc>
                <a:spcPct val="150000"/>
              </a:lnSpc>
              <a:spcBef>
                <a:spcPts val="110"/>
              </a:spcBef>
            </a:pPr>
            <a:r>
              <a:rPr lang="ko-KR" altLang="en-US" sz="1300" dirty="0"/>
              <a:t>현재 전날 </a:t>
            </a:r>
            <a:r>
              <a:rPr lang="ko-KR" altLang="en-US" sz="1300" dirty="0" err="1"/>
              <a:t>일봉</a:t>
            </a:r>
            <a:r>
              <a:rPr lang="ko-KR" altLang="en-US" sz="1300" dirty="0"/>
              <a:t> 데이터와 당일 뉴스 기반의 판단 구조를 보완하여 장중 분봉 데이터를 실시간으로 수집하고 매매 타이밍을 더 정밀하게 </a:t>
            </a:r>
            <a:endParaRPr lang="en-US" altLang="ko-KR" sz="1300" dirty="0"/>
          </a:p>
          <a:p>
            <a:pPr>
              <a:lnSpc>
                <a:spcPct val="150000"/>
              </a:lnSpc>
              <a:spcBef>
                <a:spcPts val="110"/>
              </a:spcBef>
            </a:pPr>
            <a:r>
              <a:rPr lang="ko-KR" altLang="en-US" sz="1300" dirty="0"/>
              <a:t>포착하는 방향으로 </a:t>
            </a:r>
            <a:r>
              <a:rPr lang="ko-KR" altLang="en-US" sz="1300" dirty="0" err="1"/>
              <a:t>고도화할</a:t>
            </a:r>
            <a:r>
              <a:rPr lang="ko-KR" altLang="en-US" sz="1300" dirty="0"/>
              <a:t> 수 있다</a:t>
            </a:r>
            <a:r>
              <a:rPr lang="en-US" altLang="ko-KR" sz="1300" dirty="0"/>
              <a:t>. </a:t>
            </a:r>
            <a:r>
              <a:rPr lang="ko-KR" altLang="en-US" sz="1300" dirty="0"/>
              <a:t>감성분석 범위도 현재 뉴스 </a:t>
            </a:r>
            <a:r>
              <a:rPr lang="ko-KR" altLang="en-US" sz="1300" dirty="0" err="1"/>
              <a:t>크롤링에서</a:t>
            </a:r>
            <a:r>
              <a:rPr lang="ko-KR" altLang="en-US" sz="1300" dirty="0"/>
              <a:t> </a:t>
            </a:r>
            <a:r>
              <a:rPr lang="en" altLang="ko-KR" sz="1300" dirty="0"/>
              <a:t>DART </a:t>
            </a:r>
            <a:r>
              <a:rPr lang="ko-KR" altLang="en-US" sz="1300" dirty="0"/>
              <a:t>공시 데이터</a:t>
            </a:r>
            <a:r>
              <a:rPr lang="en-US" altLang="ko-KR" sz="1300" dirty="0"/>
              <a:t>, </a:t>
            </a:r>
            <a:r>
              <a:rPr lang="ko-KR" altLang="en-US" sz="1300" dirty="0"/>
              <a:t>애널리스트 리포트까지 확장하면 분석 </a:t>
            </a:r>
            <a:endParaRPr lang="en-US" altLang="ko-KR" sz="1300" dirty="0"/>
          </a:p>
          <a:p>
            <a:pPr>
              <a:lnSpc>
                <a:spcPct val="150000"/>
              </a:lnSpc>
              <a:spcBef>
                <a:spcPts val="110"/>
              </a:spcBef>
            </a:pPr>
            <a:r>
              <a:rPr lang="ko-KR" altLang="en-US" sz="1300" dirty="0"/>
              <a:t>품질이 한층 향상될 것으로 기대된다</a:t>
            </a:r>
            <a:r>
              <a:rPr lang="en-US" altLang="ko-KR" sz="1300" dirty="0"/>
              <a:t>.</a:t>
            </a:r>
          </a:p>
          <a:p>
            <a:pPr>
              <a:lnSpc>
                <a:spcPct val="150000"/>
              </a:lnSpc>
              <a:spcBef>
                <a:spcPts val="110"/>
              </a:spcBef>
            </a:pPr>
            <a:endParaRPr lang="en-US" altLang="ko-KR" sz="1300" dirty="0"/>
          </a:p>
          <a:p>
            <a:pPr>
              <a:lnSpc>
                <a:spcPct val="150000"/>
              </a:lnSpc>
              <a:spcBef>
                <a:spcPts val="110"/>
              </a:spcBef>
            </a:pPr>
            <a:r>
              <a:rPr lang="ko-KR" altLang="en-US" sz="1300" b="1" dirty="0"/>
              <a:t>중기 </a:t>
            </a:r>
            <a:r>
              <a:rPr lang="en-US" altLang="ko-KR" sz="1300" b="1" dirty="0"/>
              <a:t>:</a:t>
            </a:r>
            <a:r>
              <a:rPr lang="ko-KR" altLang="en-US" sz="1300" b="1" dirty="0"/>
              <a:t> 모의투자 데이터를 활용한 시장 적응형 종목 선정 모델 고도화</a:t>
            </a:r>
            <a:endParaRPr lang="en-US" altLang="ko-KR" sz="1300" b="1" dirty="0"/>
          </a:p>
          <a:p>
            <a:pPr>
              <a:lnSpc>
                <a:spcPct val="150000"/>
              </a:lnSpc>
              <a:spcBef>
                <a:spcPts val="110"/>
              </a:spcBef>
            </a:pPr>
            <a:r>
              <a:rPr lang="ko-KR" altLang="en-US" sz="1300" dirty="0"/>
              <a:t>현재 </a:t>
            </a:r>
            <a:r>
              <a:rPr lang="en" altLang="ko-KR" sz="1300" dirty="0" err="1"/>
              <a:t>StandardScaler</a:t>
            </a:r>
            <a:r>
              <a:rPr lang="en" altLang="ko-KR" sz="1300" dirty="0"/>
              <a:t> </a:t>
            </a:r>
            <a:r>
              <a:rPr lang="ko-KR" altLang="en-US" sz="1300" dirty="0"/>
              <a:t>기반 스코어링 방식을 누적 모의투자 체결 결과를 레이블로 활용하는 </a:t>
            </a:r>
            <a:r>
              <a:rPr lang="en" altLang="ko-KR" sz="1300" dirty="0" err="1"/>
              <a:t>RandomForest</a:t>
            </a:r>
            <a:r>
              <a:rPr lang="en" altLang="ko-KR" sz="1300" dirty="0"/>
              <a:t> </a:t>
            </a:r>
            <a:r>
              <a:rPr lang="ko-KR" altLang="en-US" sz="1300" dirty="0"/>
              <a:t>분류 모델로 </a:t>
            </a:r>
            <a:r>
              <a:rPr lang="ko-KR" altLang="en-US" sz="1300" dirty="0" err="1"/>
              <a:t>고도화하여</a:t>
            </a:r>
            <a:r>
              <a:rPr lang="en-US" altLang="ko-KR" sz="1300" dirty="0"/>
              <a:t>, </a:t>
            </a:r>
          </a:p>
          <a:p>
            <a:pPr>
              <a:lnSpc>
                <a:spcPct val="150000"/>
              </a:lnSpc>
              <a:spcBef>
                <a:spcPts val="110"/>
              </a:spcBef>
            </a:pPr>
            <a:r>
              <a:rPr lang="ko-KR" altLang="en-US" sz="1300" dirty="0"/>
              <a:t>실제 수익으로 이어질 가능성이 높은 종목을 더 정교하게 선별할 수 있다</a:t>
            </a:r>
            <a:r>
              <a:rPr lang="en-US" altLang="ko-KR" sz="1300" dirty="0"/>
              <a:t>.</a:t>
            </a:r>
          </a:p>
          <a:p>
            <a:pPr>
              <a:lnSpc>
                <a:spcPct val="150000"/>
              </a:lnSpc>
              <a:spcBef>
                <a:spcPts val="110"/>
              </a:spcBef>
            </a:pPr>
            <a:endParaRPr lang="en-US" altLang="ko-KR" sz="1300" dirty="0"/>
          </a:p>
          <a:p>
            <a:pPr>
              <a:lnSpc>
                <a:spcPct val="150000"/>
              </a:lnSpc>
              <a:spcBef>
                <a:spcPts val="110"/>
              </a:spcBef>
            </a:pPr>
            <a:r>
              <a:rPr lang="ko-KR" altLang="en-US" sz="1300" b="1" dirty="0"/>
              <a:t>장기 </a:t>
            </a:r>
            <a:r>
              <a:rPr lang="en-US" altLang="ko-KR" sz="1300" b="1" dirty="0"/>
              <a:t>:</a:t>
            </a:r>
            <a:r>
              <a:rPr lang="ko-KR" altLang="en-US" sz="1300" b="1" dirty="0"/>
              <a:t> </a:t>
            </a:r>
            <a:r>
              <a:rPr lang="en" altLang="ko-KR" sz="1300" b="1" dirty="0"/>
              <a:t>LSTM </a:t>
            </a:r>
            <a:r>
              <a:rPr lang="ko-KR" altLang="en-US" sz="1300" b="1" dirty="0"/>
              <a:t>딥러닝 도입 및 포트폴리오 관리 최적화로 </a:t>
            </a:r>
            <a:r>
              <a:rPr lang="ko-KR" altLang="en-US" sz="1300" b="1" dirty="0" err="1"/>
              <a:t>실투자</a:t>
            </a:r>
            <a:r>
              <a:rPr lang="ko-KR" altLang="en-US" sz="1300" b="1" dirty="0"/>
              <a:t> 시스템 완성</a:t>
            </a:r>
            <a:endParaRPr lang="en-US" altLang="ko-KR" sz="1300" b="1" dirty="0"/>
          </a:p>
          <a:p>
            <a:pPr>
              <a:lnSpc>
                <a:spcPct val="150000"/>
              </a:lnSpc>
              <a:spcBef>
                <a:spcPts val="110"/>
              </a:spcBef>
            </a:pPr>
            <a:r>
              <a:rPr lang="ko-KR" altLang="en-US" sz="1300" dirty="0"/>
              <a:t>시계열 예측 모델을 현재의 </a:t>
            </a:r>
            <a:r>
              <a:rPr lang="en" altLang="ko-KR" sz="1300" dirty="0"/>
              <a:t>Prophet</a:t>
            </a:r>
            <a:r>
              <a:rPr lang="ko-KR" altLang="en-US" sz="1300" dirty="0"/>
              <a:t>에서 </a:t>
            </a:r>
            <a:r>
              <a:rPr lang="en" altLang="ko-KR" sz="1300" dirty="0"/>
              <a:t>LSTM </a:t>
            </a:r>
            <a:r>
              <a:rPr lang="ko-KR" altLang="en-US" sz="1300" dirty="0"/>
              <a:t>기반 딥러닝 모델로 </a:t>
            </a:r>
            <a:r>
              <a:rPr lang="ko-KR" altLang="en-US" sz="1300" dirty="0" err="1"/>
              <a:t>고도화하여</a:t>
            </a:r>
            <a:r>
              <a:rPr lang="ko-KR" altLang="en-US" sz="1300" dirty="0"/>
              <a:t> 비선형 패턴과 복잡한 시장 흐름을 더 정교하게 반영할 수 있다</a:t>
            </a:r>
            <a:r>
              <a:rPr lang="en-US" altLang="ko-KR" sz="1300" dirty="0"/>
              <a:t>. </a:t>
            </a:r>
            <a:r>
              <a:rPr lang="ko-KR" altLang="en-US" sz="1300" dirty="0"/>
              <a:t>종목별 매매 비중 최적화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손절</a:t>
            </a:r>
            <a:r>
              <a:rPr lang="en-US" altLang="ko-KR" sz="1300" dirty="0"/>
              <a:t>/</a:t>
            </a:r>
            <a:r>
              <a:rPr lang="ko-KR" altLang="en-US" sz="1300" dirty="0" err="1"/>
              <a:t>익절</a:t>
            </a:r>
            <a:r>
              <a:rPr lang="ko-KR" altLang="en-US" sz="1300" dirty="0"/>
              <a:t> 기준 자동화 등 포트폴리오 관리 기능을 추가하고 </a:t>
            </a:r>
            <a:r>
              <a:rPr lang="en" altLang="ko-KR" sz="1300" dirty="0"/>
              <a:t>KIS </a:t>
            </a:r>
            <a:r>
              <a:rPr lang="ko-KR" altLang="en-US" sz="1300" dirty="0" err="1"/>
              <a:t>실투자</a:t>
            </a:r>
            <a:r>
              <a:rPr lang="ko-KR" altLang="en-US" sz="1300" dirty="0"/>
              <a:t> </a:t>
            </a:r>
            <a:r>
              <a:rPr lang="en" altLang="ko-KR" sz="1300" dirty="0"/>
              <a:t>API</a:t>
            </a:r>
            <a:r>
              <a:rPr lang="ko-KR" altLang="en-US" sz="1300" dirty="0"/>
              <a:t>로 전환하여 실제 자동매매 </a:t>
            </a:r>
            <a:endParaRPr lang="en-US" altLang="ko-KR" sz="1300" dirty="0"/>
          </a:p>
          <a:p>
            <a:pPr>
              <a:lnSpc>
                <a:spcPct val="150000"/>
              </a:lnSpc>
              <a:spcBef>
                <a:spcPts val="110"/>
              </a:spcBef>
            </a:pPr>
            <a:r>
              <a:rPr lang="ko-KR" altLang="en-US" sz="1300" dirty="0"/>
              <a:t>시스템으로 발전시키는 것을 최종 목표로 한다</a:t>
            </a:r>
            <a:r>
              <a:rPr lang="en-US" altLang="ko-KR"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5048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85AC40-0DE2-4204-93F1-E29FD6C72110}"/>
              </a:ext>
            </a:extLst>
          </p:cNvPr>
          <p:cNvSpPr txBox="1"/>
          <p:nvPr/>
        </p:nvSpPr>
        <p:spPr>
          <a:xfrm>
            <a:off x="4836769" y="3079062"/>
            <a:ext cx="65490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6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Thank you!</a:t>
            </a:r>
            <a:endParaRPr lang="ko-KR" altLang="en-US" sz="6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A79270-7E33-43B7-A3DE-3C3865D44775}"/>
              </a:ext>
            </a:extLst>
          </p:cNvPr>
          <p:cNvSpPr/>
          <p:nvPr/>
        </p:nvSpPr>
        <p:spPr>
          <a:xfrm>
            <a:off x="4962604" y="4284631"/>
            <a:ext cx="6199464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AE72D-6B61-4203-8F7C-9BE31A630659}"/>
              </a:ext>
            </a:extLst>
          </p:cNvPr>
          <p:cNvSpPr txBox="1"/>
          <p:nvPr/>
        </p:nvSpPr>
        <p:spPr>
          <a:xfrm>
            <a:off x="7778339" y="4491558"/>
            <a:ext cx="360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+mn-ea"/>
                <a:cs typeface="맑은 고딕 Semilight" panose="020B0502040204020203" pitchFamily="50" charset="-127"/>
              </a:rPr>
              <a:t>AI·SW</a:t>
            </a:r>
            <a:r>
              <a:rPr lang="ko-KR" altLang="en-US" dirty="0">
                <a:solidFill>
                  <a:schemeClr val="bg1"/>
                </a:solidFill>
                <a:latin typeface="+mn-ea"/>
                <a:cs typeface="맑은 고딕 Semilight" panose="020B0502040204020203" pitchFamily="50" charset="-127"/>
              </a:rPr>
              <a:t>대학원 이인범 </a:t>
            </a:r>
            <a:r>
              <a:rPr lang="en-US" altLang="ko-KR" dirty="0">
                <a:solidFill>
                  <a:schemeClr val="bg1"/>
                </a:solidFill>
                <a:latin typeface="+mn-ea"/>
                <a:cs typeface="맑은 고딕 Semilight" panose="020B0502040204020203" pitchFamily="50" charset="-127"/>
              </a:rPr>
              <a:t>/ A74066</a:t>
            </a:r>
            <a:endParaRPr lang="ko-KR" altLang="en-US" dirty="0">
              <a:solidFill>
                <a:schemeClr val="bg1"/>
              </a:solidFill>
              <a:latin typeface="+mn-ea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6910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3210A1-6A91-0D42-A89B-ECA06156046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e73c951-c0c4-4ea5-a8a7-a3584cf03ed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4650</TotalTime>
  <Words>3138</Words>
  <Application>Microsoft Macintosh PowerPoint</Application>
  <PresentationFormat>와이드스크린</PresentationFormat>
  <Paragraphs>344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이인범</cp:lastModifiedBy>
  <cp:revision>32</cp:revision>
  <cp:lastPrinted>2026-04-26T12:55:04Z</cp:lastPrinted>
  <dcterms:created xsi:type="dcterms:W3CDTF">2025-09-24T05:29:06Z</dcterms:created>
  <dcterms:modified xsi:type="dcterms:W3CDTF">2026-04-26T13:51:20Z</dcterms:modified>
</cp:coreProperties>
</file>